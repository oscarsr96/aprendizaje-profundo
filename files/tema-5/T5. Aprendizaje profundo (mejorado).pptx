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APRENDIZAJE PROFUNDO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</a:t>
            </a:r>
          </a:p>
        </p:txBody>
      </p:sp>
      <p:pic>
        <p:nvPicPr>
          <p:cNvPr id="7" name="Picture 6" descr="deep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926080"/>
            <a:ext cx="5120640" cy="3360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82880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9520E"/>
                </a:solidFill>
                <a:latin typeface="Calibri"/>
              </a:rPr>
              <a:t>APRENDIZAJE PROFUNDO · TEMA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67712"/>
            <a:ext cx="8046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2B2B2B"/>
                </a:solidFill>
                <a:latin typeface="Georgia"/>
              </a:rPr>
              <a:t>5. Aprendizaje profundo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2B2B2B"/>
                </a:solidFill>
                <a:latin typeface="Calibri"/>
              </a:rPr>
              <a:t>Prof. Óscar Sánchez Rueda</a:t>
            </a:r>
          </a:p>
          <a:p>
            <a:r>
              <a:rPr sz="1400" b="0">
                <a:solidFill>
                  <a:srgbClr val="6B6B6B"/>
                </a:solidFill>
                <a:latin typeface="Calibri"/>
              </a:rPr>
              <a:t>CUNEF Universidad · Curso 2026-2027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APRENDIZAJE PROFUNDO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¿De qué trata este tema?</a:t>
            </a:r>
          </a:p>
        </p:txBody>
      </p:sp>
      <p:pic>
        <p:nvPicPr>
          <p:cNvPr id="7" name="Picture 6" descr="abst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297680"/>
            <a:ext cx="6766560" cy="267101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554480"/>
            <a:ext cx="5257800" cy="251460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Una panorámica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Qué hizo posible el </a:t>
            </a:r>
            <a:r>
              <a:rPr sz="1350" b="1">
                <a:solidFill>
                  <a:srgbClr val="E9520E"/>
                </a:solidFill>
                <a:latin typeface="Calibri"/>
              </a:rPr>
              <a:t>deep learning</a:t>
            </a:r>
            <a:r>
              <a:rPr sz="1350" b="0">
                <a:solidFill>
                  <a:srgbClr val="2B2B2B"/>
                </a:solidFill>
                <a:latin typeface="Calibri"/>
              </a:rPr>
              <a:t>: datos, cómputo y software.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Cómo una red </a:t>
            </a:r>
            <a:r>
              <a:rPr sz="1350" b="1">
                <a:solidFill>
                  <a:srgbClr val="E9520E"/>
                </a:solidFill>
                <a:latin typeface="Calibri"/>
              </a:rPr>
              <a:t>procesa por capas</a:t>
            </a:r>
            <a:r>
              <a:rPr sz="1350" b="0">
                <a:solidFill>
                  <a:srgbClr val="2B2B2B"/>
                </a:solidFill>
                <a:latin typeface="Calibri"/>
              </a:rPr>
              <a:t> y gana abstracción.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Los grandes </a:t>
            </a:r>
            <a:r>
              <a:rPr sz="1350" b="1">
                <a:solidFill>
                  <a:srgbClr val="E9520E"/>
                </a:solidFill>
                <a:latin typeface="Calibri"/>
              </a:rPr>
              <a:t>tipos de problema</a:t>
            </a:r>
            <a:r>
              <a:rPr sz="1350" b="0">
                <a:solidFill>
                  <a:srgbClr val="2B2B2B"/>
                </a:solidFill>
                <a:latin typeface="Calibri"/>
              </a:rPr>
              <a:t> y aplicaciones reales.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Índice del 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9520E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Introducción: por qué ahora (historia, cómputo, datos).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98648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9520E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16936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Clasificación: decir qué hay y si nos podemos fiar.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14215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9520E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032503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Regresión: predecir y transformar datos.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9783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9520E"/>
                </a:solidFill>
                <a:latin typeface="Georg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48071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Representación y generación; aprendizaje no supervisado.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BLOQUE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9C9C9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9C9C9"/>
                </a:solidFill>
                <a:latin typeface="Calibri"/>
              </a:rPr>
              <a:t>#4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9520E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Georgia"/>
              </a:rPr>
              <a:t>Introducción: ¿por qué ahora?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Una larga historia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11219688" cy="1993518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De las máquinas a la teoría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Máquinas mecánicas</a:t>
            </a:r>
            <a:r>
              <a:rPr sz="1350" b="0">
                <a:solidFill>
                  <a:srgbClr val="2B2B2B"/>
                </a:solidFill>
                <a:latin typeface="Calibri"/>
              </a:rPr>
              <a:t>: el mecanismo de Anticitera (200 a. C.).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Máquinas electrónicas</a:t>
            </a:r>
            <a:r>
              <a:rPr sz="1350" b="0">
                <a:solidFill>
                  <a:srgbClr val="2B2B2B"/>
                </a:solidFill>
                <a:latin typeface="Calibri"/>
              </a:rPr>
              <a:t>: el Mark I (1944), una operación cada 3 segundos.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La teoría</a:t>
            </a:r>
            <a:r>
              <a:rPr sz="1350" b="0">
                <a:solidFill>
                  <a:srgbClr val="2B2B2B"/>
                </a:solidFill>
                <a:latin typeface="Calibri"/>
              </a:rPr>
              <a:t>: Alan Turing (1950) y el perceptrón de Frank Rosenblatt (1957).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Las ideas existían hace décadas; faltaban </a:t>
            </a:r>
            <a:r>
              <a:rPr sz="1350" b="1">
                <a:solidFill>
                  <a:srgbClr val="E9520E"/>
                </a:solidFill>
                <a:latin typeface="Calibri"/>
              </a:rPr>
              <a:t>datos y potencia de cálculo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La era de las GPUs</a:t>
            </a:r>
          </a:p>
        </p:txBody>
      </p:sp>
      <p:pic>
        <p:nvPicPr>
          <p:cNvPr id="7" name="Picture 6" descr="comp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377440"/>
            <a:ext cx="5852160" cy="31920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3005074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El cómputo se dispara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Microprocesadores</a:t>
            </a:r>
            <a:r>
              <a:rPr sz="1350" b="0">
                <a:solidFill>
                  <a:srgbClr val="2B2B2B"/>
                </a:solidFill>
                <a:latin typeface="Calibri"/>
              </a:rPr>
              <a:t>: del Intel 8086 (1978, 50 mil op/s) al i5 (2018, 25 mil millones op/s).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GPUs</a:t>
            </a:r>
            <a:r>
              <a:rPr sz="1350" b="0">
                <a:solidFill>
                  <a:srgbClr val="2B2B2B"/>
                </a:solidFill>
                <a:latin typeface="Calibri"/>
              </a:rPr>
              <a:t>: PS4 (1,8 TFlops) → RTX 3090 (35 TFlops, ~1400× un i5).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El </a:t>
            </a:r>
            <a:r>
              <a:rPr sz="1350" b="1">
                <a:solidFill>
                  <a:srgbClr val="E9520E"/>
                </a:solidFill>
                <a:latin typeface="Calibri"/>
              </a:rPr>
              <a:t>almacenamiento</a:t>
            </a:r>
            <a:r>
              <a:rPr sz="1350" b="0">
                <a:solidFill>
                  <a:srgbClr val="2B2B2B"/>
                </a:solidFill>
                <a:latin typeface="Calibri"/>
              </a:rPr>
              <a:t> pasó de &lt;1 KB (1970) a 1 TB a 7000 MB/s (2021).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Más cómputo y memoria → redes </a:t>
            </a:r>
            <a:r>
              <a:rPr sz="1350" b="1">
                <a:solidFill>
                  <a:srgbClr val="E9520E"/>
                </a:solidFill>
                <a:latin typeface="Calibri"/>
              </a:rPr>
              <a:t>más grandes y profundas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Datos, software y comunidad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11219688" cy="2195829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El otro motor del deep learning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De los </a:t>
            </a:r>
            <a:r>
              <a:rPr sz="1350" b="1">
                <a:solidFill>
                  <a:srgbClr val="E9520E"/>
                </a:solidFill>
                <a:latin typeface="Calibri"/>
              </a:rPr>
              <a:t>papers en papel</a:t>
            </a:r>
            <a:r>
              <a:rPr sz="1350" b="0">
                <a:solidFill>
                  <a:srgbClr val="2B2B2B"/>
                </a:solidFill>
                <a:latin typeface="Calibri"/>
              </a:rPr>
              <a:t> (1995) a los buscadores (Google, 1998).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2008</a:t>
            </a:r>
            <a:r>
              <a:rPr sz="1350" b="0">
                <a:solidFill>
                  <a:srgbClr val="2B2B2B"/>
                </a:solidFill>
                <a:latin typeface="Calibri"/>
              </a:rPr>
              <a:t>: redes sociales y plataformas colaborativas (GitHub).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2010s</a:t>
            </a:r>
            <a:r>
              <a:rPr sz="1350" b="0">
                <a:solidFill>
                  <a:srgbClr val="2B2B2B"/>
                </a:solidFill>
                <a:latin typeface="Calibri"/>
              </a:rPr>
              <a:t>: software libre y toolkits (</a:t>
            </a:r>
            <a:r>
              <a:rPr sz="1350" b="1">
                <a:solidFill>
                  <a:srgbClr val="E9520E"/>
                </a:solidFill>
                <a:latin typeface="Calibri"/>
              </a:rPr>
              <a:t>TensorFlow, PyTorch</a:t>
            </a:r>
            <a:r>
              <a:rPr sz="1350" b="0">
                <a:solidFill>
                  <a:srgbClr val="2B2B2B"/>
                </a:solidFill>
                <a:latin typeface="Calibri"/>
              </a:rPr>
              <a:t>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El </a:t>
            </a:r>
            <a:r>
              <a:rPr sz="1350" b="1">
                <a:solidFill>
                  <a:srgbClr val="E9520E"/>
                </a:solidFill>
                <a:latin typeface="Calibri"/>
              </a:rPr>
              <a:t>etiquetado de datos</a:t>
            </a:r>
            <a:r>
              <a:rPr sz="1350" b="0">
                <a:solidFill>
                  <a:srgbClr val="2B2B2B"/>
                </a:solidFill>
                <a:latin typeface="Calibri"/>
              </a:rPr>
              <a:t> lo hacen freelances, Mechanical Turk, “granjas” de datos… y todos nosotros.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Procesado por capas</a:t>
            </a:r>
          </a:p>
        </p:txBody>
      </p:sp>
      <p:pic>
        <p:nvPicPr>
          <p:cNvPr id="7" name="Picture 6" descr="deep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011680"/>
            <a:ext cx="5120640" cy="33604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3207385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La intuición de una red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Imaginemos datos de entrada: </a:t>
            </a:r>
            <a:r>
              <a:rPr sz="1350" b="1">
                <a:solidFill>
                  <a:srgbClr val="E9520E"/>
                </a:solidFill>
                <a:latin typeface="Calibri"/>
              </a:rPr>
              <a:t>altura, edad…</a:t>
            </a:r>
            <a:r>
              <a:rPr sz="1350" b="0">
                <a:solidFill>
                  <a:srgbClr val="2B2B2B"/>
                </a:solidFill>
                <a:latin typeface="Calibri"/>
              </a:rPr>
              <a:t> cada nodo combina la información.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Cada nodo aplica una regla simple (p. ej. el </a:t>
            </a:r>
            <a:r>
              <a:rPr sz="1350" b="1">
                <a:solidFill>
                  <a:srgbClr val="E9520E"/>
                </a:solidFill>
                <a:latin typeface="Calibri"/>
              </a:rPr>
              <a:t>máximo o el mínimo</a:t>
            </a:r>
            <a:r>
              <a:rPr sz="1350" b="0">
                <a:solidFill>
                  <a:srgbClr val="2B2B2B"/>
                </a:solidFill>
                <a:latin typeface="Calibri"/>
              </a:rPr>
              <a:t>) y la pasa adelante.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Se repite </a:t>
            </a:r>
            <a:r>
              <a:rPr sz="1350" b="1">
                <a:solidFill>
                  <a:srgbClr val="E9520E"/>
                </a:solidFill>
                <a:latin typeface="Calibri"/>
              </a:rPr>
              <a:t>capa tras capa</a:t>
            </a:r>
            <a:r>
              <a:rPr sz="1350" b="0">
                <a:solidFill>
                  <a:srgbClr val="2B2B2B"/>
                </a:solidFill>
                <a:latin typeface="Calibri"/>
              </a:rPr>
              <a:t>; el último nodo recibe toda la información.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Algunos nodos reciben solo </a:t>
            </a:r>
            <a:r>
              <a:rPr sz="1350" b="1">
                <a:solidFill>
                  <a:srgbClr val="E9520E"/>
                </a:solidFill>
                <a:latin typeface="Calibri"/>
              </a:rPr>
              <a:t>parte</a:t>
            </a:r>
            <a:r>
              <a:rPr sz="1350" b="0">
                <a:solidFill>
                  <a:srgbClr val="2B2B2B"/>
                </a:solidFill>
                <a:latin typeface="Calibri"/>
              </a:rPr>
              <a:t> de la información.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Profundidad → abstracción</a:t>
            </a:r>
          </a:p>
        </p:txBody>
      </p:sp>
      <p:pic>
        <p:nvPicPr>
          <p:cNvPr id="7" name="Picture 6" descr="abst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31720"/>
            <a:ext cx="6035040" cy="238225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3005073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Por qué “profundo”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Con mayor </a:t>
            </a:r>
            <a:r>
              <a:rPr sz="1350" b="1">
                <a:solidFill>
                  <a:srgbClr val="E9520E"/>
                </a:solidFill>
                <a:latin typeface="Calibri"/>
              </a:rPr>
              <a:t>profundidad (depth)</a:t>
            </a:r>
            <a:r>
              <a:rPr sz="1350" b="0">
                <a:solidFill>
                  <a:srgbClr val="2B2B2B"/>
                </a:solidFill>
                <a:latin typeface="Calibri"/>
              </a:rPr>
              <a:t> se logra mayor </a:t>
            </a:r>
            <a:r>
              <a:rPr sz="1350" b="1">
                <a:solidFill>
                  <a:srgbClr val="E9520E"/>
                </a:solidFill>
                <a:latin typeface="Calibri"/>
              </a:rPr>
              <a:t>abstracción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Primeras capas: </a:t>
            </a:r>
            <a:r>
              <a:rPr sz="1350" b="1">
                <a:solidFill>
                  <a:srgbClr val="E9520E"/>
                </a:solidFill>
                <a:latin typeface="Calibri"/>
              </a:rPr>
              <a:t>bordes y texturas</a:t>
            </a:r>
            <a:r>
              <a:rPr sz="1350" b="0">
                <a:solidFill>
                  <a:srgbClr val="2B2B2B"/>
                </a:solidFill>
                <a:latin typeface="Calibri"/>
              </a:rPr>
              <a:t>; capas medias: </a:t>
            </a:r>
            <a:r>
              <a:rPr sz="1350" b="1">
                <a:solidFill>
                  <a:srgbClr val="E9520E"/>
                </a:solidFill>
                <a:latin typeface="Calibri"/>
              </a:rPr>
              <a:t>partes</a:t>
            </a:r>
            <a:r>
              <a:rPr sz="1350" b="0">
                <a:solidFill>
                  <a:srgbClr val="2B2B2B"/>
                </a:solidFill>
                <a:latin typeface="Calibri"/>
              </a:rPr>
              <a:t>; finales: </a:t>
            </a:r>
            <a:r>
              <a:rPr sz="1350" b="1">
                <a:solidFill>
                  <a:srgbClr val="E9520E"/>
                </a:solidFill>
                <a:latin typeface="Calibri"/>
              </a:rPr>
              <a:t>objeto completo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Las primeras redes profundas tenían </a:t>
            </a:r>
            <a:r>
              <a:rPr sz="1350" b="1">
                <a:solidFill>
                  <a:srgbClr val="E9520E"/>
                </a:solidFill>
                <a:latin typeface="Calibri"/>
              </a:rPr>
              <a:t>7 capas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Hoy hay acceso en minutos a redes de </a:t>
            </a:r>
            <a:r>
              <a:rPr sz="1350" b="1">
                <a:solidFill>
                  <a:srgbClr val="E9520E"/>
                </a:solidFill>
                <a:latin typeface="Calibri"/>
              </a:rPr>
              <a:t>más de 100 capas</a:t>
            </a:r>
            <a:r>
              <a:rPr sz="1350" b="0">
                <a:solidFill>
                  <a:srgbClr val="2B2B2B"/>
                </a:solidFill>
                <a:latin typeface="Calibri"/>
              </a:rPr>
              <a:t> ya entrenadas.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Aprender la tarea: corrección iterativa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532120" cy="250444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Millones de parámetros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Un modelo actual tiene desde pocos millones a </a:t>
            </a:r>
            <a:r>
              <a:rPr sz="1350" b="1">
                <a:solidFill>
                  <a:srgbClr val="E9520E"/>
                </a:solidFill>
                <a:latin typeface="Calibri"/>
              </a:rPr>
              <a:t>miles de millones</a:t>
            </a:r>
            <a:r>
              <a:rPr sz="1350" b="0">
                <a:solidFill>
                  <a:srgbClr val="2B2B2B"/>
                </a:solidFill>
                <a:latin typeface="Calibri"/>
              </a:rPr>
              <a:t> de parámetros.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Probar todas las combinaciones por </a:t>
            </a:r>
            <a:r>
              <a:rPr sz="1350" b="1">
                <a:solidFill>
                  <a:srgbClr val="E9520E"/>
                </a:solidFill>
                <a:latin typeface="Calibri"/>
              </a:rPr>
              <a:t>prueba y error</a:t>
            </a:r>
            <a:r>
              <a:rPr sz="1350" b="0">
                <a:solidFill>
                  <a:srgbClr val="2B2B2B"/>
                </a:solidFill>
                <a:latin typeface="Calibri"/>
              </a:rPr>
              <a:t> tardaría demasiado.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Se </a:t>
            </a:r>
            <a:r>
              <a:rPr sz="1350" b="1">
                <a:solidFill>
                  <a:srgbClr val="E9520E"/>
                </a:solidFill>
                <a:latin typeface="Calibri"/>
              </a:rPr>
              <a:t>corrige el error</a:t>
            </a:r>
            <a:r>
              <a:rPr sz="1350" b="0">
                <a:solidFill>
                  <a:srgbClr val="2B2B2B"/>
                </a:solidFill>
                <a:latin typeface="Calibri"/>
              </a:rPr>
              <a:t> de forma iterativa, miles o millones de veces.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532120" cy="2504440"/>
          </a:xfrm>
          <a:prstGeom prst="roundRect">
            <a:avLst>
              <a:gd name="adj" fmla="val 4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Datos y sesgos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Hace falta </a:t>
            </a:r>
            <a:r>
              <a:rPr sz="1350" b="1">
                <a:solidFill>
                  <a:srgbClr val="E9520E"/>
                </a:solidFill>
                <a:latin typeface="Calibri"/>
              </a:rPr>
              <a:t>muchos ejemplos etiquetados</a:t>
            </a:r>
            <a:r>
              <a:rPr sz="1350" b="0">
                <a:solidFill>
                  <a:srgbClr val="2B2B2B"/>
                </a:solidFill>
                <a:latin typeface="Calibri"/>
              </a:rPr>
              <a:t> (corpus, bases de datos), con su coste.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Sesgos en los datos</a:t>
            </a:r>
            <a:r>
              <a:rPr sz="1350" b="0">
                <a:solidFill>
                  <a:srgbClr val="2B2B2B"/>
                </a:solidFill>
                <a:latin typeface="Calibri"/>
              </a:rPr>
              <a:t>: si un ejemplo aparece mucho, el sistema se sesga.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Ejemplo: salida </a:t>
            </a:r>
            <a:r>
              <a:rPr sz="1350" b="1">
                <a:solidFill>
                  <a:srgbClr val="E9520E"/>
                </a:solidFill>
                <a:latin typeface="Calibri"/>
              </a:rPr>
              <a:t>“oso 99,9 %”</a:t>
            </a:r>
            <a:r>
              <a:rPr sz="1350" b="0">
                <a:solidFill>
                  <a:srgbClr val="2B2B2B"/>
                </a:solidFill>
                <a:latin typeface="Calibri"/>
              </a:rPr>
              <a:t> cuando la respuesta correcta era </a:t>
            </a:r>
            <a:r>
              <a:rPr sz="1350" b="1">
                <a:solidFill>
                  <a:srgbClr val="E9520E"/>
                </a:solidFill>
                <a:latin typeface="Calibri"/>
              </a:rPr>
              <a:t>“gato”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BLOQUE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9C9C9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9C9C9"/>
                </a:solidFill>
                <a:latin typeface="Calibri"/>
              </a:rPr>
              <a:t>#11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9520E"/>
                </a:solidFill>
                <a:latin typeface="Georg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Georgia"/>
              </a:rPr>
              <a:t>Clasificación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CLASIFICACIÓN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Tipos de problema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532120" cy="250444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Clasificación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Decir </a:t>
            </a:r>
            <a:r>
              <a:rPr sz="1350" b="1">
                <a:solidFill>
                  <a:srgbClr val="E9520E"/>
                </a:solidFill>
                <a:latin typeface="Calibri"/>
              </a:rPr>
              <a:t>qué concepto</a:t>
            </a:r>
            <a:r>
              <a:rPr sz="1350" b="0">
                <a:solidFill>
                  <a:srgbClr val="2B2B2B"/>
                </a:solidFill>
                <a:latin typeface="Calibri"/>
              </a:rPr>
              <a:t> hay en una imagen / texto / audio.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Una sola salida</a:t>
            </a:r>
            <a:r>
              <a:rPr sz="1350" b="0">
                <a:solidFill>
                  <a:srgbClr val="2B2B2B"/>
                </a:solidFill>
                <a:latin typeface="Calibri"/>
              </a:rPr>
              <a:t> para toda la entrada.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Clasificación múltiple</a:t>
            </a:r>
            <a:r>
              <a:rPr sz="1350" b="0">
                <a:solidFill>
                  <a:srgbClr val="2B2B2B"/>
                </a:solidFill>
                <a:latin typeface="Calibri"/>
              </a:rPr>
              <a:t>: un concepto por cada parte/píxel, o varias propiedades.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532120" cy="2302128"/>
          </a:xfrm>
          <a:prstGeom prst="roundRect">
            <a:avLst>
              <a:gd name="adj" fmla="val 4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Regresión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Usar las salidas para una </a:t>
            </a:r>
            <a:r>
              <a:rPr sz="1350" b="1">
                <a:solidFill>
                  <a:srgbClr val="E9520E"/>
                </a:solidFill>
                <a:latin typeface="Calibri"/>
              </a:rPr>
              <a:t>predicción numérica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Ejemplo: estimar </a:t>
            </a:r>
            <a:r>
              <a:rPr sz="1350" b="1">
                <a:solidFill>
                  <a:srgbClr val="E9520E"/>
                </a:solidFill>
                <a:latin typeface="Calibri"/>
              </a:rPr>
              <a:t>coordenadas</a:t>
            </a:r>
            <a:r>
              <a:rPr sz="1350" b="0">
                <a:solidFill>
                  <a:srgbClr val="2B2B2B"/>
                </a:solidFill>
                <a:latin typeface="Calibri"/>
              </a:rPr>
              <a:t> (X = 8, Y = 6).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Regresión múltiple</a:t>
            </a:r>
            <a:r>
              <a:rPr sz="1350" b="0">
                <a:solidFill>
                  <a:srgbClr val="2B2B2B"/>
                </a:solidFill>
                <a:latin typeface="Calibri"/>
              </a:rPr>
              <a:t>: varios valores numéricos por zona o píxel.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CLASIFICACIÓN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Clasificación: el problema estrella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11219688" cy="1993518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¿Qué hay en esta imagen?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La red da </a:t>
            </a:r>
            <a:r>
              <a:rPr sz="1350" b="1">
                <a:solidFill>
                  <a:srgbClr val="E9520E"/>
                </a:solidFill>
                <a:latin typeface="Calibri"/>
              </a:rPr>
              <a:t>una respuesta</a:t>
            </a:r>
            <a:r>
              <a:rPr sz="1350" b="0">
                <a:solidFill>
                  <a:srgbClr val="2B2B2B"/>
                </a:solidFill>
                <a:latin typeface="Calibri"/>
              </a:rPr>
              <a:t> entre muchas posibles (p. ej. 120 razas de perro).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2012</a:t>
            </a:r>
            <a:r>
              <a:rPr sz="1350" b="0">
                <a:solidFill>
                  <a:srgbClr val="2B2B2B"/>
                </a:solidFill>
                <a:latin typeface="Calibri"/>
              </a:rPr>
              <a:t>: el error rondaba el </a:t>
            </a:r>
            <a:r>
              <a:rPr sz="1350" b="1">
                <a:solidFill>
                  <a:srgbClr val="E9520E"/>
                </a:solidFill>
                <a:latin typeface="Calibri"/>
              </a:rPr>
              <a:t>25 %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Hinton y Krizhevsky</a:t>
            </a:r>
            <a:r>
              <a:rPr sz="1350" b="0">
                <a:solidFill>
                  <a:srgbClr val="2B2B2B"/>
                </a:solidFill>
                <a:latin typeface="Calibri"/>
              </a:rPr>
              <a:t> con una red de </a:t>
            </a:r>
            <a:r>
              <a:rPr sz="1350" b="1">
                <a:solidFill>
                  <a:srgbClr val="E9520E"/>
                </a:solidFill>
                <a:latin typeface="Calibri"/>
              </a:rPr>
              <a:t>7 capas</a:t>
            </a:r>
            <a:r>
              <a:rPr sz="1350" b="0">
                <a:solidFill>
                  <a:srgbClr val="2B2B2B"/>
                </a:solidFill>
                <a:latin typeface="Calibri"/>
              </a:rPr>
              <a:t> lo bajaron al 15 %.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Hoy, con decenas o cientos de capas, el error es de </a:t>
            </a:r>
            <a:r>
              <a:rPr sz="1350" b="1">
                <a:solidFill>
                  <a:srgbClr val="E9520E"/>
                </a:solidFill>
                <a:latin typeface="Calibri"/>
              </a:rPr>
              <a:t>alrededor del 3 %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CLASIFICACIÓN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¿Nos podemos fiar?</a:t>
            </a:r>
          </a:p>
        </p:txBody>
      </p:sp>
      <p:pic>
        <p:nvPicPr>
          <p:cNvPr id="7" name="Picture 6" descr="adversa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31720"/>
            <a:ext cx="6035040" cy="241401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3207384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Límites y fragilidad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Se puede </a:t>
            </a:r>
            <a:r>
              <a:rPr sz="1350" b="1">
                <a:solidFill>
                  <a:srgbClr val="E9520E"/>
                </a:solidFill>
                <a:latin typeface="Calibri"/>
              </a:rPr>
              <a:t>visualizar qué zonas</a:t>
            </a:r>
            <a:r>
              <a:rPr sz="1350" b="0">
                <a:solidFill>
                  <a:srgbClr val="2B2B2B"/>
                </a:solidFill>
                <a:latin typeface="Calibri"/>
              </a:rPr>
              <a:t> ha considerado más la red.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Ataques adversarios</a:t>
            </a:r>
            <a:r>
              <a:rPr sz="1350" b="0">
                <a:solidFill>
                  <a:srgbClr val="2B2B2B"/>
                </a:solidFill>
                <a:latin typeface="Calibri"/>
              </a:rPr>
              <a:t>: un ruido imperceptible convierte un “panda” (57 %) en un “gibón” (99 %).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Existen ataques </a:t>
            </a:r>
            <a:r>
              <a:rPr sz="1350" b="1">
                <a:solidFill>
                  <a:srgbClr val="E9520E"/>
                </a:solidFill>
                <a:latin typeface="Calibri"/>
              </a:rPr>
              <a:t>físicos</a:t>
            </a:r>
            <a:r>
              <a:rPr sz="1350" b="0">
                <a:solidFill>
                  <a:srgbClr val="2B2B2B"/>
                </a:solidFill>
                <a:latin typeface="Calibri"/>
              </a:rPr>
              <a:t>: gafas que engañan al reconocimiento facial, señales de tráfico manipuladas.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Mitigación: </a:t>
            </a:r>
            <a:r>
              <a:rPr sz="1350" b="1">
                <a:solidFill>
                  <a:srgbClr val="E9520E"/>
                </a:solidFill>
                <a:latin typeface="Calibri"/>
              </a:rPr>
              <a:t>aumento de datos</a:t>
            </a:r>
            <a:r>
              <a:rPr sz="1350" b="0">
                <a:solidFill>
                  <a:srgbClr val="2B2B2B"/>
                </a:solidFill>
                <a:latin typeface="Calibri"/>
              </a:rPr>
              <a:t> (múltiples versiones de cada imagen/sonido).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BLOQUE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9C9C9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9C9C9"/>
                </a:solidFill>
                <a:latin typeface="Calibri"/>
              </a:rPr>
              <a:t>#15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9520E"/>
                </a:solidFill>
                <a:latin typeface="Georgia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Georgia"/>
              </a:rPr>
              <a:t>Regresión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REGRESIÓN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Predecir un número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532120" cy="2302128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Regresión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Obtener una </a:t>
            </a:r>
            <a:r>
              <a:rPr sz="1350" b="1">
                <a:solidFill>
                  <a:srgbClr val="E9520E"/>
                </a:solidFill>
                <a:latin typeface="Calibri"/>
              </a:rPr>
              <a:t>predicción numérica</a:t>
            </a:r>
            <a:r>
              <a:rPr sz="1350" b="0">
                <a:solidFill>
                  <a:srgbClr val="2B2B2B"/>
                </a:solidFill>
                <a:latin typeface="Calibri"/>
              </a:rPr>
              <a:t> a partir de los datos.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Ejemplo: </a:t>
            </a:r>
            <a:r>
              <a:rPr sz="1350" b="1">
                <a:solidFill>
                  <a:srgbClr val="E9520E"/>
                </a:solidFill>
                <a:latin typeface="Calibri"/>
              </a:rPr>
              <a:t>¿qué edad tiene esta persona?</a:t>
            </a:r>
            <a:r>
              <a:rPr sz="1350" b="0">
                <a:solidFill>
                  <a:srgbClr val="2B2B2B"/>
                </a:solidFill>
                <a:latin typeface="Calibri"/>
              </a:rPr>
              <a:t> → un número de años.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Se entrena con muchas imágenes y se </a:t>
            </a:r>
            <a:r>
              <a:rPr sz="1350" b="1">
                <a:solidFill>
                  <a:srgbClr val="E9520E"/>
                </a:solidFill>
                <a:latin typeface="Calibri"/>
              </a:rPr>
              <a:t>corrige</a:t>
            </a:r>
            <a:r>
              <a:rPr sz="1350" b="0">
                <a:solidFill>
                  <a:srgbClr val="2B2B2B"/>
                </a:solidFill>
                <a:latin typeface="Calibri"/>
              </a:rPr>
              <a:t> cuando se equivoca.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532120" cy="2099817"/>
          </a:xfrm>
          <a:prstGeom prst="roundRect">
            <a:avLst>
              <a:gd name="adj" fmla="val 4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Regresión múltiple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Transformar los datos</a:t>
            </a:r>
            <a:r>
              <a:rPr sz="1350" b="0">
                <a:solidFill>
                  <a:srgbClr val="2B2B2B"/>
                </a:solidFill>
                <a:latin typeface="Calibri"/>
              </a:rPr>
              <a:t> con alguna finalidad.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Convertir una imagen en </a:t>
            </a:r>
            <a:r>
              <a:rPr sz="1350" b="1">
                <a:solidFill>
                  <a:srgbClr val="E9520E"/>
                </a:solidFill>
                <a:latin typeface="Calibri"/>
              </a:rPr>
              <a:t>blanco y negro a color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Mejorar la </a:t>
            </a:r>
            <a:r>
              <a:rPr sz="1350" b="1">
                <a:solidFill>
                  <a:srgbClr val="E9520E"/>
                </a:solidFill>
                <a:latin typeface="Calibri"/>
              </a:rPr>
              <a:t>calidad</a:t>
            </a:r>
            <a:r>
              <a:rPr sz="1350" b="0">
                <a:solidFill>
                  <a:srgbClr val="2B2B2B"/>
                </a:solidFill>
                <a:latin typeface="Calibri"/>
              </a:rPr>
              <a:t> de una imagen.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BLOQUE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9C9C9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9C9C9"/>
                </a:solidFill>
                <a:latin typeface="Calibri"/>
              </a:rPr>
              <a:t>#17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9520E"/>
                </a:solidFill>
                <a:latin typeface="Georgia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Georgia"/>
              </a:rPr>
              <a:t>Representación y generación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REPRESENTACIÓN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Representation learning</a:t>
            </a:r>
          </a:p>
        </p:txBody>
      </p:sp>
      <p:pic>
        <p:nvPicPr>
          <p:cNvPr id="7" name="Picture 6" descr="emb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103120"/>
            <a:ext cx="512064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2802762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El espacio interno de la red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Se pueden usar las </a:t>
            </a:r>
            <a:r>
              <a:rPr sz="1350" b="1">
                <a:solidFill>
                  <a:srgbClr val="E9520E"/>
                </a:solidFill>
                <a:latin typeface="Calibri"/>
              </a:rPr>
              <a:t>representaciones internas</a:t>
            </a:r>
            <a:r>
              <a:rPr sz="1350" b="0">
                <a:solidFill>
                  <a:srgbClr val="2B2B2B"/>
                </a:solidFill>
                <a:latin typeface="Calibri"/>
              </a:rPr>
              <a:t> de la red.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Imágenes / sonidos / textos </a:t>
            </a:r>
            <a:r>
              <a:rPr sz="1350" b="1">
                <a:solidFill>
                  <a:srgbClr val="E9520E"/>
                </a:solidFill>
                <a:latin typeface="Calibri"/>
              </a:rPr>
              <a:t>similares</a:t>
            </a:r>
            <a:r>
              <a:rPr sz="1350" b="0">
                <a:solidFill>
                  <a:srgbClr val="2B2B2B"/>
                </a:solidFill>
                <a:latin typeface="Calibri"/>
              </a:rPr>
              <a:t> quedan </a:t>
            </a:r>
            <a:r>
              <a:rPr sz="1350" b="1">
                <a:solidFill>
                  <a:srgbClr val="E9520E"/>
                </a:solidFill>
                <a:latin typeface="Calibri"/>
              </a:rPr>
              <a:t>más próximos</a:t>
            </a:r>
            <a:r>
              <a:rPr sz="1350" b="0">
                <a:solidFill>
                  <a:srgbClr val="2B2B2B"/>
                </a:solidFill>
                <a:latin typeface="Calibri"/>
              </a:rPr>
              <a:t> en ese espacio.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Permite </a:t>
            </a:r>
            <a:r>
              <a:rPr sz="1350" b="1">
                <a:solidFill>
                  <a:srgbClr val="E9520E"/>
                </a:solidFill>
                <a:latin typeface="Calibri"/>
              </a:rPr>
              <a:t>buscar elementos parecidos</a:t>
            </a:r>
            <a:r>
              <a:rPr sz="1350" b="0">
                <a:solidFill>
                  <a:srgbClr val="2B2B2B"/>
                </a:solidFill>
                <a:latin typeface="Calibri"/>
              </a:rPr>
              <a:t> en una base de datos.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O </a:t>
            </a:r>
            <a:r>
              <a:rPr sz="1350" b="1">
                <a:solidFill>
                  <a:srgbClr val="E9520E"/>
                </a:solidFill>
                <a:latin typeface="Calibri"/>
              </a:rPr>
              <a:t>comparar</a:t>
            </a:r>
            <a:r>
              <a:rPr sz="1350" b="0">
                <a:solidFill>
                  <a:srgbClr val="2B2B2B"/>
                </a:solidFill>
                <a:latin typeface="Calibri"/>
              </a:rPr>
              <a:t> si dos imágenes corresponden a la misma identidad.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GENERACIÓN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Generación</a:t>
            </a:r>
          </a:p>
        </p:txBody>
      </p:sp>
      <p:pic>
        <p:nvPicPr>
          <p:cNvPr id="7" name="Picture 6" descr="g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377440"/>
            <a:ext cx="5852160" cy="2600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3005074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Crear datos nuevos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Si </a:t>
            </a:r>
            <a:r>
              <a:rPr sz="1350" b="1">
                <a:solidFill>
                  <a:srgbClr val="E9520E"/>
                </a:solidFill>
                <a:latin typeface="Calibri"/>
              </a:rPr>
              <a:t>cambiamos la representación</a:t>
            </a:r>
            <a:r>
              <a:rPr sz="1350" b="0">
                <a:solidFill>
                  <a:srgbClr val="2B2B2B"/>
                </a:solidFill>
                <a:latin typeface="Calibri"/>
              </a:rPr>
              <a:t>, obtenemos una imagen distinta.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Las </a:t>
            </a:r>
            <a:r>
              <a:rPr sz="1350" b="1">
                <a:solidFill>
                  <a:srgbClr val="E9520E"/>
                </a:solidFill>
                <a:latin typeface="Calibri"/>
              </a:rPr>
              <a:t>GAN</a:t>
            </a:r>
            <a:r>
              <a:rPr sz="1350" b="0">
                <a:solidFill>
                  <a:srgbClr val="2B2B2B"/>
                </a:solidFill>
                <a:latin typeface="Calibri"/>
              </a:rPr>
              <a:t> enfrentan un </a:t>
            </a:r>
            <a:r>
              <a:rPr sz="1350" b="1">
                <a:solidFill>
                  <a:srgbClr val="E9520E"/>
                </a:solidFill>
                <a:latin typeface="Calibri"/>
              </a:rPr>
              <a:t>generador</a:t>
            </a:r>
            <a:r>
              <a:rPr sz="1350" b="0">
                <a:solidFill>
                  <a:srgbClr val="2B2B2B"/>
                </a:solidFill>
                <a:latin typeface="Calibri"/>
              </a:rPr>
              <a:t> y un </a:t>
            </a:r>
            <a:r>
              <a:rPr sz="1350" b="1">
                <a:solidFill>
                  <a:srgbClr val="E9520E"/>
                </a:solidFill>
                <a:latin typeface="Calibri"/>
              </a:rPr>
              <a:t>discriminador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El discriminador intenta distinguir lo </a:t>
            </a:r>
            <a:r>
              <a:rPr sz="1350" b="1">
                <a:solidFill>
                  <a:srgbClr val="E9520E"/>
                </a:solidFill>
                <a:latin typeface="Calibri"/>
              </a:rPr>
              <a:t>real de lo falso</a:t>
            </a:r>
            <a:r>
              <a:rPr sz="1350" b="0">
                <a:solidFill>
                  <a:srgbClr val="2B2B2B"/>
                </a:solidFill>
                <a:latin typeface="Calibri"/>
              </a:rPr>
              <a:t>; el generador, engañarlo.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En menos de 10 años pasó de caras toscas a </a:t>
            </a:r>
            <a:r>
              <a:rPr sz="1350" b="1">
                <a:solidFill>
                  <a:srgbClr val="E9520E"/>
                </a:solidFill>
                <a:latin typeface="Calibri"/>
              </a:rPr>
              <a:t>rostros fotorrealistas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GENERACIÓN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Más usos de la generación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532120" cy="2302128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Imagen y vídeo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Generación de </a:t>
            </a:r>
            <a:r>
              <a:rPr sz="1350" b="1">
                <a:solidFill>
                  <a:srgbClr val="E9520E"/>
                </a:solidFill>
                <a:latin typeface="Calibri"/>
              </a:rPr>
              <a:t>vídeos realistas</a:t>
            </a:r>
            <a:r>
              <a:rPr sz="1350" b="0">
                <a:solidFill>
                  <a:srgbClr val="2B2B2B"/>
                </a:solidFill>
                <a:latin typeface="Calibri"/>
              </a:rPr>
              <a:t> (deep fakes).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Añadir </a:t>
            </a:r>
            <a:r>
              <a:rPr sz="1350" b="1">
                <a:solidFill>
                  <a:srgbClr val="E9520E"/>
                </a:solidFill>
                <a:latin typeface="Calibri"/>
              </a:rPr>
              <a:t>ruido</a:t>
            </a:r>
            <a:r>
              <a:rPr sz="1350" b="0">
                <a:solidFill>
                  <a:srgbClr val="2B2B2B"/>
                </a:solidFill>
                <a:latin typeface="Calibri"/>
              </a:rPr>
              <a:t> y entrenar una red para </a:t>
            </a:r>
            <a:r>
              <a:rPr sz="1350" b="1">
                <a:solidFill>
                  <a:srgbClr val="E9520E"/>
                </a:solidFill>
                <a:latin typeface="Calibri"/>
              </a:rPr>
              <a:t>“limpiarlo”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Generar imágenes que </a:t>
            </a:r>
            <a:r>
              <a:rPr sz="1350" b="1">
                <a:solidFill>
                  <a:srgbClr val="E9520E"/>
                </a:solidFill>
                <a:latin typeface="Calibri"/>
              </a:rPr>
              <a:t>nunca han existido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532120" cy="2302128"/>
          </a:xfrm>
          <a:prstGeom prst="roundRect">
            <a:avLst>
              <a:gd name="adj" fmla="val 4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Aprendizaje no supervisado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Motivación: hay </a:t>
            </a:r>
            <a:r>
              <a:rPr sz="1350" b="1">
                <a:solidFill>
                  <a:srgbClr val="E9520E"/>
                </a:solidFill>
                <a:latin typeface="Calibri"/>
              </a:rPr>
              <a:t>muchos datos sin etiquetar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Forzar a la red a </a:t>
            </a:r>
            <a:r>
              <a:rPr sz="1350" b="1">
                <a:solidFill>
                  <a:srgbClr val="E9520E"/>
                </a:solidFill>
                <a:latin typeface="Calibri"/>
              </a:rPr>
              <a:t>predecir lo que no ha visto</a:t>
            </a:r>
            <a:r>
              <a:rPr sz="1350" b="0">
                <a:solidFill>
                  <a:srgbClr val="2B2B2B"/>
                </a:solidFill>
                <a:latin typeface="Calibri"/>
              </a:rPr>
              <a:t> (p. ej. el siguiente píxel).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Las representaciones aprendidas </a:t>
            </a:r>
            <a:r>
              <a:rPr sz="1350" b="1">
                <a:solidFill>
                  <a:srgbClr val="E9520E"/>
                </a:solidFill>
                <a:latin typeface="Calibri"/>
              </a:rPr>
              <a:t>sirven para otras tareas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GENERACIÓN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Una aplicación real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11219688" cy="239814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IA y el patrimonio documental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La IA halla rastros del </a:t>
            </a:r>
            <a:r>
              <a:rPr sz="1350" b="1">
                <a:solidFill>
                  <a:srgbClr val="E9520E"/>
                </a:solidFill>
                <a:latin typeface="Calibri"/>
              </a:rPr>
              <a:t>descubrimiento español de Australia</a:t>
            </a:r>
            <a:r>
              <a:rPr sz="1350" b="0">
                <a:solidFill>
                  <a:srgbClr val="2B2B2B"/>
                </a:solidFill>
                <a:latin typeface="Calibri"/>
              </a:rPr>
              <a:t>: la UPV desarrolla reconocimiento de texto manuscrito antiguo.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En un texto concreto, un </a:t>
            </a:r>
            <a:r>
              <a:rPr sz="1350" b="1">
                <a:solidFill>
                  <a:srgbClr val="E9520E"/>
                </a:solidFill>
                <a:latin typeface="Calibri"/>
              </a:rPr>
              <a:t>experto sigue siendo más fiable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Pero la tecnología permite </a:t>
            </a:r>
            <a:r>
              <a:rPr sz="1350" b="1">
                <a:solidFill>
                  <a:srgbClr val="E9520E"/>
                </a:solidFill>
                <a:latin typeface="Calibri"/>
              </a:rPr>
              <a:t>buscar y “escalar”</a:t>
            </a:r>
            <a:r>
              <a:rPr sz="1350" b="0">
                <a:solidFill>
                  <a:srgbClr val="2B2B2B"/>
                </a:solidFill>
                <a:latin typeface="Calibri"/>
              </a:rPr>
              <a:t> a documentos inabordables a mano.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El </a:t>
            </a:r>
            <a:r>
              <a:rPr sz="1350" b="1">
                <a:solidFill>
                  <a:srgbClr val="E9520E"/>
                </a:solidFill>
                <a:latin typeface="Calibri"/>
              </a:rPr>
              <a:t>Archivo General de Indias</a:t>
            </a:r>
            <a:r>
              <a:rPr sz="1350" b="0">
                <a:solidFill>
                  <a:srgbClr val="2B2B2B"/>
                </a:solidFill>
                <a:latin typeface="Calibri"/>
              </a:rPr>
              <a:t> tiene 80 millones de páginas sin procesar. Objetivo: </a:t>
            </a:r>
            <a:r>
              <a:rPr sz="1350" b="1">
                <a:solidFill>
                  <a:srgbClr val="E9520E"/>
                </a:solidFill>
                <a:latin typeface="Calibri"/>
              </a:rPr>
              <a:t>asistir al profesional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RESUMEN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9C9C9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9C9C9"/>
                </a:solidFill>
                <a:latin typeface="Calibri"/>
              </a:rPr>
              <a:t>#22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Georgia"/>
              </a:rPr>
              <a:t>Ideas clave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350008"/>
            <a:ext cx="146304" cy="146304"/>
          </a:xfrm>
          <a:prstGeom prst="ellipse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2860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E9520E"/>
                </a:solidFill>
                <a:latin typeface="Calibri"/>
              </a:rPr>
              <a:t>El deep learning despegó</a:t>
            </a:r>
            <a:r>
              <a:rPr sz="1600" b="0">
                <a:solidFill>
                  <a:srgbClr val="FFFFFF"/>
                </a:solidFill>
                <a:latin typeface="Calibri"/>
              </a:rPr>
              <a:t> al juntar datos, cómputo (GPUs) y software libre.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282696"/>
            <a:ext cx="146304" cy="146304"/>
          </a:xfrm>
          <a:prstGeom prst="ellipse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21868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E9520E"/>
                </a:solidFill>
                <a:latin typeface="Calibri"/>
              </a:rPr>
              <a:t>La profundidad</a:t>
            </a:r>
            <a:r>
              <a:rPr sz="1600" b="0">
                <a:solidFill>
                  <a:srgbClr val="FFFFFF"/>
                </a:solidFill>
                <a:latin typeface="Calibri"/>
              </a:rPr>
              <a:t> da abstracción: de bordes a partes a objetos completos.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215384"/>
            <a:ext cx="146304" cy="146304"/>
          </a:xfrm>
          <a:prstGeom prst="ellipse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151376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E9520E"/>
                </a:solidFill>
                <a:latin typeface="Calibri"/>
              </a:rPr>
              <a:t>Resuelve</a:t>
            </a:r>
            <a:r>
              <a:rPr sz="1600" b="0">
                <a:solidFill>
                  <a:srgbClr val="FFFFFF"/>
                </a:solidFill>
                <a:latin typeface="Calibri"/>
              </a:rPr>
              <a:t> clasificación, regresión, representación y generación.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5148072"/>
            <a:ext cx="146304" cy="146304"/>
          </a:xfrm>
          <a:prstGeom prst="ellipse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5084064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E9520E"/>
                </a:solidFill>
                <a:latin typeface="Calibri"/>
              </a:rPr>
              <a:t>Cuidado</a:t>
            </a:r>
            <a:r>
              <a:rPr sz="1600" b="0">
                <a:solidFill>
                  <a:srgbClr val="FFFFFF"/>
                </a:solidFill>
                <a:latin typeface="Calibri"/>
              </a:rPr>
              <a:t> con sesgos en los datos y ataques adversarios; la IA asiste, no sustituye.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