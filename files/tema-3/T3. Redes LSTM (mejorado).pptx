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</a:t>
            </a:r>
          </a:p>
        </p:txBody>
      </p:sp>
      <p:pic>
        <p:nvPicPr>
          <p:cNvPr id="7" name="Picture 6" descr="lstm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0"/>
            <a:ext cx="5120640" cy="32585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8288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520E"/>
                </a:solidFill>
                <a:latin typeface="Calibri"/>
              </a:rPr>
              <a:t>APRENDIZAJE PROFUNDO · TEMA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B2B2B"/>
                </a:solidFill>
                <a:latin typeface="Georgia"/>
              </a:rPr>
              <a:t>3. Redes neuronales 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B2B2B"/>
                </a:solidFill>
                <a:latin typeface="Calibri"/>
              </a:rPr>
              <a:t>Prof. Óscar Sánchez Rueda</a:t>
            </a:r>
          </a:p>
          <a:p>
            <a:r>
              <a:rPr sz="1400" b="0">
                <a:solidFill>
                  <a:srgbClr val="6B6B6B"/>
                </a:solidFill>
                <a:latin typeface="Calibri"/>
              </a:rPr>
              <a:t>CUNEF Universidad · Curso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¿De qué trata este tema?</a:t>
            </a:r>
          </a:p>
        </p:txBody>
      </p:sp>
      <p:pic>
        <p:nvPicPr>
          <p:cNvPr id="7" name="Picture 6" descr="vani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5120640" cy="32241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50570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Memoria en las redes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redes recurrentes (RNN) procesan </a:t>
            </a:r>
            <a:r>
              <a:rPr sz="1350" b="1">
                <a:solidFill>
                  <a:srgbClr val="E9520E"/>
                </a:solidFill>
                <a:latin typeface="Calibri"/>
              </a:rPr>
              <a:t>secuencias</a:t>
            </a:r>
            <a:r>
              <a:rPr sz="1350" b="0">
                <a:solidFill>
                  <a:srgbClr val="2B2B2B"/>
                </a:solidFill>
                <a:latin typeface="Calibri"/>
              </a:rPr>
              <a:t>: texto, audio, series temporales.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Sufren el problema del </a:t>
            </a:r>
            <a:r>
              <a:rPr sz="1350" b="1">
                <a:solidFill>
                  <a:srgbClr val="E9520E"/>
                </a:solidFill>
                <a:latin typeface="Calibri"/>
              </a:rPr>
              <a:t>gradiente que se desvanece o explota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LSTM</a:t>
            </a:r>
            <a:r>
              <a:rPr sz="1350" b="0">
                <a:solidFill>
                  <a:srgbClr val="2B2B2B"/>
                </a:solidFill>
                <a:latin typeface="Calibri"/>
              </a:rPr>
              <a:t> añaden </a:t>
            </a:r>
            <a:r>
              <a:rPr sz="1350" b="1">
                <a:solidFill>
                  <a:srgbClr val="E9520E"/>
                </a:solidFill>
                <a:latin typeface="Calibri"/>
              </a:rPr>
              <a:t>puertas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regulan la memoria de la red.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Permiten capturar </a:t>
            </a:r>
            <a:r>
              <a:rPr sz="1350" b="1">
                <a:solidFill>
                  <a:srgbClr val="E9520E"/>
                </a:solidFill>
                <a:latin typeface="Calibri"/>
              </a:rPr>
              <a:t>dependencias a largo plazo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Variantes: </a:t>
            </a:r>
            <a:r>
              <a:rPr sz="1350" b="1">
                <a:solidFill>
                  <a:srgbClr val="E9520E"/>
                </a:solidFill>
                <a:latin typeface="Calibri"/>
              </a:rPr>
              <a:t>GRU, Bi-LSTM</a:t>
            </a:r>
            <a:r>
              <a:rPr sz="1350" b="0">
                <a:solidFill>
                  <a:srgbClr val="2B2B2B"/>
                </a:solidFill>
                <a:latin typeface="Calibri"/>
              </a:rPr>
              <a:t> y mecanismos de </a:t>
            </a:r>
            <a:r>
              <a:rPr sz="1350" b="1">
                <a:solidFill>
                  <a:srgbClr val="E9520E"/>
                </a:solidFill>
                <a:latin typeface="Calibri"/>
              </a:rPr>
              <a:t>atención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Índice del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El problema del gradiente y las dependencias a largo plazo.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La celda LSTM: puertas de olvido, entrada y salida.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14215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32503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Entrenamiento y aplicaciones (seq2seq, NLP).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9783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48071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Variantes: GRU, Bi-LSTM y atención.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El problema a resolver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Vanishing / exploding gradient</a:t>
            </a:r>
          </a:p>
        </p:txBody>
      </p:sp>
      <p:pic>
        <p:nvPicPr>
          <p:cNvPr id="7" name="Picture 6" descr="vani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349240" cy="3368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005074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¿Por qué fallan las RNN?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Al </a:t>
            </a:r>
            <a:r>
              <a:rPr sz="1350" b="1">
                <a:solidFill>
                  <a:srgbClr val="E9520E"/>
                </a:solidFill>
                <a:latin typeface="Calibri"/>
              </a:rPr>
              <a:t>retropropagar</a:t>
            </a:r>
            <a:r>
              <a:rPr sz="1350" b="0">
                <a:solidFill>
                  <a:srgbClr val="2B2B2B"/>
                </a:solidFill>
                <a:latin typeface="Calibri"/>
              </a:rPr>
              <a:t> el error, los gradientes se multiplican en cada capa o paso de tiempo.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Si la derivada es &lt;1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decaen exponencialmente</a:t>
            </a:r>
            <a:r>
              <a:rPr sz="1350" b="0">
                <a:solidFill>
                  <a:srgbClr val="2B2B2B"/>
                </a:solidFill>
                <a:latin typeface="Calibri"/>
              </a:rPr>
              <a:t> (vanishing).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Si la derivada es &gt;1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crecen exponencialmente</a:t>
            </a:r>
            <a:r>
              <a:rPr sz="1350" b="0">
                <a:solidFill>
                  <a:srgbClr val="2B2B2B"/>
                </a:solidFill>
                <a:latin typeface="Calibri"/>
              </a:rPr>
              <a:t> (exploding).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Hace muy difícil entrenar redes </a:t>
            </a:r>
            <a:r>
              <a:rPr sz="1350" b="1">
                <a:solidFill>
                  <a:srgbClr val="E9520E"/>
                </a:solidFill>
                <a:latin typeface="Calibri"/>
              </a:rPr>
              <a:t>profundas</a:t>
            </a:r>
            <a:r>
              <a:rPr sz="1350" b="0">
                <a:solidFill>
                  <a:srgbClr val="2B2B2B"/>
                </a:solidFill>
                <a:latin typeface="Calibri"/>
              </a:rPr>
              <a:t> o RNN sobre </a:t>
            </a:r>
            <a:r>
              <a:rPr sz="1350" b="1">
                <a:solidFill>
                  <a:srgbClr val="E9520E"/>
                </a:solidFill>
                <a:latin typeface="Calibri"/>
              </a:rPr>
              <a:t>muchos pasos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Dependencias a largo plazo</a:t>
            </a:r>
          </a:p>
        </p:txBody>
      </p:sp>
      <p:pic>
        <p:nvPicPr>
          <p:cNvPr id="7" name="Picture 6" descr="seq2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68880"/>
            <a:ext cx="5852160" cy="26752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504439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Recordar lo lejano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Una RNN simple no logra </a:t>
            </a:r>
            <a:r>
              <a:rPr sz="1350" b="1">
                <a:solidFill>
                  <a:srgbClr val="E9520E"/>
                </a:solidFill>
                <a:latin typeface="Calibri"/>
              </a:rPr>
              <a:t>retener información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 durante muchos pasos.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Dificulta aprender relaciones como la </a:t>
            </a:r>
            <a:r>
              <a:rPr sz="1350" b="1">
                <a:solidFill>
                  <a:srgbClr val="E9520E"/>
                </a:solidFill>
                <a:latin typeface="Calibri"/>
              </a:rPr>
              <a:t>concordancia sujeto-verbo</a:t>
            </a:r>
            <a:r>
              <a:rPr sz="1350" b="0">
                <a:solidFill>
                  <a:srgbClr val="2B2B2B"/>
                </a:solidFill>
                <a:latin typeface="Calibri"/>
              </a:rPr>
              <a:t> en una frase.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Solución: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memoria explícita</a:t>
            </a:r>
            <a:r>
              <a:rPr sz="1350" b="0">
                <a:solidFill>
                  <a:srgbClr val="2B2B2B"/>
                </a:solidFill>
                <a:latin typeface="Calibri"/>
              </a:rPr>
              <a:t> controlada por puertas → LSTM.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La celda LSTM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Long Short Term Memory</a:t>
            </a:r>
          </a:p>
        </p:txBody>
      </p:sp>
      <p:pic>
        <p:nvPicPr>
          <p:cNvPr id="7" name="Picture 6" descr="lstm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760720" cy="36659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303396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Tres puertas por celda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celda de memoria añade </a:t>
            </a:r>
            <a:r>
              <a:rPr sz="1350" b="1">
                <a:solidFill>
                  <a:srgbClr val="E9520E"/>
                </a:solidFill>
                <a:latin typeface="Calibri"/>
              </a:rPr>
              <a:t>unidades de control (puertas)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Forget gate</a:t>
            </a:r>
            <a:r>
              <a:rPr sz="1350" b="0">
                <a:solidFill>
                  <a:srgbClr val="2B2B2B"/>
                </a:solidFill>
                <a:latin typeface="Calibri"/>
              </a:rPr>
              <a:t>: decide qué información se descarta.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Input gate</a:t>
            </a:r>
            <a:r>
              <a:rPr sz="1350" b="0">
                <a:solidFill>
                  <a:srgbClr val="2B2B2B"/>
                </a:solidFill>
                <a:latin typeface="Calibri"/>
              </a:rPr>
              <a:t>: decide qué nueva información se añade.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Output gate</a:t>
            </a:r>
            <a:r>
              <a:rPr sz="1350" b="0">
                <a:solidFill>
                  <a:srgbClr val="2B2B2B"/>
                </a:solidFill>
                <a:latin typeface="Calibri"/>
              </a:rPr>
              <a:t>: decide qué se expone como salida.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Evita el vanishing gradient y </a:t>
            </a:r>
            <a:r>
              <a:rPr sz="1350" b="1">
                <a:solidFill>
                  <a:srgbClr val="E9520E"/>
                </a:solidFill>
                <a:latin typeface="Calibri"/>
              </a:rPr>
              <a:t>retiene estado</a:t>
            </a:r>
            <a:r>
              <a:rPr sz="1350" b="0">
                <a:solidFill>
                  <a:srgbClr val="2B2B2B"/>
                </a:solidFill>
                <a:latin typeface="Calibri"/>
              </a:rPr>
              <a:t> más tiempo.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Cell state: la cinta de memoria</a:t>
            </a:r>
          </a:p>
        </p:txBody>
      </p:sp>
      <p:pic>
        <p:nvPicPr>
          <p:cNvPr id="7" name="Picture 6" descr="lstm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11680"/>
            <a:ext cx="5760720" cy="36659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3207384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El estado de la celda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Mantiene un vector </a:t>
            </a:r>
            <a:r>
              <a:rPr sz="1350" b="1">
                <a:solidFill>
                  <a:srgbClr val="E9520E"/>
                </a:solidFill>
                <a:latin typeface="Calibri"/>
              </a:rPr>
              <a:t>Cₜ</a:t>
            </a:r>
            <a:r>
              <a:rPr sz="1350" b="0">
                <a:solidFill>
                  <a:srgbClr val="2B2B2B"/>
                </a:solidFill>
                <a:latin typeface="Calibri"/>
              </a:rPr>
              <a:t> de la misma dimensión que el estado oculto hₜ.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información se </a:t>
            </a:r>
            <a:r>
              <a:rPr sz="1350" b="1">
                <a:solidFill>
                  <a:srgbClr val="E9520E"/>
                </a:solidFill>
                <a:latin typeface="Calibri"/>
              </a:rPr>
              <a:t>añade o elimina</a:t>
            </a:r>
            <a:r>
              <a:rPr sz="1350" b="0">
                <a:solidFill>
                  <a:srgbClr val="2B2B2B"/>
                </a:solidFill>
                <a:latin typeface="Calibri"/>
              </a:rPr>
              <a:t> mediante las puertas de olvido y entrada.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Ejemplo: recordar </a:t>
            </a:r>
            <a:r>
              <a:rPr sz="1350" b="1">
                <a:solidFill>
                  <a:srgbClr val="E9520E"/>
                </a:solidFill>
                <a:latin typeface="Calibri"/>
              </a:rPr>
              <a:t>persona y número</a:t>
            </a:r>
            <a:r>
              <a:rPr sz="1350" b="0">
                <a:solidFill>
                  <a:srgbClr val="2B2B2B"/>
                </a:solidFill>
                <a:latin typeface="Calibri"/>
              </a:rPr>
              <a:t> de un sujeto para concordar con el verbo.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forget gate borra el sujeto anterior; el input gate añade el nuevo.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Las puertas en detalle</a:t>
            </a:r>
          </a:p>
        </p:txBody>
      </p:sp>
      <p:pic>
        <p:nvPicPr>
          <p:cNvPr id="7" name="Picture 6" descr="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03120"/>
            <a:ext cx="5120640" cy="315116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802762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Sigmoide y tanh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Forget e input</a:t>
            </a:r>
            <a:r>
              <a:rPr sz="1350" b="0">
                <a:solidFill>
                  <a:srgbClr val="2B2B2B"/>
                </a:solidFill>
                <a:latin typeface="Calibri"/>
              </a:rPr>
              <a:t> calculan un valor </a:t>
            </a:r>
            <a:r>
              <a:rPr sz="1350" b="1">
                <a:solidFill>
                  <a:srgbClr val="E9520E"/>
                </a:solidFill>
                <a:latin typeface="Calibri"/>
              </a:rPr>
              <a:t>0–1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una sigmoide sobre xₜ y hₜ.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Cerca de 0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olvida</a:t>
            </a:r>
            <a:r>
              <a:rPr sz="1350" b="0">
                <a:solidFill>
                  <a:srgbClr val="2B2B2B"/>
                </a:solidFill>
                <a:latin typeface="Calibri"/>
              </a:rPr>
              <a:t>; cerca de 1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mantiene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La tanh</a:t>
            </a:r>
            <a:r>
              <a:rPr sz="1350" b="0">
                <a:solidFill>
                  <a:srgbClr val="2B2B2B"/>
                </a:solidFill>
                <a:latin typeface="Calibri"/>
              </a:rPr>
              <a:t> produce valores </a:t>
            </a:r>
            <a:r>
              <a:rPr sz="1350" b="1">
                <a:solidFill>
                  <a:srgbClr val="E9520E"/>
                </a:solidFill>
                <a:latin typeface="Calibri"/>
              </a:rPr>
              <a:t>−1 a 1</a:t>
            </a:r>
            <a:r>
              <a:rPr sz="1350" b="0">
                <a:solidFill>
                  <a:srgbClr val="2B2B2B"/>
                </a:solidFill>
                <a:latin typeface="Calibri"/>
              </a:rPr>
              <a:t>: cuánto sumar o restar al estado.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estado se actualiza: </a:t>
            </a:r>
            <a:r>
              <a:rPr sz="1350" b="1">
                <a:solidFill>
                  <a:srgbClr val="E9520E"/>
                </a:solidFill>
                <a:latin typeface="Calibri"/>
              </a:rPr>
              <a:t>olvidar (×) + añadir (+)</a:t>
            </a:r>
            <a:r>
              <a:rPr sz="1350" b="0">
                <a:solidFill>
                  <a:srgbClr val="2B2B2B"/>
                </a:solidFill>
                <a:latin typeface="Calibri"/>
              </a:rPr>
              <a:t> componente a componente.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Entrenamiento y aplicaciones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Entrenamiento de una LSTM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2802762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Cómo se entrena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Con </a:t>
            </a:r>
            <a:r>
              <a:rPr sz="1350" b="1">
                <a:solidFill>
                  <a:srgbClr val="E9520E"/>
                </a:solidFill>
                <a:latin typeface="Calibri"/>
              </a:rPr>
              <a:t>backpropagation</a:t>
            </a:r>
            <a:r>
              <a:rPr sz="1350" b="0">
                <a:solidFill>
                  <a:srgbClr val="2B2B2B"/>
                </a:solidFill>
                <a:latin typeface="Calibri"/>
              </a:rPr>
              <a:t> a través del tiempo.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SGD con momentum</a:t>
            </a:r>
            <a:r>
              <a:rPr sz="1350" b="0">
                <a:solidFill>
                  <a:srgbClr val="2B2B2B"/>
                </a:solidFill>
                <a:latin typeface="Calibri"/>
              </a:rPr>
              <a:t> (orden aleatorio de ejemplos por época).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Optimizador </a:t>
            </a:r>
            <a:r>
              <a:rPr sz="1350" b="1">
                <a:solidFill>
                  <a:srgbClr val="E9520E"/>
                </a:solidFill>
                <a:latin typeface="Calibri"/>
              </a:rPr>
              <a:t>ADAM</a:t>
            </a:r>
            <a:r>
              <a:rPr sz="1350" b="0">
                <a:solidFill>
                  <a:srgbClr val="2B2B2B"/>
                </a:solidFill>
                <a:latin typeface="Calibri"/>
              </a:rPr>
              <a:t> (Kingma &amp; Ba, 2015).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Muchos parámetros por celda: </a:t>
            </a:r>
            <a:r>
              <a:rPr sz="1350" b="1">
                <a:solidFill>
                  <a:srgbClr val="E9520E"/>
                </a:solidFill>
                <a:latin typeface="Calibri"/>
              </a:rPr>
              <a:t>Wf, Wi, WC, Wo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1801494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Requisitos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Necesita </a:t>
            </a:r>
            <a:r>
              <a:rPr sz="1350" b="1">
                <a:solidFill>
                  <a:srgbClr val="E9520E"/>
                </a:solidFill>
                <a:latin typeface="Calibri"/>
              </a:rPr>
              <a:t>muchos datos</a:t>
            </a:r>
            <a:r>
              <a:rPr sz="1350" b="0">
                <a:solidFill>
                  <a:srgbClr val="2B2B2B"/>
                </a:solidFill>
                <a:latin typeface="Calibri"/>
              </a:rPr>
              <a:t> de entrenamiento.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Mucho </a:t>
            </a:r>
            <a:r>
              <a:rPr sz="1350" b="1">
                <a:solidFill>
                  <a:srgbClr val="E9520E"/>
                </a:solidFill>
                <a:latin typeface="Calibri"/>
              </a:rPr>
              <a:t>tiempo de cómputo</a:t>
            </a:r>
            <a:r>
              <a:rPr sz="1350" b="0">
                <a:solidFill>
                  <a:srgbClr val="2B2B2B"/>
                </a:solidFill>
                <a:latin typeface="Calibri"/>
              </a:rPr>
              <a:t>, aprovechando clústeres de </a:t>
            </a:r>
            <a:r>
              <a:rPr sz="1350" b="1">
                <a:solidFill>
                  <a:srgbClr val="E9520E"/>
                </a:solidFill>
                <a:latin typeface="Calibri"/>
              </a:rPr>
              <a:t>GPU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Aplicaciones y arquitecturas</a:t>
            </a:r>
          </a:p>
        </p:txBody>
      </p:sp>
      <p:pic>
        <p:nvPicPr>
          <p:cNvPr id="7" name="Picture 6" descr="seq2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68880"/>
            <a:ext cx="5852160" cy="26752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802762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Para qué sirven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Etiquetado de secuencias</a:t>
            </a:r>
            <a:r>
              <a:rPr sz="1350" b="0">
                <a:solidFill>
                  <a:srgbClr val="2B2B2B"/>
                </a:solidFill>
                <a:latin typeface="Calibri"/>
              </a:rPr>
              <a:t>: una salida por paso de tiempo.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Modelado del lenguaje</a:t>
            </a:r>
            <a:r>
              <a:rPr sz="1350" b="0">
                <a:solidFill>
                  <a:srgbClr val="2B2B2B"/>
                </a:solidFill>
                <a:latin typeface="Calibri"/>
              </a:rPr>
              <a:t>: predecir la siguiente entrada.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Clasificación de secuencias</a:t>
            </a:r>
            <a:r>
              <a:rPr sz="1350" b="0">
                <a:solidFill>
                  <a:srgbClr val="2B2B2B"/>
                </a:solidFill>
                <a:latin typeface="Calibri"/>
              </a:rPr>
              <a:t>: del estado final a una salida.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Seq2seq</a:t>
            </a:r>
            <a:r>
              <a:rPr sz="1350" b="0">
                <a:solidFill>
                  <a:srgbClr val="2B2B2B"/>
                </a:solidFill>
                <a:latin typeface="Calibri"/>
              </a:rPr>
              <a:t> (encoder–decoder): traducción, subtítulos,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Aplicaciones reales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2099817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Lenguaje y voz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Reconocimiento de voz</a:t>
            </a:r>
            <a:r>
              <a:rPr sz="1350" b="0">
                <a:solidFill>
                  <a:srgbClr val="2B2B2B"/>
                </a:solidFill>
                <a:latin typeface="Calibri"/>
              </a:rPr>
              <a:t> (modelado acústico y de lenguaje).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POS tagging, NER</a:t>
            </a:r>
            <a:r>
              <a:rPr sz="1350" b="0">
                <a:solidFill>
                  <a:srgbClr val="2B2B2B"/>
                </a:solidFill>
                <a:latin typeface="Calibri"/>
              </a:rPr>
              <a:t>, chunking de frases.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Análisis </a:t>
            </a:r>
            <a:r>
              <a:rPr sz="1350" b="1">
                <a:solidFill>
                  <a:srgbClr val="E9520E"/>
                </a:solidFill>
                <a:latin typeface="Calibri"/>
              </a:rPr>
              <a:t>sintáctico y semántico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2302128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Visión y traducción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Image captioning</a:t>
            </a:r>
            <a:r>
              <a:rPr sz="1350" b="0">
                <a:solidFill>
                  <a:srgbClr val="2B2B2B"/>
                </a:solidFill>
                <a:latin typeface="Calibri"/>
              </a:rPr>
              <a:t>: del vector de una CNN a una frase.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Traducción automática</a:t>
            </a:r>
            <a:r>
              <a:rPr sz="1350" b="0">
                <a:solidFill>
                  <a:srgbClr val="2B2B2B"/>
                </a:solidFill>
                <a:latin typeface="Calibri"/>
              </a:rPr>
              <a:t> (Sutskever, Vinyals &amp; Le, 2014).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Video captioning</a:t>
            </a:r>
            <a:r>
              <a:rPr sz="1350" b="0">
                <a:solidFill>
                  <a:srgbClr val="2B2B2B"/>
                </a:solidFill>
                <a:latin typeface="Calibri"/>
              </a:rPr>
              <a:t>: secuencia de fotogramas (CNN) a texto.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Variantes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Bi-LSTM</a:t>
            </a:r>
          </a:p>
        </p:txBody>
      </p:sp>
      <p:pic>
        <p:nvPicPr>
          <p:cNvPr id="7" name="Picture 6" descr="bi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77440"/>
            <a:ext cx="566928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302128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Procesar en dos sentidos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Dos LSTM independientes recorren la secuencia </a:t>
            </a:r>
            <a:r>
              <a:rPr sz="1350" b="1">
                <a:solidFill>
                  <a:srgbClr val="E9520E"/>
                </a:solidFill>
                <a:latin typeface="Calibri"/>
              </a:rPr>
              <a:t>hacia delante y hacia atrás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capas ocultas de cada paso se </a:t>
            </a:r>
            <a:r>
              <a:rPr sz="1350" b="1">
                <a:solidFill>
                  <a:srgbClr val="E9520E"/>
                </a:solidFill>
                <a:latin typeface="Calibri"/>
              </a:rPr>
              <a:t>concatenan</a:t>
            </a:r>
            <a:r>
              <a:rPr sz="1350" b="0">
                <a:solidFill>
                  <a:srgbClr val="2B2B2B"/>
                </a:solidFill>
                <a:latin typeface="Calibri"/>
              </a:rPr>
              <a:t> para formar la salida.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Aprovecha el </a:t>
            </a:r>
            <a:r>
              <a:rPr sz="1350" b="1">
                <a:solidFill>
                  <a:srgbClr val="E9520E"/>
                </a:solidFill>
                <a:latin typeface="Calibri"/>
              </a:rPr>
              <a:t>contexto pasado y futuro</a:t>
            </a:r>
            <a:r>
              <a:rPr sz="1350" b="0">
                <a:solidFill>
                  <a:srgbClr val="2B2B2B"/>
                </a:solidFill>
                <a:latin typeface="Calibri"/>
              </a:rPr>
              <a:t> de cada elemento.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GRU: Gated Recurrent Unit</a:t>
            </a:r>
          </a:p>
        </p:txBody>
      </p:sp>
      <p:pic>
        <p:nvPicPr>
          <p:cNvPr id="7" name="Picture 6" descr="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75488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2802762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Una alternativa más simple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RNN alternativa a la LSTM con </a:t>
            </a:r>
            <a:r>
              <a:rPr sz="1350" b="1">
                <a:solidFill>
                  <a:srgbClr val="E9520E"/>
                </a:solidFill>
                <a:latin typeface="Calibri"/>
              </a:rPr>
              <a:t>menos puertas</a:t>
            </a:r>
            <a:r>
              <a:rPr sz="1350" b="0">
                <a:solidFill>
                  <a:srgbClr val="2B2B2B"/>
                </a:solidFill>
                <a:latin typeface="Calibri"/>
              </a:rPr>
              <a:t> (Cho et al., 2014).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Combina forget e input en una sola puerta de </a:t>
            </a:r>
            <a:r>
              <a:rPr sz="1350" b="1">
                <a:solidFill>
                  <a:srgbClr val="E9520E"/>
                </a:solidFill>
                <a:latin typeface="Calibri"/>
              </a:rPr>
              <a:t>actualización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Elimina el </a:t>
            </a:r>
            <a:r>
              <a:rPr sz="1350" b="1">
                <a:solidFill>
                  <a:srgbClr val="E9520E"/>
                </a:solidFill>
                <a:latin typeface="Calibri"/>
              </a:rPr>
              <a:t>vector de estado de celda</a:t>
            </a:r>
            <a:r>
              <a:rPr sz="1350" b="0">
                <a:solidFill>
                  <a:srgbClr val="2B2B2B"/>
                </a:solidFill>
                <a:latin typeface="Calibri"/>
              </a:rPr>
              <a:t> separado.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Menos parámetros → </a:t>
            </a:r>
            <a:r>
              <a:rPr sz="1350" b="1">
                <a:solidFill>
                  <a:srgbClr val="E9520E"/>
                </a:solidFill>
                <a:latin typeface="Calibri"/>
              </a:rPr>
              <a:t>entrena más rápido</a:t>
            </a:r>
            <a:r>
              <a:rPr sz="1350" b="0">
                <a:solidFill>
                  <a:srgbClr val="2B2B2B"/>
                </a:solidFill>
                <a:latin typeface="Calibri"/>
              </a:rPr>
              <a:t>; resultados a menudo comparables.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REDES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Atención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219688" cy="2600451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Atender a lo relevante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</a:t>
            </a:r>
            <a:r>
              <a:rPr sz="1350" b="1">
                <a:solidFill>
                  <a:srgbClr val="E9520E"/>
                </a:solidFill>
                <a:latin typeface="Calibri"/>
              </a:rPr>
              <a:t>atención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 permite a la red </a:t>
            </a:r>
            <a:r>
              <a:rPr sz="1350" b="1">
                <a:solidFill>
                  <a:srgbClr val="E9520E"/>
                </a:solidFill>
                <a:latin typeface="Calibri"/>
              </a:rPr>
              <a:t>centrarse en distintas partes</a:t>
            </a:r>
            <a:r>
              <a:rPr sz="1350" b="0">
                <a:solidFill>
                  <a:srgbClr val="2B2B2B"/>
                </a:solidFill>
                <a:latin typeface="Calibri"/>
              </a:rPr>
              <a:t> de la entrada en cada paso.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 </a:t>
            </a:r>
            <a:r>
              <a:rPr sz="1350" b="1">
                <a:solidFill>
                  <a:srgbClr val="E9520E"/>
                </a:solidFill>
                <a:latin typeface="Calibri"/>
              </a:rPr>
              <a:t>image captioning</a:t>
            </a:r>
            <a:r>
              <a:rPr sz="1350" b="0">
                <a:solidFill>
                  <a:srgbClr val="2B2B2B"/>
                </a:solidFill>
                <a:latin typeface="Calibri"/>
              </a:rPr>
              <a:t>: enfocar distintas regiones de la imagen al generar cada palabra.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 </a:t>
            </a:r>
            <a:r>
              <a:rPr sz="1350" b="1">
                <a:solidFill>
                  <a:srgbClr val="E9520E"/>
                </a:solidFill>
                <a:latin typeface="Calibri"/>
              </a:rPr>
              <a:t>traducción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: atender a distintas partes de la frase origen al generar la traducción.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Base de las arquitecturas </a:t>
            </a:r>
            <a:r>
              <a:rPr sz="1350" b="1">
                <a:solidFill>
                  <a:srgbClr val="E9520E"/>
                </a:solidFill>
                <a:latin typeface="Calibri"/>
              </a:rPr>
              <a:t>Transformer</a:t>
            </a:r>
            <a:r>
              <a:rPr sz="1350" b="0">
                <a:solidFill>
                  <a:srgbClr val="2B2B2B"/>
                </a:solidFill>
                <a:latin typeface="Calibri"/>
              </a:rPr>
              <a:t> posteriores.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Ideas clave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50008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El gradiente que se desvanece</a:t>
            </a:r>
            <a:r>
              <a:rPr sz="1600" b="0">
                <a:solidFill>
                  <a:srgbClr val="FFFFFF"/>
                </a:solidFill>
                <a:latin typeface="Calibri"/>
              </a:rPr>
              <a:t> impide a las RNN simples aprender dependencias largas.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82696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 celda LSTM</a:t>
            </a:r>
            <a:r>
              <a:rPr sz="1600" b="0">
                <a:solidFill>
                  <a:srgbClr val="FFFFFF"/>
                </a:solidFill>
                <a:latin typeface="Calibri"/>
              </a:rPr>
              <a:t> usa puertas (olvido, entrada, salida) y un estado de memoria para resolverlo.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215384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513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Se entrenan</a:t>
            </a:r>
            <a:r>
              <a:rPr sz="1600" b="0">
                <a:solidFill>
                  <a:srgbClr val="FFFFFF"/>
                </a:solidFill>
                <a:latin typeface="Calibri"/>
              </a:rPr>
              <a:t> con backprop, ADAM, muchos datos y GPU; brillan en NLP y secuencias.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148072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08406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Variantes</a:t>
            </a:r>
            <a:r>
              <a:rPr sz="1600" b="0">
                <a:solidFill>
                  <a:srgbClr val="FFFFFF"/>
                </a:solidFill>
                <a:latin typeface="Calibri"/>
              </a:rPr>
              <a:t>: GRU (más simple), Bi-LSTM (dos sentidos) y atención (foco selectivo).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