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257" r:id="rId5"/>
    <p:sldId id="411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432" r:id="rId14"/>
    <p:sldId id="419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428" r:id="rId23"/>
    <p:sldId id="429" r:id="rId24"/>
    <p:sldId id="430" r:id="rId25"/>
    <p:sldId id="431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579"/>
    <a:srgbClr val="B91003"/>
    <a:srgbClr val="FF5C00"/>
    <a:srgbClr val="E45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96421" autoAdjust="0"/>
  </p:normalViewPr>
  <p:slideViewPr>
    <p:cSldViewPr snapToGrid="0">
      <p:cViewPr varScale="1">
        <p:scale>
          <a:sx n="78" d="100"/>
          <a:sy n="78" d="100"/>
        </p:scale>
        <p:origin x="96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42F2650-FE29-4A89-B265-5D416DBD3B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A44629E-3778-4FFE-BF32-4DD6F493FD9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4718A-1251-074B-8883-45BBA09589B0}" type="datetime1">
              <a:rPr lang="es-ES_tradnl" smtClean="0"/>
              <a:t>11/03/2025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91CDFE-3D0E-46B6-8C67-4977276174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9221C1-2116-46B4-A3A4-10B6BA8C3F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D695A-AE87-4718-BBB7-6184CE460E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434100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B8C51-4B2A-9F46-BFA1-012DC542877E}" type="datetime1">
              <a:rPr lang="es-ES_tradnl" smtClean="0"/>
              <a:t>11/03/2025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E033D7-0DB3-4B98-BA86-443D570E93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4241918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8BF7FD74-6CCB-4E1A-914F-02244EDE47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7AA9147-634D-4DCE-8107-B90A788F32B8}" type="slidenum">
              <a:rPr lang="es-ES_tradnl" altLang="es-ES">
                <a:latin typeface="Times New Roman" panose="02020603050405020304" pitchFamily="18" charset="0"/>
              </a:rPr>
              <a:pPr/>
              <a:t>2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616E4C2C-5893-4C07-B7C2-D22FF3A71F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3E24781E-AFD3-4E68-8D4C-04C92B1B91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1EC6CA14-FFC6-4041-953C-913871741B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E8488FD-57B4-44D4-A846-FE08CDB68EAB}" type="slidenum">
              <a:rPr lang="es-ES_tradnl" altLang="es-ES">
                <a:latin typeface="Times New Roman" panose="02020603050405020304" pitchFamily="18" charset="0"/>
              </a:rPr>
              <a:pPr/>
              <a:t>3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16C5F203-9EC1-4E3A-973A-57CA526DA1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55C79962-EEA8-472F-8F71-7BC94417F2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CADE27FC-08B2-4297-AA45-8724110547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1DF430D-2DA5-42E6-9115-34BF44C0F2A0}" type="slidenum">
              <a:rPr lang="es-ES_tradnl" altLang="es-ES">
                <a:latin typeface="Times New Roman" panose="02020603050405020304" pitchFamily="18" charset="0"/>
              </a:rPr>
              <a:pPr/>
              <a:t>4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F542CFA4-850B-45D2-BFB5-7A338D15E7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61CF5378-FDD9-4FC4-A019-2B39CDDD2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B417063E-390A-4C96-B8BC-22A73A0016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8F1D30D-75FD-4BFA-B9A4-71ED7DA58475}" type="slidenum">
              <a:rPr lang="es-ES_tradnl" altLang="es-ES">
                <a:latin typeface="Times New Roman" panose="02020603050405020304" pitchFamily="18" charset="0"/>
              </a:rPr>
              <a:pPr/>
              <a:t>5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7D72C5DD-C317-4612-9CF4-532F05B457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9350D35-23F2-4326-AEF5-F2770BF7B7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 altLang="es-ES"/>
              <a:t>Entradas: cada elemento puede tener múltiples entradas, cada una puede estar asociada a una propiedad diferente.</a:t>
            </a:r>
          </a:p>
          <a:p>
            <a:pPr eaLnBrk="1" hangingPunct="1"/>
            <a:r>
              <a:rPr lang="es-ES" altLang="es-ES"/>
              <a:t>Opcionalmente puede tener una entrada de tendencia (es constante).</a:t>
            </a:r>
          </a:p>
          <a:p>
            <a:pPr eaLnBrk="1" hangingPunct="1"/>
            <a:r>
              <a:rPr lang="es-ES" altLang="es-ES"/>
              <a:t>Pesos: Cada entrada tiene un peso asociado. Ponderan el valor de la entrada, resaltando así su importancia.</a:t>
            </a:r>
          </a:p>
          <a:p>
            <a:pPr eaLnBrk="1" hangingPunct="1"/>
            <a:r>
              <a:rPr lang="es-ES" altLang="es-ES"/>
              <a:t>f: función de activación</a:t>
            </a:r>
          </a:p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DD843365-76F0-43C1-B730-7BB04AE9EB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8AF83E8-1EA3-498A-94BC-0E8AD88E05FB}" type="slidenum">
              <a:rPr lang="es-ES_tradnl" altLang="es-ES">
                <a:latin typeface="Times New Roman" panose="02020603050405020304" pitchFamily="18" charset="0"/>
              </a:rPr>
              <a:pPr/>
              <a:t>6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24B479E7-FB8B-460C-9044-1E7FFE867E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778E3DB-CECF-4752-B62C-8D444D9BDE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A58AD4B3-5BB0-4AC8-8D15-9E1358A964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4B7D750-7E6A-4A36-B57E-81B5F29348E3}" type="slidenum">
              <a:rPr lang="es-ES_tradnl" altLang="es-ES">
                <a:latin typeface="Times New Roman" panose="02020603050405020304" pitchFamily="18" charset="0"/>
              </a:rPr>
              <a:pPr/>
              <a:t>7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679B779A-B2D5-4318-955E-C4A73AF8C0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6D180ABC-4FBF-4C5E-A34E-32638CD7C0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D562CDA1-EFAC-4E7E-ABA8-27D39890A1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2E595E8-3F7B-40F4-830E-FCA2420B30BF}" type="slidenum">
              <a:rPr lang="es-ES_tradnl" altLang="es-ES">
                <a:latin typeface="Times New Roman" panose="02020603050405020304" pitchFamily="18" charset="0"/>
              </a:rPr>
              <a:pPr/>
              <a:t>8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BD13C692-74B5-427A-9A7A-6A626ABA13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B7A9ABBA-2D15-439C-B5C8-C8EE4225C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 altLang="es-ES"/>
              <a:t>El problema está en encontrar el menor número de capas que resuelven nuestro problema. Si añadimos más capas cuando el problema ya está resuelto simplemente tarda más en calcularse el resultado.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E4C5DD59-8A59-4918-9FFA-AE512419E3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5B722CB-AF9D-4A36-B549-84CB44FA2AE7}" type="slidenum">
              <a:rPr lang="es-ES_tradnl" altLang="es-ES">
                <a:latin typeface="Times New Roman" panose="02020603050405020304" pitchFamily="18" charset="0"/>
              </a:rPr>
              <a:pPr/>
              <a:t>9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8F9FE814-9DD3-4AFD-B667-033DBF849A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2E67E8E1-4148-476F-93EF-5F95981D27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 altLang="es-ES"/>
              <a:t>ACON una gran clase para clasificarlo todo. OCON una clase por cada elemento a clasificar.</a:t>
            </a:r>
          </a:p>
          <a:p>
            <a:pPr eaLnBrk="1" hangingPunct="1"/>
            <a:r>
              <a:rPr lang="es-ES" altLang="es-ES"/>
              <a:t>Ej: reconocedor de palabras: una macro red para reconocerlo todo. O una red para cada palabra.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E419-BC3D-4828-4C4A-B9500BDB5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E2933016-33B2-8015-C9FE-E21340E57A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F51F11E-D683-41CC-ACC8-F4589FC0A15B}" type="slidenum">
              <a:rPr lang="es-ES_tradnl" altLang="es-ES">
                <a:latin typeface="Times New Roman" panose="02020603050405020304" pitchFamily="18" charset="0"/>
              </a:rPr>
              <a:pPr/>
              <a:t>10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DCA91B34-E52E-3566-7401-F23ABFE195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4BFF2C82-126E-43C0-B1A6-AD3DC21283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 altLang="es-ES"/>
              <a:t>Totalmente conectadas: un PE de la capa i es entrada de todos los PE de la capa i+1</a:t>
            </a:r>
          </a:p>
          <a:p>
            <a:pPr eaLnBrk="1" hangingPunct="1"/>
            <a:r>
              <a:rPr lang="es-ES" altLang="es-ES"/>
              <a:t>Localmente conectadas: no todos los PE …</a:t>
            </a:r>
          </a:p>
        </p:txBody>
      </p:sp>
    </p:spTree>
    <p:extLst>
      <p:ext uri="{BB962C8B-B14F-4D97-AF65-F5344CB8AC3E}">
        <p14:creationId xmlns:p14="http://schemas.microsoft.com/office/powerpoint/2010/main" val="1754464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DADEBAE8-4022-437A-A50D-5221ABDDF7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F51F11E-D683-41CC-ACC8-F4589FC0A15B}" type="slidenum">
              <a:rPr lang="es-ES_tradnl" altLang="es-ES">
                <a:latin typeface="Times New Roman" panose="02020603050405020304" pitchFamily="18" charset="0"/>
              </a:rPr>
              <a:pPr/>
              <a:t>11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33FD365B-08A6-464D-9AC1-0FD92A0AA0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C7A8C527-286B-49AC-AB60-86070C51D5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 altLang="es-ES"/>
              <a:t>Totalmente conectadas: un PE de la capa i es entrada de todos los PE de la capa i+1</a:t>
            </a:r>
          </a:p>
          <a:p>
            <a:pPr eaLnBrk="1" hangingPunct="1"/>
            <a:r>
              <a:rPr lang="es-ES" altLang="es-ES"/>
              <a:t>Localmente conectadas: no todos los PE …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6410740A-2173-4BB5-8619-35238DAF34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B78F442-C5A4-4055-BAD6-A965F43FF153}" type="slidenum">
              <a:rPr lang="es-ES_tradnl" altLang="es-ES">
                <a:latin typeface="Times New Roman" panose="02020603050405020304" pitchFamily="18" charset="0"/>
              </a:rPr>
              <a:pPr/>
              <a:t>12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FFF7475E-3B52-45C6-AC64-24632E9D90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7B261E3F-5330-47D2-96B6-A5035F52AF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719BA808-E46F-4BE9-BA2B-38A67550CD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99A7BF1-B2B6-4A80-B037-1F51CD351C84}" type="slidenum">
              <a:rPr lang="es-ES_tradnl" altLang="es-ES">
                <a:latin typeface="Times New Roman" panose="02020603050405020304" pitchFamily="18" charset="0"/>
              </a:rPr>
              <a:pPr/>
              <a:t>13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54E2545-2859-416E-95FA-452A239FEF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AF7BE5F1-5A20-4F55-958A-E63F66A402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EEE3AEFE-A867-4A52-BF56-E0047BAB7B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4C12480-592E-4508-AFB2-A6FE7A64DC20}" type="slidenum">
              <a:rPr lang="es-ES_tradnl" altLang="es-ES">
                <a:latin typeface="Times New Roman" panose="02020603050405020304" pitchFamily="18" charset="0"/>
              </a:rPr>
              <a:pPr/>
              <a:t>14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AC39540A-117E-4C8C-BF15-B532D5FBFB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348DBFA8-6CC1-44C4-BB13-A7E338DC17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B6D09F57-2140-4227-843B-42EEA20277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80A6DDE-61FB-4B1E-B928-81B3D5F64982}" type="slidenum">
              <a:rPr lang="es-ES_tradnl" altLang="es-ES">
                <a:latin typeface="Times New Roman" panose="02020603050405020304" pitchFamily="18" charset="0"/>
              </a:rPr>
              <a:pPr/>
              <a:t>15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16CF5BCD-E42F-4C01-89E7-72F4FF4AB4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D8BEDADF-4E39-40F7-8B15-C41A48900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 altLang="es-ES"/>
              <a:t>No tenemos la salida “deseada” exacta. Pero si sabemos como deberia ser el comportamiento general del sistema.</a:t>
            </a:r>
          </a:p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C3460A67-BBF0-43D5-8F78-A09E4FB0B6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1108ECE-35FD-4A84-BC6C-2DE02DD1DBDA}" type="slidenum">
              <a:rPr lang="es-ES_tradnl" altLang="es-ES">
                <a:latin typeface="Times New Roman" panose="02020603050405020304" pitchFamily="18" charset="0"/>
              </a:rPr>
              <a:pPr/>
              <a:t>16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185F3AC4-7CC8-4730-9765-714BAF138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AC533F24-7BE7-4928-84AD-A0196AFDF2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8DE3E56F-668B-4706-B61C-8DED495B08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BC26810-7035-4EA6-8114-92B4D800F868}" type="slidenum">
              <a:rPr lang="es-ES_tradnl" altLang="es-ES">
                <a:latin typeface="Times New Roman" panose="02020603050405020304" pitchFamily="18" charset="0"/>
              </a:rPr>
              <a:pPr/>
              <a:t>17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8FC16AD-2148-4CC4-B7DA-309E201420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7D0852C1-6303-4DC4-A29C-B30B5FB8F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8C1ABDE5-D102-4E5A-9C78-53C1101DDF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CA4FCC4-111B-46E8-8CC5-9636D5DBFD32}" type="slidenum">
              <a:rPr lang="es-ES_tradnl" altLang="es-ES">
                <a:latin typeface="Times New Roman" panose="02020603050405020304" pitchFamily="18" charset="0"/>
              </a:rPr>
              <a:pPr/>
              <a:t>18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643350A9-1AC7-4F8B-8D54-23FC2EF109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58169747-1363-4495-9FA6-E0EC7FEF2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 altLang="es-ES"/>
              <a:t>Las X solo pueden valer 0 o 1</a:t>
            </a:r>
          </a:p>
          <a:p>
            <a:pPr eaLnBrk="1" hangingPunct="1"/>
            <a:r>
              <a:rPr lang="es-ES" altLang="es-ES"/>
              <a:t>Los pesos W están entre [-1, 1]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EAEFE90F-5068-4CC2-B7E0-ACAC20F45A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7F911C4-6F90-4BC9-9238-83AD7FD1E2F8}" type="slidenum">
              <a:rPr lang="es-ES_tradnl" altLang="es-ES">
                <a:latin typeface="Times New Roman" panose="02020603050405020304" pitchFamily="18" charset="0"/>
              </a:rPr>
              <a:pPr/>
              <a:t>19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F72D5131-CDD5-4A69-AB19-2967ED0391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F83C84EC-D4C6-400F-93AB-880D99CEF8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C9E7E901-78E5-41B2-AF7A-0B14E84AE7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FB8DDA4-7AB3-47BF-B669-D7111DC64FE5}" type="slidenum">
              <a:rPr lang="es-ES_tradnl" altLang="es-ES">
                <a:latin typeface="Times New Roman" panose="02020603050405020304" pitchFamily="18" charset="0"/>
              </a:rPr>
              <a:pPr/>
              <a:t>20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BF319FBB-C03F-4E78-AEB2-4051BE074D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CA6C04DD-6F27-41AF-9937-FA62D38E7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EFECE951-C13E-4604-9E52-CFA0E519B3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868D34-FEE3-41B9-A426-4500014B9117}" type="slidenum">
              <a:rPr lang="es-ES_tradnl" altLang="es-ES">
                <a:latin typeface="Times New Roman" panose="02020603050405020304" pitchFamily="18" charset="0"/>
              </a:rPr>
              <a:pPr/>
              <a:t>21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06D0A692-4E06-4693-9F1E-98C2E62F37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7A56D7E0-7B1E-4F3D-A9BF-7D0F7022F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83CC4B26-081F-42ED-8C0C-4CBA535C66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CC75143-B0B6-4652-AD6F-AA54F7C8C6CD}" type="slidenum">
              <a:rPr lang="es-ES_tradnl" altLang="es-ES">
                <a:latin typeface="Times New Roman" panose="02020603050405020304" pitchFamily="18" charset="0"/>
              </a:rPr>
              <a:pPr/>
              <a:t>22</a:t>
            </a:fld>
            <a:endParaRPr lang="es-ES_tradnl" altLang="es-ES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09CD4AC2-55B4-4D07-8C5F-8C74B51F0B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100F0374-65D3-4DB3-90ED-7A4CA315B6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7942" y="1122363"/>
            <a:ext cx="8828116" cy="2387600"/>
          </a:xfrm>
        </p:spPr>
        <p:txBody>
          <a:bodyPr anchor="b"/>
          <a:lstStyle>
            <a:lvl1pPr algn="r">
              <a:lnSpc>
                <a:spcPct val="100000"/>
              </a:lnSpc>
              <a:defRPr sz="2400">
                <a:solidFill>
                  <a:srgbClr val="FF5C00"/>
                </a:solidFill>
              </a:defRPr>
            </a:lvl1pPr>
          </a:lstStyle>
          <a:p>
            <a:r>
              <a:rPr lang="es-ES_tradnl" noProof="0" dirty="0"/>
              <a:t>Título de la asignatura </a:t>
            </a:r>
            <a:br>
              <a:rPr lang="es-ES_tradnl" noProof="0" dirty="0"/>
            </a:br>
            <a:r>
              <a:rPr lang="es-ES_tradnl" noProof="0" dirty="0"/>
              <a:t>Programa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7942" y="3602038"/>
            <a:ext cx="8828116" cy="165576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rgbClr val="66657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 noProof="0" dirty="0"/>
              <a:t>Profesor</a:t>
            </a:r>
          </a:p>
        </p:txBody>
      </p:sp>
    </p:spTree>
    <p:extLst>
      <p:ext uri="{BB962C8B-B14F-4D97-AF65-F5344CB8AC3E}">
        <p14:creationId xmlns:p14="http://schemas.microsoft.com/office/powerpoint/2010/main" val="294686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649D1-F40E-43C9-B87F-2EFDE98A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FD99E9-575E-4731-AB65-4FFE5A204F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 dirty="0"/>
              <a:t>Asignatura - Programa - Profesor - Curso Académico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1B0DCA-E79A-47FA-9AD9-13F49E7FE9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54CEB4-509F-4D11-9DD8-5800B89D237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1096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negativ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649D1-F40E-43C9-B87F-2EFDE98A08E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FD99E9-575E-4731-AB65-4FFE5A204F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Asignatura - Programa - Profesor - Curso Académico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1B0DCA-E79A-47FA-9AD9-13F49E7FE9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54CEB4-509F-4D11-9DD8-5800B89D237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187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A44A9CE9-ABB3-4CEB-9B52-B4ACB8F4C1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68820AB-68F0-40E9-B816-8C489FDC6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5D23F05E-D00B-4BAF-81F7-BE0769439D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D19A5F-CC97-4789-A4D2-58FFCD3B843E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45430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8798" y="53140"/>
            <a:ext cx="7320802" cy="76205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vert="horz" lIns="91440" tIns="45720" rIns="91440" bIns="45720" rtlCol="0" anchor="b">
            <a:noAutofit/>
          </a:bodyPr>
          <a:lstStyle/>
          <a:p>
            <a:br>
              <a:rPr lang="es-ES" dirty="0"/>
            </a:br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12" y="897775"/>
            <a:ext cx="9008285" cy="5611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B0E0C7-2274-4500-9718-F95DDC2B0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212" y="6538913"/>
            <a:ext cx="8418083" cy="212610"/>
          </a:xfrm>
          <a:prstGeom prst="rect">
            <a:avLst/>
          </a:prstGeom>
          <a:ln w="3175">
            <a:solidFill>
              <a:srgbClr val="FF5C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666579"/>
                </a:solidFill>
              </a:defRPr>
            </a:lvl1pPr>
          </a:lstStyle>
          <a:p>
            <a:r>
              <a:rPr lang="es-ES" dirty="0"/>
              <a:t>Asignatura - Programa - Profesor - Curso Académico 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A6CE07-962A-421A-9D8D-EE9BABBFB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3795" y="6538912"/>
            <a:ext cx="523701" cy="212610"/>
          </a:xfrm>
          <a:prstGeom prst="rect">
            <a:avLst/>
          </a:prstGeom>
          <a:ln w="3175">
            <a:solidFill>
              <a:srgbClr val="FF5C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666579"/>
                </a:solidFill>
              </a:defRPr>
            </a:lvl1pPr>
          </a:lstStyle>
          <a:p>
            <a:fld id="{0154CEB4-509F-4D11-9DD8-5800B89D237E}" type="slidenum">
              <a:rPr lang="es-ES" smtClean="0"/>
              <a:pPr/>
              <a:t>‹Nº›</a:t>
            </a:fld>
            <a:r>
              <a:rPr lang="es-ES" dirty="0"/>
              <a:t>|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8095B46-5274-4813-BD13-EF4EC80E4C7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7" y="53140"/>
            <a:ext cx="786103" cy="786103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5BACEE5-06D2-49BB-8B9E-A502BCDCFCA6}"/>
              </a:ext>
            </a:extLst>
          </p:cNvPr>
          <p:cNvSpPr/>
          <p:nvPr userDrawn="1"/>
        </p:nvSpPr>
        <p:spPr>
          <a:xfrm>
            <a:off x="8287788" y="61452"/>
            <a:ext cx="789708" cy="76205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Espacio para logo externo </a:t>
            </a:r>
          </a:p>
        </p:txBody>
      </p:sp>
    </p:spTree>
    <p:extLst>
      <p:ext uri="{BB962C8B-B14F-4D97-AF65-F5344CB8AC3E}">
        <p14:creationId xmlns:p14="http://schemas.microsoft.com/office/powerpoint/2010/main" val="220799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69" r:id="rId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rgbClr val="FF5C00"/>
          </a:solidFill>
          <a:latin typeface="+mn-lt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600" kern="1200">
          <a:solidFill>
            <a:schemeClr val="tx1"/>
          </a:solidFill>
          <a:latin typeface="+mn-lt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400" kern="1200">
          <a:solidFill>
            <a:schemeClr val="tx1"/>
          </a:solidFill>
          <a:latin typeface="+mn-lt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400" kern="1200">
          <a:solidFill>
            <a:schemeClr val="tx1"/>
          </a:solidFill>
          <a:latin typeface="+mn-lt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0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92725A5-59BA-4EB2-AFCC-AA949D846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4800" dirty="0"/>
              <a:t>2. Perceptrón multicapa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EFE82AE3-C19B-4DE5-B96F-39C25B96DD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Dr. César Byron Guevara Maldonado</a:t>
            </a:r>
          </a:p>
          <a:p>
            <a:endParaRPr lang="es-ES" dirty="0"/>
          </a:p>
          <a:p>
            <a:r>
              <a:rPr lang="es-ES" dirty="0"/>
              <a:t>cesar.guevara@cunef.edu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180BBD-67C4-4C82-9296-8C764F779F0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38913"/>
            <a:ext cx="8416925" cy="212725"/>
          </a:xfrm>
        </p:spPr>
        <p:txBody>
          <a:bodyPr/>
          <a:lstStyle/>
          <a:p>
            <a:r>
              <a:rPr lang="es-ES" dirty="0"/>
              <a:t>ESTRUCTURA DE COMPUTADORES – Dr. César Byron Guevara Maldonado – 2023-2024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142BE5-0EE8-4272-828A-842A216229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20125" y="6538913"/>
            <a:ext cx="523875" cy="212725"/>
          </a:xfrm>
        </p:spPr>
        <p:txBody>
          <a:bodyPr/>
          <a:lstStyle/>
          <a:p>
            <a:fld id="{0154CEB4-509F-4D11-9DD8-5800B89D237E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2407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EFCA918B-7B1E-4970-9B0C-39992F6CF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297" y="265113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C8F93AB8-7B80-4ABC-B11E-C3A1E8ECA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NN: </a:t>
            </a:r>
            <a:r>
              <a:rPr lang="es-ES" altLang="es-ES" sz="2400" i="1"/>
              <a:t>Neural Networks</a:t>
            </a:r>
          </a:p>
          <a:p>
            <a:pPr>
              <a:buFontTx/>
              <a:buChar char="•"/>
            </a:pPr>
            <a:r>
              <a:rPr lang="es-ES" altLang="es-ES" sz="2400"/>
              <a:t> Son una simulación abstracta del sistema nervioso</a:t>
            </a:r>
          </a:p>
          <a:p>
            <a:pPr>
              <a:buFontTx/>
              <a:buChar char="•"/>
            </a:pPr>
            <a:endParaRPr lang="es-ES" altLang="es-ES" sz="2400"/>
          </a:p>
          <a:p>
            <a:pPr>
              <a:buFontTx/>
              <a:buChar char="•"/>
            </a:pPr>
            <a:r>
              <a:rPr lang="es-ES" altLang="es-ES" sz="2400"/>
              <a:t> Redes neuronales biológicas:</a:t>
            </a:r>
          </a:p>
          <a:p>
            <a:pPr lvl="1">
              <a:buFontTx/>
              <a:buChar char="•"/>
            </a:pPr>
            <a:r>
              <a:rPr lang="es-ES" altLang="es-ES" sz="2400"/>
              <a:t> Las neuronas y sus conexiones son la clave del procesado de la información </a:t>
            </a:r>
          </a:p>
        </p:txBody>
      </p:sp>
      <p:sp>
        <p:nvSpPr>
          <p:cNvPr id="36868" name="Text Box 5">
            <a:extLst>
              <a:ext uri="{FF2B5EF4-FFF2-40B4-BE49-F238E27FC236}">
                <a16:creationId xmlns:a16="http://schemas.microsoft.com/office/drawing/2014/main" id="{5AE88711-B4BE-4129-97AD-CCB4E5484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4818063"/>
            <a:ext cx="1349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s-ES" altLang="es-ES" sz="2000"/>
              <a:t>Dentritas</a:t>
            </a:r>
          </a:p>
          <a:p>
            <a:pPr algn="ctr" eaLnBrk="1" hangingPunct="1"/>
            <a:r>
              <a:rPr lang="es-ES" altLang="es-ES" sz="2000"/>
              <a:t>(entradas)</a:t>
            </a:r>
          </a:p>
        </p:txBody>
      </p:sp>
      <p:sp>
        <p:nvSpPr>
          <p:cNvPr id="36869" name="Text Box 6">
            <a:extLst>
              <a:ext uri="{FF2B5EF4-FFF2-40B4-BE49-F238E27FC236}">
                <a16:creationId xmlns:a16="http://schemas.microsoft.com/office/drawing/2014/main" id="{74AC36C7-3258-41D9-9031-49395727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4475" y="4206875"/>
            <a:ext cx="10144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s-ES" altLang="es-ES" sz="2000"/>
              <a:t>Axón</a:t>
            </a:r>
          </a:p>
          <a:p>
            <a:pPr algn="ctr" eaLnBrk="1" hangingPunct="1"/>
            <a:r>
              <a:rPr lang="es-ES" altLang="es-ES" sz="2000"/>
              <a:t>(salida)</a:t>
            </a:r>
          </a:p>
        </p:txBody>
      </p:sp>
      <p:sp>
        <p:nvSpPr>
          <p:cNvPr id="36870" name="Line 7">
            <a:extLst>
              <a:ext uri="{FF2B5EF4-FFF2-40B4-BE49-F238E27FC236}">
                <a16:creationId xmlns:a16="http://schemas.microsoft.com/office/drawing/2014/main" id="{458F5726-2861-476B-B6F4-092BB59BB1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43563" y="4827588"/>
            <a:ext cx="987425" cy="928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s-ES"/>
          </a:p>
        </p:txBody>
      </p:sp>
      <p:sp>
        <p:nvSpPr>
          <p:cNvPr id="36871" name="Line 8">
            <a:extLst>
              <a:ext uri="{FF2B5EF4-FFF2-40B4-BE49-F238E27FC236}">
                <a16:creationId xmlns:a16="http://schemas.microsoft.com/office/drawing/2014/main" id="{C22F5F2C-171A-4E2B-B751-B2C5D06E01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78075" y="5029200"/>
            <a:ext cx="798513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s-ES"/>
          </a:p>
        </p:txBody>
      </p:sp>
      <p:sp>
        <p:nvSpPr>
          <p:cNvPr id="36872" name="Text Box 9">
            <a:extLst>
              <a:ext uri="{FF2B5EF4-FFF2-40B4-BE49-F238E27FC236}">
                <a16:creationId xmlns:a16="http://schemas.microsoft.com/office/drawing/2014/main" id="{B6EC2668-D519-4955-8082-7FF0BF3A4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6363" y="422275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 sz="2000"/>
              <a:t>Cuerpo</a:t>
            </a:r>
          </a:p>
        </p:txBody>
      </p:sp>
      <p:sp>
        <p:nvSpPr>
          <p:cNvPr id="36873" name="Line 10">
            <a:extLst>
              <a:ext uri="{FF2B5EF4-FFF2-40B4-BE49-F238E27FC236}">
                <a16:creationId xmlns:a16="http://schemas.microsoft.com/office/drawing/2014/main" id="{4D798E0C-BA36-406D-9471-E1857805E5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67213" y="4595813"/>
            <a:ext cx="927100" cy="957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s-ES"/>
          </a:p>
        </p:txBody>
      </p:sp>
      <p:sp>
        <p:nvSpPr>
          <p:cNvPr id="36874" name="Line 11">
            <a:extLst>
              <a:ext uri="{FF2B5EF4-FFF2-40B4-BE49-F238E27FC236}">
                <a16:creationId xmlns:a16="http://schemas.microsoft.com/office/drawing/2014/main" id="{22929B35-88BF-4692-B4EE-37A0C69EE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4113" y="5207000"/>
            <a:ext cx="623887" cy="290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s-ES"/>
          </a:p>
        </p:txBody>
      </p:sp>
      <p:grpSp>
        <p:nvGrpSpPr>
          <p:cNvPr id="36875" name="33 Grupo">
            <a:extLst>
              <a:ext uri="{FF2B5EF4-FFF2-40B4-BE49-F238E27FC236}">
                <a16:creationId xmlns:a16="http://schemas.microsoft.com/office/drawing/2014/main" id="{97DE0810-26D5-4097-9A5E-DF7EEC8FAB6A}"/>
              </a:ext>
            </a:extLst>
          </p:cNvPr>
          <p:cNvGrpSpPr>
            <a:grpSpLocks/>
          </p:cNvGrpSpPr>
          <p:nvPr/>
        </p:nvGrpSpPr>
        <p:grpSpPr bwMode="auto">
          <a:xfrm>
            <a:off x="3121025" y="4600575"/>
            <a:ext cx="3868738" cy="2143125"/>
            <a:chOff x="3120571" y="4601029"/>
            <a:chExt cx="3868657" cy="2143128"/>
          </a:xfrm>
        </p:grpSpPr>
        <p:sp>
          <p:nvSpPr>
            <p:cNvPr id="36876" name="11 Forma libre">
              <a:extLst>
                <a:ext uri="{FF2B5EF4-FFF2-40B4-BE49-F238E27FC236}">
                  <a16:creationId xmlns:a16="http://schemas.microsoft.com/office/drawing/2014/main" id="{E99363E6-4D9B-405D-BF73-CDDBFB1FB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743" y="5138057"/>
              <a:ext cx="1161143" cy="1103086"/>
            </a:xfrm>
            <a:custGeom>
              <a:avLst/>
              <a:gdLst>
                <a:gd name="T0" fmla="*/ 188686 w 1161143"/>
                <a:gd name="T1" fmla="*/ 899886 h 1103086"/>
                <a:gd name="T2" fmla="*/ 188686 w 1161143"/>
                <a:gd name="T3" fmla="*/ 899886 h 1103086"/>
                <a:gd name="T4" fmla="*/ 275771 w 1161143"/>
                <a:gd name="T5" fmla="*/ 783772 h 1103086"/>
                <a:gd name="T6" fmla="*/ 304800 w 1161143"/>
                <a:gd name="T7" fmla="*/ 740229 h 1103086"/>
                <a:gd name="T8" fmla="*/ 319314 w 1161143"/>
                <a:gd name="T9" fmla="*/ 696686 h 1103086"/>
                <a:gd name="T10" fmla="*/ 319314 w 1161143"/>
                <a:gd name="T11" fmla="*/ 682172 h 1103086"/>
                <a:gd name="T12" fmla="*/ 203200 w 1161143"/>
                <a:gd name="T13" fmla="*/ 537029 h 1103086"/>
                <a:gd name="T14" fmla="*/ 159657 w 1161143"/>
                <a:gd name="T15" fmla="*/ 508000 h 1103086"/>
                <a:gd name="T16" fmla="*/ 116114 w 1161143"/>
                <a:gd name="T17" fmla="*/ 464457 h 1103086"/>
                <a:gd name="T18" fmla="*/ 29028 w 1161143"/>
                <a:gd name="T19" fmla="*/ 435429 h 1103086"/>
                <a:gd name="T20" fmla="*/ 0 w 1161143"/>
                <a:gd name="T21" fmla="*/ 420914 h 1103086"/>
                <a:gd name="T22" fmla="*/ 0 w 1161143"/>
                <a:gd name="T23" fmla="*/ 420914 h 1103086"/>
                <a:gd name="T24" fmla="*/ 188686 w 1161143"/>
                <a:gd name="T25" fmla="*/ 406400 h 1103086"/>
                <a:gd name="T26" fmla="*/ 232228 w 1161143"/>
                <a:gd name="T27" fmla="*/ 391886 h 1103086"/>
                <a:gd name="T28" fmla="*/ 261257 w 1161143"/>
                <a:gd name="T29" fmla="*/ 348343 h 1103086"/>
                <a:gd name="T30" fmla="*/ 319314 w 1161143"/>
                <a:gd name="T31" fmla="*/ 319314 h 1103086"/>
                <a:gd name="T32" fmla="*/ 319314 w 1161143"/>
                <a:gd name="T33" fmla="*/ 319314 h 1103086"/>
                <a:gd name="T34" fmla="*/ 377371 w 1161143"/>
                <a:gd name="T35" fmla="*/ 0 h 1103086"/>
                <a:gd name="T36" fmla="*/ 377371 w 1161143"/>
                <a:gd name="T37" fmla="*/ 0 h 1103086"/>
                <a:gd name="T38" fmla="*/ 580571 w 1161143"/>
                <a:gd name="T39" fmla="*/ 174172 h 1103086"/>
                <a:gd name="T40" fmla="*/ 638628 w 1161143"/>
                <a:gd name="T41" fmla="*/ 188686 h 1103086"/>
                <a:gd name="T42" fmla="*/ 1103086 w 1161143"/>
                <a:gd name="T43" fmla="*/ 188686 h 1103086"/>
                <a:gd name="T44" fmla="*/ 1103086 w 1161143"/>
                <a:gd name="T45" fmla="*/ 188686 h 1103086"/>
                <a:gd name="T46" fmla="*/ 1016000 w 1161143"/>
                <a:gd name="T47" fmla="*/ 304800 h 1103086"/>
                <a:gd name="T48" fmla="*/ 957943 w 1161143"/>
                <a:gd name="T49" fmla="*/ 377372 h 1103086"/>
                <a:gd name="T50" fmla="*/ 972457 w 1161143"/>
                <a:gd name="T51" fmla="*/ 653143 h 1103086"/>
                <a:gd name="T52" fmla="*/ 1161143 w 1161143"/>
                <a:gd name="T53" fmla="*/ 682172 h 1103086"/>
                <a:gd name="T54" fmla="*/ 1161143 w 1161143"/>
                <a:gd name="T55" fmla="*/ 682172 h 1103086"/>
                <a:gd name="T56" fmla="*/ 1045028 w 1161143"/>
                <a:gd name="T57" fmla="*/ 740229 h 1103086"/>
                <a:gd name="T58" fmla="*/ 957943 w 1161143"/>
                <a:gd name="T59" fmla="*/ 769257 h 1103086"/>
                <a:gd name="T60" fmla="*/ 870857 w 1161143"/>
                <a:gd name="T61" fmla="*/ 827314 h 1103086"/>
                <a:gd name="T62" fmla="*/ 783771 w 1161143"/>
                <a:gd name="T63" fmla="*/ 856343 h 1103086"/>
                <a:gd name="T64" fmla="*/ 667657 w 1161143"/>
                <a:gd name="T65" fmla="*/ 885372 h 1103086"/>
                <a:gd name="T66" fmla="*/ 638628 w 1161143"/>
                <a:gd name="T67" fmla="*/ 928914 h 1103086"/>
                <a:gd name="T68" fmla="*/ 624114 w 1161143"/>
                <a:gd name="T69" fmla="*/ 1103086 h 1103086"/>
                <a:gd name="T70" fmla="*/ 624114 w 1161143"/>
                <a:gd name="T71" fmla="*/ 1103086 h 1103086"/>
                <a:gd name="T72" fmla="*/ 537028 w 1161143"/>
                <a:gd name="T73" fmla="*/ 986972 h 1103086"/>
                <a:gd name="T74" fmla="*/ 435428 w 1161143"/>
                <a:gd name="T75" fmla="*/ 928914 h 1103086"/>
                <a:gd name="T76" fmla="*/ 29028 w 1161143"/>
                <a:gd name="T77" fmla="*/ 899886 h 1103086"/>
                <a:gd name="T78" fmla="*/ 58057 w 1161143"/>
                <a:gd name="T79" fmla="*/ 899886 h 110308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161143" h="1103086">
                  <a:moveTo>
                    <a:pt x="188686" y="899886"/>
                  </a:moveTo>
                  <a:lnTo>
                    <a:pt x="188686" y="899886"/>
                  </a:lnTo>
                  <a:cubicBezTo>
                    <a:pt x="217714" y="861181"/>
                    <a:pt x="247315" y="822899"/>
                    <a:pt x="275771" y="783772"/>
                  </a:cubicBezTo>
                  <a:cubicBezTo>
                    <a:pt x="286031" y="769664"/>
                    <a:pt x="296999" y="755831"/>
                    <a:pt x="304800" y="740229"/>
                  </a:cubicBezTo>
                  <a:cubicBezTo>
                    <a:pt x="311642" y="726545"/>
                    <a:pt x="319314" y="696686"/>
                    <a:pt x="319314" y="696686"/>
                  </a:cubicBezTo>
                  <a:lnTo>
                    <a:pt x="319314" y="682172"/>
                  </a:lnTo>
                  <a:cubicBezTo>
                    <a:pt x="278328" y="624791"/>
                    <a:pt x="254710" y="579954"/>
                    <a:pt x="203200" y="537029"/>
                  </a:cubicBezTo>
                  <a:cubicBezTo>
                    <a:pt x="189799" y="525862"/>
                    <a:pt x="173058" y="519167"/>
                    <a:pt x="159657" y="508000"/>
                  </a:cubicBezTo>
                  <a:cubicBezTo>
                    <a:pt x="143888" y="494859"/>
                    <a:pt x="134057" y="474425"/>
                    <a:pt x="116114" y="464457"/>
                  </a:cubicBezTo>
                  <a:cubicBezTo>
                    <a:pt x="89366" y="449597"/>
                    <a:pt x="56396" y="449114"/>
                    <a:pt x="29028" y="435429"/>
                  </a:cubicBezTo>
                  <a:lnTo>
                    <a:pt x="0" y="420914"/>
                  </a:lnTo>
                  <a:cubicBezTo>
                    <a:pt x="62895" y="416076"/>
                    <a:pt x="126092" y="414224"/>
                    <a:pt x="188686" y="406400"/>
                  </a:cubicBezTo>
                  <a:cubicBezTo>
                    <a:pt x="203867" y="404502"/>
                    <a:pt x="220281" y="401443"/>
                    <a:pt x="232228" y="391886"/>
                  </a:cubicBezTo>
                  <a:cubicBezTo>
                    <a:pt x="245850" y="380989"/>
                    <a:pt x="248922" y="360678"/>
                    <a:pt x="261257" y="348343"/>
                  </a:cubicBezTo>
                  <a:cubicBezTo>
                    <a:pt x="292970" y="316630"/>
                    <a:pt x="291753" y="319314"/>
                    <a:pt x="319314" y="319314"/>
                  </a:cubicBezTo>
                  <a:cubicBezTo>
                    <a:pt x="402915" y="131212"/>
                    <a:pt x="377371" y="236336"/>
                    <a:pt x="377371" y="0"/>
                  </a:cubicBezTo>
                  <a:cubicBezTo>
                    <a:pt x="510141" y="132770"/>
                    <a:pt x="473292" y="143520"/>
                    <a:pt x="580571" y="174172"/>
                  </a:cubicBezTo>
                  <a:cubicBezTo>
                    <a:pt x="599751" y="179652"/>
                    <a:pt x="618688" y="188132"/>
                    <a:pt x="638628" y="188686"/>
                  </a:cubicBezTo>
                  <a:cubicBezTo>
                    <a:pt x="793388" y="192985"/>
                    <a:pt x="948267" y="188686"/>
                    <a:pt x="1103086" y="188686"/>
                  </a:cubicBezTo>
                  <a:cubicBezTo>
                    <a:pt x="1074057" y="227391"/>
                    <a:pt x="1048365" y="268839"/>
                    <a:pt x="1016000" y="304800"/>
                  </a:cubicBezTo>
                  <a:cubicBezTo>
                    <a:pt x="946487" y="382036"/>
                    <a:pt x="989585" y="282443"/>
                    <a:pt x="957943" y="377372"/>
                  </a:cubicBezTo>
                  <a:cubicBezTo>
                    <a:pt x="962781" y="469296"/>
                    <a:pt x="943348" y="565816"/>
                    <a:pt x="972457" y="653143"/>
                  </a:cubicBezTo>
                  <a:cubicBezTo>
                    <a:pt x="985703" y="692882"/>
                    <a:pt x="1146229" y="682172"/>
                    <a:pt x="1161143" y="682172"/>
                  </a:cubicBezTo>
                  <a:cubicBezTo>
                    <a:pt x="1122438" y="701524"/>
                    <a:pt x="1084803" y="723183"/>
                    <a:pt x="1045028" y="740229"/>
                  </a:cubicBezTo>
                  <a:cubicBezTo>
                    <a:pt x="1016903" y="752282"/>
                    <a:pt x="957943" y="769257"/>
                    <a:pt x="957943" y="769257"/>
                  </a:cubicBezTo>
                  <a:cubicBezTo>
                    <a:pt x="928914" y="788609"/>
                    <a:pt x="903955" y="816281"/>
                    <a:pt x="870857" y="827314"/>
                  </a:cubicBezTo>
                  <a:cubicBezTo>
                    <a:pt x="841828" y="836990"/>
                    <a:pt x="813776" y="850342"/>
                    <a:pt x="783771" y="856343"/>
                  </a:cubicBezTo>
                  <a:cubicBezTo>
                    <a:pt x="696198" y="873857"/>
                    <a:pt x="734603" y="863056"/>
                    <a:pt x="667657" y="885372"/>
                  </a:cubicBezTo>
                  <a:cubicBezTo>
                    <a:pt x="657981" y="899886"/>
                    <a:pt x="646429" y="913312"/>
                    <a:pt x="638628" y="928914"/>
                  </a:cubicBezTo>
                  <a:cubicBezTo>
                    <a:pt x="610345" y="985480"/>
                    <a:pt x="624114" y="1037661"/>
                    <a:pt x="624114" y="1103086"/>
                  </a:cubicBezTo>
                  <a:cubicBezTo>
                    <a:pt x="595085" y="1064381"/>
                    <a:pt x="569393" y="1022933"/>
                    <a:pt x="537028" y="986972"/>
                  </a:cubicBezTo>
                  <a:cubicBezTo>
                    <a:pt x="522298" y="970605"/>
                    <a:pt x="451020" y="935151"/>
                    <a:pt x="435428" y="928914"/>
                  </a:cubicBezTo>
                  <a:cubicBezTo>
                    <a:pt x="278711" y="866228"/>
                    <a:pt x="269907" y="899886"/>
                    <a:pt x="29028" y="899886"/>
                  </a:cubicBezTo>
                  <a:lnTo>
                    <a:pt x="58057" y="899886"/>
                  </a:lnTo>
                </a:path>
              </a:pathLst>
            </a:custGeom>
            <a:solidFill>
              <a:schemeClr val="accent1">
                <a:alpha val="25098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77" name="12 Forma libre">
              <a:extLst>
                <a:ext uri="{FF2B5EF4-FFF2-40B4-BE49-F238E27FC236}">
                  <a16:creationId xmlns:a16="http://schemas.microsoft.com/office/drawing/2014/main" id="{20151F7E-94EF-4804-8BC7-465CA7A0A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857" y="5796302"/>
              <a:ext cx="1843314" cy="111012"/>
            </a:xfrm>
            <a:custGeom>
              <a:avLst/>
              <a:gdLst>
                <a:gd name="T0" fmla="*/ 0 w 1843314"/>
                <a:gd name="T1" fmla="*/ 67469 h 111012"/>
                <a:gd name="T2" fmla="*/ 1175657 w 1843314"/>
                <a:gd name="T3" fmla="*/ 52955 h 111012"/>
                <a:gd name="T4" fmla="*/ 1190172 w 1843314"/>
                <a:gd name="T5" fmla="*/ 9412 h 111012"/>
                <a:gd name="T6" fmla="*/ 1727200 w 1843314"/>
                <a:gd name="T7" fmla="*/ 23927 h 111012"/>
                <a:gd name="T8" fmla="*/ 1828800 w 1843314"/>
                <a:gd name="T9" fmla="*/ 67469 h 111012"/>
                <a:gd name="T10" fmla="*/ 1843314 w 1843314"/>
                <a:gd name="T11" fmla="*/ 111012 h 1110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43314" h="111012">
                  <a:moveTo>
                    <a:pt x="0" y="67469"/>
                  </a:moveTo>
                  <a:lnTo>
                    <a:pt x="1175657" y="52955"/>
                  </a:lnTo>
                  <a:cubicBezTo>
                    <a:pt x="1190938" y="52210"/>
                    <a:pt x="1174894" y="10216"/>
                    <a:pt x="1190172" y="9412"/>
                  </a:cubicBezTo>
                  <a:cubicBezTo>
                    <a:pt x="1368999" y="0"/>
                    <a:pt x="1548191" y="19089"/>
                    <a:pt x="1727200" y="23927"/>
                  </a:cubicBezTo>
                  <a:cubicBezTo>
                    <a:pt x="1753222" y="32601"/>
                    <a:pt x="1810865" y="49534"/>
                    <a:pt x="1828800" y="67469"/>
                  </a:cubicBezTo>
                  <a:cubicBezTo>
                    <a:pt x="1839618" y="78287"/>
                    <a:pt x="1843314" y="111012"/>
                    <a:pt x="1843314" y="111012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78" name="13 Forma libre">
              <a:extLst>
                <a:ext uri="{FF2B5EF4-FFF2-40B4-BE49-F238E27FC236}">
                  <a16:creationId xmlns:a16="http://schemas.microsoft.com/office/drawing/2014/main" id="{31208128-9D50-4121-A499-1B3591004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4057" y="5501660"/>
              <a:ext cx="377372" cy="289540"/>
            </a:xfrm>
            <a:custGeom>
              <a:avLst/>
              <a:gdLst>
                <a:gd name="T0" fmla="*/ 0 w 377372"/>
                <a:gd name="T1" fmla="*/ 289540 h 289540"/>
                <a:gd name="T2" fmla="*/ 29029 w 377372"/>
                <a:gd name="T3" fmla="*/ 245997 h 289540"/>
                <a:gd name="T4" fmla="*/ 58057 w 377372"/>
                <a:gd name="T5" fmla="*/ 187940 h 289540"/>
                <a:gd name="T6" fmla="*/ 101600 w 377372"/>
                <a:gd name="T7" fmla="*/ 158911 h 289540"/>
                <a:gd name="T8" fmla="*/ 145143 w 377372"/>
                <a:gd name="T9" fmla="*/ 115369 h 289540"/>
                <a:gd name="T10" fmla="*/ 203200 w 377372"/>
                <a:gd name="T11" fmla="*/ 28283 h 289540"/>
                <a:gd name="T12" fmla="*/ 377372 w 377372"/>
                <a:gd name="T13" fmla="*/ 13769 h 2895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7372" h="289540">
                  <a:moveTo>
                    <a:pt x="0" y="289540"/>
                  </a:moveTo>
                  <a:cubicBezTo>
                    <a:pt x="9676" y="275026"/>
                    <a:pt x="20374" y="261143"/>
                    <a:pt x="29029" y="245997"/>
                  </a:cubicBezTo>
                  <a:cubicBezTo>
                    <a:pt x="39764" y="227211"/>
                    <a:pt x="44206" y="204562"/>
                    <a:pt x="58057" y="187940"/>
                  </a:cubicBezTo>
                  <a:cubicBezTo>
                    <a:pt x="69224" y="174539"/>
                    <a:pt x="88199" y="170078"/>
                    <a:pt x="101600" y="158911"/>
                  </a:cubicBezTo>
                  <a:cubicBezTo>
                    <a:pt x="117369" y="145771"/>
                    <a:pt x="132541" y="131571"/>
                    <a:pt x="145143" y="115369"/>
                  </a:cubicBezTo>
                  <a:cubicBezTo>
                    <a:pt x="166562" y="87830"/>
                    <a:pt x="170102" y="39315"/>
                    <a:pt x="203200" y="28283"/>
                  </a:cubicBezTo>
                  <a:cubicBezTo>
                    <a:pt x="288052" y="0"/>
                    <a:pt x="231444" y="13769"/>
                    <a:pt x="377372" y="13769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79" name="14 Forma libre">
              <a:extLst>
                <a:ext uri="{FF2B5EF4-FFF2-40B4-BE49-F238E27FC236}">
                  <a16:creationId xmlns:a16="http://schemas.microsoft.com/office/drawing/2014/main" id="{21C8F784-31C0-4FEA-B27B-0FC65BA32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7314" y="5879830"/>
              <a:ext cx="812800" cy="622570"/>
            </a:xfrm>
            <a:custGeom>
              <a:avLst/>
              <a:gdLst>
                <a:gd name="T0" fmla="*/ 0 w 812800"/>
                <a:gd name="T1" fmla="*/ 12970 h 622570"/>
                <a:gd name="T2" fmla="*/ 188686 w 812800"/>
                <a:gd name="T3" fmla="*/ 172627 h 622570"/>
                <a:gd name="T4" fmla="*/ 304800 w 812800"/>
                <a:gd name="T5" fmla="*/ 288741 h 622570"/>
                <a:gd name="T6" fmla="*/ 348343 w 812800"/>
                <a:gd name="T7" fmla="*/ 332284 h 622570"/>
                <a:gd name="T8" fmla="*/ 420915 w 812800"/>
                <a:gd name="T9" fmla="*/ 419370 h 622570"/>
                <a:gd name="T10" fmla="*/ 449943 w 812800"/>
                <a:gd name="T11" fmla="*/ 462913 h 622570"/>
                <a:gd name="T12" fmla="*/ 508000 w 812800"/>
                <a:gd name="T13" fmla="*/ 506456 h 622570"/>
                <a:gd name="T14" fmla="*/ 566057 w 812800"/>
                <a:gd name="T15" fmla="*/ 564513 h 622570"/>
                <a:gd name="T16" fmla="*/ 682172 w 812800"/>
                <a:gd name="T17" fmla="*/ 622570 h 622570"/>
                <a:gd name="T18" fmla="*/ 812800 w 812800"/>
                <a:gd name="T19" fmla="*/ 608056 h 6225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12800" h="622570">
                  <a:moveTo>
                    <a:pt x="0" y="12970"/>
                  </a:moveTo>
                  <a:cubicBezTo>
                    <a:pt x="149692" y="42908"/>
                    <a:pt x="16059" y="0"/>
                    <a:pt x="188686" y="172627"/>
                  </a:cubicBezTo>
                  <a:lnTo>
                    <a:pt x="304800" y="288741"/>
                  </a:lnTo>
                  <a:cubicBezTo>
                    <a:pt x="319314" y="303255"/>
                    <a:pt x="336957" y="315205"/>
                    <a:pt x="348343" y="332284"/>
                  </a:cubicBezTo>
                  <a:cubicBezTo>
                    <a:pt x="420421" y="440400"/>
                    <a:pt x="327780" y="307607"/>
                    <a:pt x="420915" y="419370"/>
                  </a:cubicBezTo>
                  <a:cubicBezTo>
                    <a:pt x="432082" y="432771"/>
                    <a:pt x="437608" y="450578"/>
                    <a:pt x="449943" y="462913"/>
                  </a:cubicBezTo>
                  <a:cubicBezTo>
                    <a:pt x="467048" y="480018"/>
                    <a:pt x="489795" y="490526"/>
                    <a:pt x="508000" y="506456"/>
                  </a:cubicBezTo>
                  <a:cubicBezTo>
                    <a:pt x="528597" y="524478"/>
                    <a:pt x="543285" y="549332"/>
                    <a:pt x="566057" y="564513"/>
                  </a:cubicBezTo>
                  <a:cubicBezTo>
                    <a:pt x="602063" y="588517"/>
                    <a:pt x="682172" y="622570"/>
                    <a:pt x="682172" y="622570"/>
                  </a:cubicBezTo>
                  <a:lnTo>
                    <a:pt x="812800" y="608056"/>
                  </a:ln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80" name="15 Forma libre">
              <a:extLst>
                <a:ext uri="{FF2B5EF4-FFF2-40B4-BE49-F238E27FC236}">
                  <a16:creationId xmlns:a16="http://schemas.microsoft.com/office/drawing/2014/main" id="{ED70DCBE-4540-4B36-94D6-A9018658C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4446" y="6108618"/>
              <a:ext cx="884782" cy="47825"/>
            </a:xfrm>
            <a:custGeom>
              <a:avLst/>
              <a:gdLst>
                <a:gd name="T0" fmla="*/ 35097 w 884782"/>
                <a:gd name="T1" fmla="*/ 1896 h 47825"/>
                <a:gd name="T2" fmla="*/ 572125 w 884782"/>
                <a:gd name="T3" fmla="*/ 30925 h 47825"/>
                <a:gd name="T4" fmla="*/ 702754 w 884782"/>
                <a:gd name="T5" fmla="*/ 45439 h 478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84782" h="47825">
                  <a:moveTo>
                    <a:pt x="35097" y="1896"/>
                  </a:moveTo>
                  <a:cubicBezTo>
                    <a:pt x="288394" y="44114"/>
                    <a:pt x="0" y="0"/>
                    <a:pt x="572125" y="30925"/>
                  </a:cubicBezTo>
                  <a:cubicBezTo>
                    <a:pt x="884782" y="47825"/>
                    <a:pt x="525592" y="45439"/>
                    <a:pt x="702754" y="45439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81" name="16 Forma libre">
              <a:extLst>
                <a:ext uri="{FF2B5EF4-FFF2-40B4-BE49-F238E27FC236}">
                  <a16:creationId xmlns:a16="http://schemas.microsoft.com/office/drawing/2014/main" id="{5F731C84-E6E6-48ED-ADD2-1FE74956E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686" y="5123543"/>
              <a:ext cx="928914" cy="525858"/>
            </a:xfrm>
            <a:custGeom>
              <a:avLst/>
              <a:gdLst>
                <a:gd name="T0" fmla="*/ 0 w 928914"/>
                <a:gd name="T1" fmla="*/ 522514 h 525858"/>
                <a:gd name="T2" fmla="*/ 551543 w 928914"/>
                <a:gd name="T3" fmla="*/ 508000 h 525858"/>
                <a:gd name="T4" fmla="*/ 595085 w 928914"/>
                <a:gd name="T5" fmla="*/ 464457 h 525858"/>
                <a:gd name="T6" fmla="*/ 609600 w 928914"/>
                <a:gd name="T7" fmla="*/ 246743 h 525858"/>
                <a:gd name="T8" fmla="*/ 624114 w 928914"/>
                <a:gd name="T9" fmla="*/ 203200 h 525858"/>
                <a:gd name="T10" fmla="*/ 653143 w 928914"/>
                <a:gd name="T11" fmla="*/ 159657 h 525858"/>
                <a:gd name="T12" fmla="*/ 783771 w 928914"/>
                <a:gd name="T13" fmla="*/ 101600 h 525858"/>
                <a:gd name="T14" fmla="*/ 870857 w 928914"/>
                <a:gd name="T15" fmla="*/ 58057 h 525858"/>
                <a:gd name="T16" fmla="*/ 928914 w 928914"/>
                <a:gd name="T17" fmla="*/ 0 h 5258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28914" h="525858">
                  <a:moveTo>
                    <a:pt x="0" y="522514"/>
                  </a:moveTo>
                  <a:cubicBezTo>
                    <a:pt x="183848" y="517676"/>
                    <a:pt x="368501" y="525858"/>
                    <a:pt x="551543" y="508000"/>
                  </a:cubicBezTo>
                  <a:cubicBezTo>
                    <a:pt x="571972" y="506007"/>
                    <a:pt x="590632" y="484494"/>
                    <a:pt x="595085" y="464457"/>
                  </a:cubicBezTo>
                  <a:cubicBezTo>
                    <a:pt x="610863" y="393457"/>
                    <a:pt x="601568" y="319031"/>
                    <a:pt x="609600" y="246743"/>
                  </a:cubicBezTo>
                  <a:cubicBezTo>
                    <a:pt x="611290" y="231537"/>
                    <a:pt x="617272" y="216884"/>
                    <a:pt x="624114" y="203200"/>
                  </a:cubicBezTo>
                  <a:cubicBezTo>
                    <a:pt x="631915" y="187598"/>
                    <a:pt x="639742" y="170824"/>
                    <a:pt x="653143" y="159657"/>
                  </a:cubicBezTo>
                  <a:cubicBezTo>
                    <a:pt x="676231" y="140417"/>
                    <a:pt x="761279" y="112846"/>
                    <a:pt x="783771" y="101600"/>
                  </a:cubicBezTo>
                  <a:cubicBezTo>
                    <a:pt x="896317" y="45327"/>
                    <a:pt x="761411" y="94538"/>
                    <a:pt x="870857" y="58057"/>
                  </a:cubicBezTo>
                  <a:cubicBezTo>
                    <a:pt x="923401" y="23027"/>
                    <a:pt x="906599" y="44630"/>
                    <a:pt x="928914" y="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82" name="17 Forma libre">
              <a:extLst>
                <a:ext uri="{FF2B5EF4-FFF2-40B4-BE49-F238E27FC236}">
                  <a16:creationId xmlns:a16="http://schemas.microsoft.com/office/drawing/2014/main" id="{BC591425-0F73-4AAF-A7C2-B9C750868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8743" y="4818743"/>
              <a:ext cx="740228" cy="595086"/>
            </a:xfrm>
            <a:custGeom>
              <a:avLst/>
              <a:gdLst>
                <a:gd name="T0" fmla="*/ 0 w 740228"/>
                <a:gd name="T1" fmla="*/ 595086 h 595086"/>
                <a:gd name="T2" fmla="*/ 87086 w 740228"/>
                <a:gd name="T3" fmla="*/ 566057 h 595086"/>
                <a:gd name="T4" fmla="*/ 246743 w 740228"/>
                <a:gd name="T5" fmla="*/ 449943 h 595086"/>
                <a:gd name="T6" fmla="*/ 319314 w 740228"/>
                <a:gd name="T7" fmla="*/ 333828 h 595086"/>
                <a:gd name="T8" fmla="*/ 333828 w 740228"/>
                <a:gd name="T9" fmla="*/ 290286 h 595086"/>
                <a:gd name="T10" fmla="*/ 348343 w 740228"/>
                <a:gd name="T11" fmla="*/ 232228 h 595086"/>
                <a:gd name="T12" fmla="*/ 406400 w 740228"/>
                <a:gd name="T13" fmla="*/ 188686 h 595086"/>
                <a:gd name="T14" fmla="*/ 449943 w 740228"/>
                <a:gd name="T15" fmla="*/ 159657 h 595086"/>
                <a:gd name="T16" fmla="*/ 508000 w 740228"/>
                <a:gd name="T17" fmla="*/ 116114 h 595086"/>
                <a:gd name="T18" fmla="*/ 566057 w 740228"/>
                <a:gd name="T19" fmla="*/ 101600 h 595086"/>
                <a:gd name="T20" fmla="*/ 667657 w 740228"/>
                <a:gd name="T21" fmla="*/ 72571 h 595086"/>
                <a:gd name="T22" fmla="*/ 740228 w 740228"/>
                <a:gd name="T23" fmla="*/ 0 h 5950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40228" h="595086">
                  <a:moveTo>
                    <a:pt x="0" y="595086"/>
                  </a:moveTo>
                  <a:cubicBezTo>
                    <a:pt x="29029" y="585410"/>
                    <a:pt x="59717" y="579741"/>
                    <a:pt x="87086" y="566057"/>
                  </a:cubicBezTo>
                  <a:cubicBezTo>
                    <a:pt x="129280" y="544960"/>
                    <a:pt x="211997" y="497719"/>
                    <a:pt x="246743" y="449943"/>
                  </a:cubicBezTo>
                  <a:cubicBezTo>
                    <a:pt x="273589" y="413030"/>
                    <a:pt x="304881" y="377128"/>
                    <a:pt x="319314" y="333828"/>
                  </a:cubicBezTo>
                  <a:cubicBezTo>
                    <a:pt x="324152" y="319314"/>
                    <a:pt x="329625" y="304996"/>
                    <a:pt x="333828" y="290286"/>
                  </a:cubicBezTo>
                  <a:cubicBezTo>
                    <a:pt x="339308" y="271105"/>
                    <a:pt x="336748" y="248461"/>
                    <a:pt x="348343" y="232228"/>
                  </a:cubicBezTo>
                  <a:cubicBezTo>
                    <a:pt x="362403" y="212544"/>
                    <a:pt x="386716" y="202746"/>
                    <a:pt x="406400" y="188686"/>
                  </a:cubicBezTo>
                  <a:cubicBezTo>
                    <a:pt x="420595" y="178547"/>
                    <a:pt x="435748" y="169796"/>
                    <a:pt x="449943" y="159657"/>
                  </a:cubicBezTo>
                  <a:cubicBezTo>
                    <a:pt x="469628" y="145597"/>
                    <a:pt x="486363" y="126932"/>
                    <a:pt x="508000" y="116114"/>
                  </a:cubicBezTo>
                  <a:cubicBezTo>
                    <a:pt x="525842" y="107193"/>
                    <a:pt x="546877" y="107080"/>
                    <a:pt x="566057" y="101600"/>
                  </a:cubicBezTo>
                  <a:cubicBezTo>
                    <a:pt x="711854" y="59945"/>
                    <a:pt x="486109" y="117960"/>
                    <a:pt x="667657" y="72571"/>
                  </a:cubicBezTo>
                  <a:lnTo>
                    <a:pt x="740228" y="0"/>
                  </a:ln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83" name="18 Forma libre">
              <a:extLst>
                <a:ext uri="{FF2B5EF4-FFF2-40B4-BE49-F238E27FC236}">
                  <a16:creationId xmlns:a16="http://schemas.microsoft.com/office/drawing/2014/main" id="{339BC343-8F67-4127-BD24-2B6D75E50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7786" y="4601029"/>
              <a:ext cx="435757" cy="609600"/>
            </a:xfrm>
            <a:custGeom>
              <a:avLst/>
              <a:gdLst>
                <a:gd name="T0" fmla="*/ 435757 w 435757"/>
                <a:gd name="T1" fmla="*/ 609600 h 609600"/>
                <a:gd name="T2" fmla="*/ 421243 w 435757"/>
                <a:gd name="T3" fmla="*/ 464457 h 609600"/>
                <a:gd name="T4" fmla="*/ 363185 w 435757"/>
                <a:gd name="T5" fmla="*/ 333828 h 609600"/>
                <a:gd name="T6" fmla="*/ 348671 w 435757"/>
                <a:gd name="T7" fmla="*/ 275771 h 609600"/>
                <a:gd name="T8" fmla="*/ 305128 w 435757"/>
                <a:gd name="T9" fmla="*/ 232228 h 609600"/>
                <a:gd name="T10" fmla="*/ 261585 w 435757"/>
                <a:gd name="T11" fmla="*/ 203200 h 609600"/>
                <a:gd name="T12" fmla="*/ 116443 w 435757"/>
                <a:gd name="T13" fmla="*/ 159657 h 609600"/>
                <a:gd name="T14" fmla="*/ 14843 w 435757"/>
                <a:gd name="T15" fmla="*/ 174171 h 609600"/>
                <a:gd name="T16" fmla="*/ 328 w 435757"/>
                <a:gd name="T17" fmla="*/ 130628 h 609600"/>
                <a:gd name="T18" fmla="*/ 14843 w 435757"/>
                <a:gd name="T19" fmla="*/ 72571 h 609600"/>
                <a:gd name="T20" fmla="*/ 14843 w 435757"/>
                <a:gd name="T21" fmla="*/ 0 h 6096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35757" h="609600">
                  <a:moveTo>
                    <a:pt x="435757" y="609600"/>
                  </a:moveTo>
                  <a:cubicBezTo>
                    <a:pt x="430919" y="561219"/>
                    <a:pt x="430779" y="512135"/>
                    <a:pt x="421243" y="464457"/>
                  </a:cubicBezTo>
                  <a:cubicBezTo>
                    <a:pt x="415065" y="433569"/>
                    <a:pt x="378216" y="363889"/>
                    <a:pt x="363185" y="333828"/>
                  </a:cubicBezTo>
                  <a:cubicBezTo>
                    <a:pt x="358347" y="314476"/>
                    <a:pt x="358568" y="293091"/>
                    <a:pt x="348671" y="275771"/>
                  </a:cubicBezTo>
                  <a:cubicBezTo>
                    <a:pt x="338487" y="257949"/>
                    <a:pt x="320897" y="245369"/>
                    <a:pt x="305128" y="232228"/>
                  </a:cubicBezTo>
                  <a:cubicBezTo>
                    <a:pt x="291727" y="221061"/>
                    <a:pt x="277525" y="210285"/>
                    <a:pt x="261585" y="203200"/>
                  </a:cubicBezTo>
                  <a:cubicBezTo>
                    <a:pt x="216147" y="183005"/>
                    <a:pt x="164697" y="171720"/>
                    <a:pt x="116443" y="159657"/>
                  </a:cubicBezTo>
                  <a:cubicBezTo>
                    <a:pt x="82576" y="164495"/>
                    <a:pt x="48032" y="182468"/>
                    <a:pt x="14843" y="174171"/>
                  </a:cubicBezTo>
                  <a:cubicBezTo>
                    <a:pt x="0" y="170460"/>
                    <a:pt x="328" y="145928"/>
                    <a:pt x="328" y="130628"/>
                  </a:cubicBezTo>
                  <a:cubicBezTo>
                    <a:pt x="328" y="110680"/>
                    <a:pt x="12640" y="92397"/>
                    <a:pt x="14843" y="72571"/>
                  </a:cubicBezTo>
                  <a:cubicBezTo>
                    <a:pt x="17515" y="48529"/>
                    <a:pt x="14843" y="24190"/>
                    <a:pt x="14843" y="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84" name="19 Forma libre">
              <a:extLst>
                <a:ext uri="{FF2B5EF4-FFF2-40B4-BE49-F238E27FC236}">
                  <a16:creationId xmlns:a16="http://schemas.microsoft.com/office/drawing/2014/main" id="{7F5EF384-8414-4C65-87A5-D0E9D9B11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143" y="4775200"/>
              <a:ext cx="870857" cy="449943"/>
            </a:xfrm>
            <a:custGeom>
              <a:avLst/>
              <a:gdLst>
                <a:gd name="T0" fmla="*/ 870857 w 870857"/>
                <a:gd name="T1" fmla="*/ 449943 h 449943"/>
                <a:gd name="T2" fmla="*/ 653143 w 870857"/>
                <a:gd name="T3" fmla="*/ 290286 h 449943"/>
                <a:gd name="T4" fmla="*/ 551543 w 870857"/>
                <a:gd name="T5" fmla="*/ 232229 h 449943"/>
                <a:gd name="T6" fmla="*/ 508000 w 870857"/>
                <a:gd name="T7" fmla="*/ 217714 h 449943"/>
                <a:gd name="T8" fmla="*/ 275771 w 870857"/>
                <a:gd name="T9" fmla="*/ 203200 h 449943"/>
                <a:gd name="T10" fmla="*/ 217714 w 870857"/>
                <a:gd name="T11" fmla="*/ 159657 h 449943"/>
                <a:gd name="T12" fmla="*/ 174171 w 870857"/>
                <a:gd name="T13" fmla="*/ 101600 h 449943"/>
                <a:gd name="T14" fmla="*/ 29028 w 870857"/>
                <a:gd name="T15" fmla="*/ 14514 h 449943"/>
                <a:gd name="T16" fmla="*/ 0 w 870857"/>
                <a:gd name="T17" fmla="*/ 0 h 44994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0857" h="449943">
                  <a:moveTo>
                    <a:pt x="870857" y="449943"/>
                  </a:moveTo>
                  <a:cubicBezTo>
                    <a:pt x="777975" y="357061"/>
                    <a:pt x="844394" y="417787"/>
                    <a:pt x="653143" y="290286"/>
                  </a:cubicBezTo>
                  <a:cubicBezTo>
                    <a:pt x="609409" y="261130"/>
                    <a:pt x="603110" y="254329"/>
                    <a:pt x="551543" y="232229"/>
                  </a:cubicBezTo>
                  <a:cubicBezTo>
                    <a:pt x="537481" y="226202"/>
                    <a:pt x="523215" y="219316"/>
                    <a:pt x="508000" y="217714"/>
                  </a:cubicBezTo>
                  <a:cubicBezTo>
                    <a:pt x="430865" y="209594"/>
                    <a:pt x="353181" y="208038"/>
                    <a:pt x="275771" y="203200"/>
                  </a:cubicBezTo>
                  <a:cubicBezTo>
                    <a:pt x="256419" y="188686"/>
                    <a:pt x="234819" y="176762"/>
                    <a:pt x="217714" y="159657"/>
                  </a:cubicBezTo>
                  <a:cubicBezTo>
                    <a:pt x="200609" y="142552"/>
                    <a:pt x="192251" y="117671"/>
                    <a:pt x="174171" y="101600"/>
                  </a:cubicBezTo>
                  <a:cubicBezTo>
                    <a:pt x="129132" y="61566"/>
                    <a:pt x="81049" y="40524"/>
                    <a:pt x="29028" y="14514"/>
                  </a:cubicBezTo>
                  <a:lnTo>
                    <a:pt x="0" y="0"/>
                  </a:ln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85" name="20 Forma libre">
              <a:extLst>
                <a:ext uri="{FF2B5EF4-FFF2-40B4-BE49-F238E27FC236}">
                  <a16:creationId xmlns:a16="http://schemas.microsoft.com/office/drawing/2014/main" id="{B44F49DA-CF32-4299-B9CD-EE452A948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914" y="4630057"/>
              <a:ext cx="102773" cy="348343"/>
            </a:xfrm>
            <a:custGeom>
              <a:avLst/>
              <a:gdLst>
                <a:gd name="T0" fmla="*/ 0 w 102773"/>
                <a:gd name="T1" fmla="*/ 348343 h 348343"/>
                <a:gd name="T2" fmla="*/ 14515 w 102773"/>
                <a:gd name="T3" fmla="*/ 246743 h 348343"/>
                <a:gd name="T4" fmla="*/ 72572 w 102773"/>
                <a:gd name="T5" fmla="*/ 116114 h 348343"/>
                <a:gd name="T6" fmla="*/ 87086 w 102773"/>
                <a:gd name="T7" fmla="*/ 72572 h 348343"/>
                <a:gd name="T8" fmla="*/ 101600 w 102773"/>
                <a:gd name="T9" fmla="*/ 0 h 3483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2773" h="348343">
                  <a:moveTo>
                    <a:pt x="0" y="348343"/>
                  </a:moveTo>
                  <a:cubicBezTo>
                    <a:pt x="4838" y="314476"/>
                    <a:pt x="4311" y="279396"/>
                    <a:pt x="14515" y="246743"/>
                  </a:cubicBezTo>
                  <a:cubicBezTo>
                    <a:pt x="28728" y="201262"/>
                    <a:pt x="54245" y="160098"/>
                    <a:pt x="72572" y="116114"/>
                  </a:cubicBezTo>
                  <a:cubicBezTo>
                    <a:pt x="78456" y="101992"/>
                    <a:pt x="82883" y="87282"/>
                    <a:pt x="87086" y="72572"/>
                  </a:cubicBezTo>
                  <a:cubicBezTo>
                    <a:pt x="102773" y="17665"/>
                    <a:pt x="101600" y="32560"/>
                    <a:pt x="101600" y="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86" name="21 Forma libre">
              <a:extLst>
                <a:ext uri="{FF2B5EF4-FFF2-40B4-BE49-F238E27FC236}">
                  <a16:creationId xmlns:a16="http://schemas.microsoft.com/office/drawing/2014/main" id="{F132584F-2537-4109-9A1A-D0CC47343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571" y="4746171"/>
              <a:ext cx="754743" cy="841829"/>
            </a:xfrm>
            <a:custGeom>
              <a:avLst/>
              <a:gdLst>
                <a:gd name="T0" fmla="*/ 754743 w 754743"/>
                <a:gd name="T1" fmla="*/ 841829 h 841829"/>
                <a:gd name="T2" fmla="*/ 638629 w 754743"/>
                <a:gd name="T3" fmla="*/ 754743 h 841829"/>
                <a:gd name="T4" fmla="*/ 595086 w 754743"/>
                <a:gd name="T5" fmla="*/ 667658 h 841829"/>
                <a:gd name="T6" fmla="*/ 566058 w 754743"/>
                <a:gd name="T7" fmla="*/ 609600 h 841829"/>
                <a:gd name="T8" fmla="*/ 522515 w 754743"/>
                <a:gd name="T9" fmla="*/ 566058 h 841829"/>
                <a:gd name="T10" fmla="*/ 508000 w 754743"/>
                <a:gd name="T11" fmla="*/ 508000 h 841829"/>
                <a:gd name="T12" fmla="*/ 464458 w 754743"/>
                <a:gd name="T13" fmla="*/ 464458 h 841829"/>
                <a:gd name="T14" fmla="*/ 304800 w 754743"/>
                <a:gd name="T15" fmla="*/ 435429 h 841829"/>
                <a:gd name="T16" fmla="*/ 217715 w 754743"/>
                <a:gd name="T17" fmla="*/ 391886 h 841829"/>
                <a:gd name="T18" fmla="*/ 159658 w 754743"/>
                <a:gd name="T19" fmla="*/ 188686 h 841829"/>
                <a:gd name="T20" fmla="*/ 29029 w 754743"/>
                <a:gd name="T21" fmla="*/ 43543 h 841829"/>
                <a:gd name="T22" fmla="*/ 0 w 754743"/>
                <a:gd name="T23" fmla="*/ 0 h 84182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54743" h="841829">
                  <a:moveTo>
                    <a:pt x="754743" y="841829"/>
                  </a:moveTo>
                  <a:cubicBezTo>
                    <a:pt x="716038" y="812800"/>
                    <a:pt x="653928" y="800641"/>
                    <a:pt x="638629" y="754743"/>
                  </a:cubicBezTo>
                  <a:cubicBezTo>
                    <a:pt x="612017" y="674905"/>
                    <a:pt x="640106" y="746444"/>
                    <a:pt x="595086" y="667658"/>
                  </a:cubicBezTo>
                  <a:cubicBezTo>
                    <a:pt x="584351" y="648872"/>
                    <a:pt x="578634" y="627207"/>
                    <a:pt x="566058" y="609600"/>
                  </a:cubicBezTo>
                  <a:cubicBezTo>
                    <a:pt x="554127" y="592897"/>
                    <a:pt x="537029" y="580572"/>
                    <a:pt x="522515" y="566058"/>
                  </a:cubicBezTo>
                  <a:cubicBezTo>
                    <a:pt x="517677" y="546705"/>
                    <a:pt x="517897" y="525320"/>
                    <a:pt x="508000" y="508000"/>
                  </a:cubicBezTo>
                  <a:cubicBezTo>
                    <a:pt x="497816" y="490179"/>
                    <a:pt x="481537" y="475844"/>
                    <a:pt x="464458" y="464458"/>
                  </a:cubicBezTo>
                  <a:cubicBezTo>
                    <a:pt x="433476" y="443803"/>
                    <a:pt x="309730" y="436045"/>
                    <a:pt x="304800" y="435429"/>
                  </a:cubicBezTo>
                  <a:cubicBezTo>
                    <a:pt x="281074" y="427520"/>
                    <a:pt x="232524" y="415580"/>
                    <a:pt x="217715" y="391886"/>
                  </a:cubicBezTo>
                  <a:cubicBezTo>
                    <a:pt x="193034" y="352396"/>
                    <a:pt x="173989" y="223080"/>
                    <a:pt x="159658" y="188686"/>
                  </a:cubicBezTo>
                  <a:cubicBezTo>
                    <a:pt x="138176" y="137128"/>
                    <a:pt x="53980" y="80970"/>
                    <a:pt x="29029" y="43543"/>
                  </a:cubicBezTo>
                  <a:lnTo>
                    <a:pt x="0" y="0"/>
                  </a:ln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87" name="22 Forma libre">
              <a:extLst>
                <a:ext uri="{FF2B5EF4-FFF2-40B4-BE49-F238E27FC236}">
                  <a16:creationId xmlns:a16="http://schemas.microsoft.com/office/drawing/2014/main" id="{927B6A93-0FC0-4B1A-90CC-20DA97785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826" y="4818743"/>
              <a:ext cx="206260" cy="464457"/>
            </a:xfrm>
            <a:custGeom>
              <a:avLst/>
              <a:gdLst>
                <a:gd name="T0" fmla="*/ 206260 w 206260"/>
                <a:gd name="T1" fmla="*/ 464457 h 464457"/>
                <a:gd name="T2" fmla="*/ 162717 w 206260"/>
                <a:gd name="T3" fmla="*/ 203200 h 464457"/>
                <a:gd name="T4" fmla="*/ 133688 w 206260"/>
                <a:gd name="T5" fmla="*/ 159657 h 464457"/>
                <a:gd name="T6" fmla="*/ 90145 w 206260"/>
                <a:gd name="T7" fmla="*/ 145143 h 464457"/>
                <a:gd name="T8" fmla="*/ 32088 w 206260"/>
                <a:gd name="T9" fmla="*/ 116114 h 464457"/>
                <a:gd name="T10" fmla="*/ 3060 w 206260"/>
                <a:gd name="T11" fmla="*/ 0 h 4644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6260" h="464457">
                  <a:moveTo>
                    <a:pt x="206260" y="464457"/>
                  </a:moveTo>
                  <a:cubicBezTo>
                    <a:pt x="202408" y="425943"/>
                    <a:pt x="191530" y="246420"/>
                    <a:pt x="162717" y="203200"/>
                  </a:cubicBezTo>
                  <a:cubicBezTo>
                    <a:pt x="153041" y="188686"/>
                    <a:pt x="147310" y="170554"/>
                    <a:pt x="133688" y="159657"/>
                  </a:cubicBezTo>
                  <a:cubicBezTo>
                    <a:pt x="121741" y="150100"/>
                    <a:pt x="104207" y="151170"/>
                    <a:pt x="90145" y="145143"/>
                  </a:cubicBezTo>
                  <a:cubicBezTo>
                    <a:pt x="70258" y="136620"/>
                    <a:pt x="51440" y="125790"/>
                    <a:pt x="32088" y="116114"/>
                  </a:cubicBezTo>
                  <a:cubicBezTo>
                    <a:pt x="0" y="19849"/>
                    <a:pt x="3060" y="59627"/>
                    <a:pt x="3060" y="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88" name="23 Forma libre">
              <a:extLst>
                <a:ext uri="{FF2B5EF4-FFF2-40B4-BE49-F238E27FC236}">
                  <a16:creationId xmlns:a16="http://schemas.microsoft.com/office/drawing/2014/main" id="{EC2EFAEB-F6E0-497D-B389-72B40355E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686" y="4659086"/>
              <a:ext cx="420914" cy="522514"/>
            </a:xfrm>
            <a:custGeom>
              <a:avLst/>
              <a:gdLst>
                <a:gd name="T0" fmla="*/ 420914 w 420914"/>
                <a:gd name="T1" fmla="*/ 522514 h 522514"/>
                <a:gd name="T2" fmla="*/ 377371 w 420914"/>
                <a:gd name="T3" fmla="*/ 478971 h 522514"/>
                <a:gd name="T4" fmla="*/ 333828 w 420914"/>
                <a:gd name="T5" fmla="*/ 377371 h 522514"/>
                <a:gd name="T6" fmla="*/ 246743 w 420914"/>
                <a:gd name="T7" fmla="*/ 290285 h 522514"/>
                <a:gd name="T8" fmla="*/ 217714 w 420914"/>
                <a:gd name="T9" fmla="*/ 203200 h 522514"/>
                <a:gd name="T10" fmla="*/ 203200 w 420914"/>
                <a:gd name="T11" fmla="*/ 145143 h 522514"/>
                <a:gd name="T12" fmla="*/ 159657 w 420914"/>
                <a:gd name="T13" fmla="*/ 116114 h 522514"/>
                <a:gd name="T14" fmla="*/ 116114 w 420914"/>
                <a:gd name="T15" fmla="*/ 72571 h 522514"/>
                <a:gd name="T16" fmla="*/ 58057 w 420914"/>
                <a:gd name="T17" fmla="*/ 43543 h 522514"/>
                <a:gd name="T18" fmla="*/ 0 w 420914"/>
                <a:gd name="T19" fmla="*/ 0 h 5225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20914" h="522514">
                  <a:moveTo>
                    <a:pt x="420914" y="522514"/>
                  </a:moveTo>
                  <a:cubicBezTo>
                    <a:pt x="406400" y="508000"/>
                    <a:pt x="389302" y="495674"/>
                    <a:pt x="377371" y="478971"/>
                  </a:cubicBezTo>
                  <a:cubicBezTo>
                    <a:pt x="295131" y="363834"/>
                    <a:pt x="387974" y="472126"/>
                    <a:pt x="333828" y="377371"/>
                  </a:cubicBezTo>
                  <a:cubicBezTo>
                    <a:pt x="300592" y="319208"/>
                    <a:pt x="295433" y="322746"/>
                    <a:pt x="246743" y="290285"/>
                  </a:cubicBezTo>
                  <a:cubicBezTo>
                    <a:pt x="237067" y="261257"/>
                    <a:pt x="225135" y="232885"/>
                    <a:pt x="217714" y="203200"/>
                  </a:cubicBezTo>
                  <a:cubicBezTo>
                    <a:pt x="212876" y="183848"/>
                    <a:pt x="214265" y="161741"/>
                    <a:pt x="203200" y="145143"/>
                  </a:cubicBezTo>
                  <a:cubicBezTo>
                    <a:pt x="193524" y="130629"/>
                    <a:pt x="173058" y="127281"/>
                    <a:pt x="159657" y="116114"/>
                  </a:cubicBezTo>
                  <a:cubicBezTo>
                    <a:pt x="143888" y="102973"/>
                    <a:pt x="132817" y="84502"/>
                    <a:pt x="116114" y="72571"/>
                  </a:cubicBezTo>
                  <a:cubicBezTo>
                    <a:pt x="98508" y="59995"/>
                    <a:pt x="76843" y="54278"/>
                    <a:pt x="58057" y="43543"/>
                  </a:cubicBezTo>
                  <a:cubicBezTo>
                    <a:pt x="19763" y="21661"/>
                    <a:pt x="22557" y="22557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89" name="24 Forma libre">
              <a:extLst>
                <a:ext uri="{FF2B5EF4-FFF2-40B4-BE49-F238E27FC236}">
                  <a16:creationId xmlns:a16="http://schemas.microsoft.com/office/drawing/2014/main" id="{5BE99C14-E3BE-499A-8F01-B1FD54123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086" y="4902037"/>
              <a:ext cx="348343" cy="47334"/>
            </a:xfrm>
            <a:custGeom>
              <a:avLst/>
              <a:gdLst>
                <a:gd name="T0" fmla="*/ 348343 w 348343"/>
                <a:gd name="T1" fmla="*/ 47334 h 47334"/>
                <a:gd name="T2" fmla="*/ 203200 w 348343"/>
                <a:gd name="T3" fmla="*/ 18306 h 47334"/>
                <a:gd name="T4" fmla="*/ 159657 w 348343"/>
                <a:gd name="T5" fmla="*/ 3792 h 47334"/>
                <a:gd name="T6" fmla="*/ 0 w 348343"/>
                <a:gd name="T7" fmla="*/ 3792 h 473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8343" h="47334">
                  <a:moveTo>
                    <a:pt x="348343" y="47334"/>
                  </a:moveTo>
                  <a:cubicBezTo>
                    <a:pt x="279911" y="35929"/>
                    <a:pt x="263826" y="35627"/>
                    <a:pt x="203200" y="18306"/>
                  </a:cubicBezTo>
                  <a:cubicBezTo>
                    <a:pt x="188489" y="14103"/>
                    <a:pt x="174918" y="4882"/>
                    <a:pt x="159657" y="3792"/>
                  </a:cubicBezTo>
                  <a:cubicBezTo>
                    <a:pt x="106573" y="0"/>
                    <a:pt x="53219" y="3792"/>
                    <a:pt x="0" y="3792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90" name="25 Forma libre">
              <a:extLst>
                <a:ext uri="{FF2B5EF4-FFF2-40B4-BE49-F238E27FC236}">
                  <a16:creationId xmlns:a16="http://schemas.microsoft.com/office/drawing/2014/main" id="{00EF2182-D1B7-47DF-8BE6-3572F8635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571" y="5544457"/>
              <a:ext cx="711200" cy="130629"/>
            </a:xfrm>
            <a:custGeom>
              <a:avLst/>
              <a:gdLst>
                <a:gd name="T0" fmla="*/ 711200 w 711200"/>
                <a:gd name="T1" fmla="*/ 58057 h 130629"/>
                <a:gd name="T2" fmla="*/ 391886 w 711200"/>
                <a:gd name="T3" fmla="*/ 72572 h 130629"/>
                <a:gd name="T4" fmla="*/ 348343 w 711200"/>
                <a:gd name="T5" fmla="*/ 116114 h 130629"/>
                <a:gd name="T6" fmla="*/ 304800 w 711200"/>
                <a:gd name="T7" fmla="*/ 130629 h 130629"/>
                <a:gd name="T8" fmla="*/ 101600 w 711200"/>
                <a:gd name="T9" fmla="*/ 116114 h 130629"/>
                <a:gd name="T10" fmla="*/ 43543 w 711200"/>
                <a:gd name="T11" fmla="*/ 43543 h 130629"/>
                <a:gd name="T12" fmla="*/ 0 w 711200"/>
                <a:gd name="T13" fmla="*/ 0 h 1306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1200" h="130629">
                  <a:moveTo>
                    <a:pt x="711200" y="58057"/>
                  </a:moveTo>
                  <a:cubicBezTo>
                    <a:pt x="604762" y="62895"/>
                    <a:pt x="497096" y="55738"/>
                    <a:pt x="391886" y="72572"/>
                  </a:cubicBezTo>
                  <a:cubicBezTo>
                    <a:pt x="371618" y="75815"/>
                    <a:pt x="365422" y="104728"/>
                    <a:pt x="348343" y="116114"/>
                  </a:cubicBezTo>
                  <a:cubicBezTo>
                    <a:pt x="335613" y="124601"/>
                    <a:pt x="319314" y="125791"/>
                    <a:pt x="304800" y="130629"/>
                  </a:cubicBezTo>
                  <a:cubicBezTo>
                    <a:pt x="237067" y="125791"/>
                    <a:pt x="168473" y="127915"/>
                    <a:pt x="101600" y="116114"/>
                  </a:cubicBezTo>
                  <a:cubicBezTo>
                    <a:pt x="40288" y="105294"/>
                    <a:pt x="67995" y="80221"/>
                    <a:pt x="43543" y="43543"/>
                  </a:cubicBezTo>
                  <a:cubicBezTo>
                    <a:pt x="32157" y="26464"/>
                    <a:pt x="0" y="0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91" name="26 Forma libre">
              <a:extLst>
                <a:ext uri="{FF2B5EF4-FFF2-40B4-BE49-F238E27FC236}">
                  <a16:creationId xmlns:a16="http://schemas.microsoft.com/office/drawing/2014/main" id="{546E6B4B-7FEA-414C-8A14-7FCA1DCCA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7314" y="5833660"/>
              <a:ext cx="725715" cy="153385"/>
            </a:xfrm>
            <a:custGeom>
              <a:avLst/>
              <a:gdLst>
                <a:gd name="T0" fmla="*/ 725715 w 725715"/>
                <a:gd name="T1" fmla="*/ 44626 h 153385"/>
                <a:gd name="T2" fmla="*/ 420915 w 725715"/>
                <a:gd name="T3" fmla="*/ 30111 h 153385"/>
                <a:gd name="T4" fmla="*/ 333829 w 725715"/>
                <a:gd name="T5" fmla="*/ 1083 h 153385"/>
                <a:gd name="T6" fmla="*/ 246743 w 725715"/>
                <a:gd name="T7" fmla="*/ 15597 h 153385"/>
                <a:gd name="T8" fmla="*/ 217715 w 725715"/>
                <a:gd name="T9" fmla="*/ 73654 h 153385"/>
                <a:gd name="T10" fmla="*/ 130629 w 725715"/>
                <a:gd name="T11" fmla="*/ 146226 h 153385"/>
                <a:gd name="T12" fmla="*/ 0 w 725715"/>
                <a:gd name="T13" fmla="*/ 146226 h 1533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5715" h="153385">
                  <a:moveTo>
                    <a:pt x="725715" y="44626"/>
                  </a:moveTo>
                  <a:cubicBezTo>
                    <a:pt x="624115" y="39788"/>
                    <a:pt x="522008" y="41344"/>
                    <a:pt x="420915" y="30111"/>
                  </a:cubicBezTo>
                  <a:cubicBezTo>
                    <a:pt x="390503" y="26732"/>
                    <a:pt x="333829" y="1083"/>
                    <a:pt x="333829" y="1083"/>
                  </a:cubicBezTo>
                  <a:cubicBezTo>
                    <a:pt x="304800" y="5921"/>
                    <a:pt x="271699" y="0"/>
                    <a:pt x="246743" y="15597"/>
                  </a:cubicBezTo>
                  <a:cubicBezTo>
                    <a:pt x="228395" y="27064"/>
                    <a:pt x="230291" y="56048"/>
                    <a:pt x="217715" y="73654"/>
                  </a:cubicBezTo>
                  <a:cubicBezTo>
                    <a:pt x="208879" y="86024"/>
                    <a:pt x="151273" y="142785"/>
                    <a:pt x="130629" y="146226"/>
                  </a:cubicBezTo>
                  <a:cubicBezTo>
                    <a:pt x="87678" y="153385"/>
                    <a:pt x="43543" y="146226"/>
                    <a:pt x="0" y="146226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92" name="27 Forma libre">
              <a:extLst>
                <a:ext uri="{FF2B5EF4-FFF2-40B4-BE49-F238E27FC236}">
                  <a16:creationId xmlns:a16="http://schemas.microsoft.com/office/drawing/2014/main" id="{6757321E-EA2C-45FF-A6D8-309108C00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857" y="6037943"/>
              <a:ext cx="638629" cy="424336"/>
            </a:xfrm>
            <a:custGeom>
              <a:avLst/>
              <a:gdLst>
                <a:gd name="T0" fmla="*/ 638629 w 638629"/>
                <a:gd name="T1" fmla="*/ 0 h 424336"/>
                <a:gd name="T2" fmla="*/ 537029 w 638629"/>
                <a:gd name="T3" fmla="*/ 14515 h 424336"/>
                <a:gd name="T4" fmla="*/ 449943 w 638629"/>
                <a:gd name="T5" fmla="*/ 29029 h 424336"/>
                <a:gd name="T6" fmla="*/ 319314 w 638629"/>
                <a:gd name="T7" fmla="*/ 43543 h 424336"/>
                <a:gd name="T8" fmla="*/ 217714 w 638629"/>
                <a:gd name="T9" fmla="*/ 116115 h 424336"/>
                <a:gd name="T10" fmla="*/ 159657 w 638629"/>
                <a:gd name="T11" fmla="*/ 203200 h 424336"/>
                <a:gd name="T12" fmla="*/ 101600 w 638629"/>
                <a:gd name="T13" fmla="*/ 348343 h 424336"/>
                <a:gd name="T14" fmla="*/ 58057 w 638629"/>
                <a:gd name="T15" fmla="*/ 377372 h 424336"/>
                <a:gd name="T16" fmla="*/ 0 w 638629"/>
                <a:gd name="T17" fmla="*/ 420915 h 424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8629" h="424336">
                  <a:moveTo>
                    <a:pt x="638629" y="0"/>
                  </a:moveTo>
                  <a:lnTo>
                    <a:pt x="537029" y="14515"/>
                  </a:lnTo>
                  <a:cubicBezTo>
                    <a:pt x="507942" y="18990"/>
                    <a:pt x="479114" y="25140"/>
                    <a:pt x="449943" y="29029"/>
                  </a:cubicBezTo>
                  <a:cubicBezTo>
                    <a:pt x="406516" y="34819"/>
                    <a:pt x="362857" y="38705"/>
                    <a:pt x="319314" y="43543"/>
                  </a:cubicBezTo>
                  <a:cubicBezTo>
                    <a:pt x="260309" y="63213"/>
                    <a:pt x="267805" y="53502"/>
                    <a:pt x="217714" y="116115"/>
                  </a:cubicBezTo>
                  <a:cubicBezTo>
                    <a:pt x="195920" y="143358"/>
                    <a:pt x="159657" y="203200"/>
                    <a:pt x="159657" y="203200"/>
                  </a:cubicBezTo>
                  <a:cubicBezTo>
                    <a:pt x="150632" y="230276"/>
                    <a:pt x="125331" y="319866"/>
                    <a:pt x="101600" y="348343"/>
                  </a:cubicBezTo>
                  <a:cubicBezTo>
                    <a:pt x="90433" y="361744"/>
                    <a:pt x="71458" y="366205"/>
                    <a:pt x="58057" y="377372"/>
                  </a:cubicBezTo>
                  <a:cubicBezTo>
                    <a:pt x="1700" y="424336"/>
                    <a:pt x="37254" y="420915"/>
                    <a:pt x="0" y="4209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93" name="28 Forma libre">
              <a:extLst>
                <a:ext uri="{FF2B5EF4-FFF2-40B4-BE49-F238E27FC236}">
                  <a16:creationId xmlns:a16="http://schemas.microsoft.com/office/drawing/2014/main" id="{8C89D0E3-DCEA-4C4C-AE89-A2069513C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200" y="6096001"/>
              <a:ext cx="261257" cy="599110"/>
            </a:xfrm>
            <a:custGeom>
              <a:avLst/>
              <a:gdLst>
                <a:gd name="T0" fmla="*/ 72571 w 261257"/>
                <a:gd name="T1" fmla="*/ 0 h 599110"/>
                <a:gd name="T2" fmla="*/ 43543 w 261257"/>
                <a:gd name="T3" fmla="*/ 43542 h 599110"/>
                <a:gd name="T4" fmla="*/ 0 w 261257"/>
                <a:gd name="T5" fmla="*/ 188685 h 599110"/>
                <a:gd name="T6" fmla="*/ 14514 w 261257"/>
                <a:gd name="T7" fmla="*/ 348342 h 599110"/>
                <a:gd name="T8" fmla="*/ 116114 w 261257"/>
                <a:gd name="T9" fmla="*/ 449942 h 599110"/>
                <a:gd name="T10" fmla="*/ 217714 w 261257"/>
                <a:gd name="T11" fmla="*/ 551542 h 599110"/>
                <a:gd name="T12" fmla="*/ 261257 w 261257"/>
                <a:gd name="T13" fmla="*/ 595085 h 5991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1257" h="599110">
                  <a:moveTo>
                    <a:pt x="72571" y="0"/>
                  </a:moveTo>
                  <a:cubicBezTo>
                    <a:pt x="62895" y="14514"/>
                    <a:pt x="50628" y="27602"/>
                    <a:pt x="43543" y="43542"/>
                  </a:cubicBezTo>
                  <a:cubicBezTo>
                    <a:pt x="23349" y="88978"/>
                    <a:pt x="12063" y="140432"/>
                    <a:pt x="0" y="188685"/>
                  </a:cubicBezTo>
                  <a:cubicBezTo>
                    <a:pt x="4838" y="241904"/>
                    <a:pt x="745" y="296708"/>
                    <a:pt x="14514" y="348342"/>
                  </a:cubicBezTo>
                  <a:cubicBezTo>
                    <a:pt x="28589" y="401124"/>
                    <a:pt x="82685" y="416513"/>
                    <a:pt x="116114" y="449942"/>
                  </a:cubicBezTo>
                  <a:cubicBezTo>
                    <a:pt x="251580" y="585408"/>
                    <a:pt x="62897" y="435431"/>
                    <a:pt x="217714" y="551542"/>
                  </a:cubicBezTo>
                  <a:cubicBezTo>
                    <a:pt x="249427" y="599110"/>
                    <a:pt x="229299" y="595085"/>
                    <a:pt x="261257" y="59508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94" name="29 Forma libre">
              <a:extLst>
                <a:ext uri="{FF2B5EF4-FFF2-40B4-BE49-F238E27FC236}">
                  <a16:creationId xmlns:a16="http://schemas.microsoft.com/office/drawing/2014/main" id="{90E28D9A-E166-4F78-A3CA-0BC6D783F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371" y="6270171"/>
              <a:ext cx="516435" cy="420915"/>
            </a:xfrm>
            <a:custGeom>
              <a:avLst/>
              <a:gdLst>
                <a:gd name="T0" fmla="*/ 0 w 516435"/>
                <a:gd name="T1" fmla="*/ 0 h 420915"/>
                <a:gd name="T2" fmla="*/ 159658 w 516435"/>
                <a:gd name="T3" fmla="*/ 29029 h 420915"/>
                <a:gd name="T4" fmla="*/ 203200 w 516435"/>
                <a:gd name="T5" fmla="*/ 43543 h 420915"/>
                <a:gd name="T6" fmla="*/ 348343 w 516435"/>
                <a:gd name="T7" fmla="*/ 58058 h 420915"/>
                <a:gd name="T8" fmla="*/ 391886 w 516435"/>
                <a:gd name="T9" fmla="*/ 72572 h 420915"/>
                <a:gd name="T10" fmla="*/ 478972 w 516435"/>
                <a:gd name="T11" fmla="*/ 159658 h 420915"/>
                <a:gd name="T12" fmla="*/ 493486 w 516435"/>
                <a:gd name="T13" fmla="*/ 420915 h 4209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6435" h="420915">
                  <a:moveTo>
                    <a:pt x="0" y="0"/>
                  </a:moveTo>
                  <a:cubicBezTo>
                    <a:pt x="53219" y="9676"/>
                    <a:pt x="106767" y="17695"/>
                    <a:pt x="159658" y="29029"/>
                  </a:cubicBezTo>
                  <a:cubicBezTo>
                    <a:pt x="174617" y="32235"/>
                    <a:pt x="188079" y="41217"/>
                    <a:pt x="203200" y="43543"/>
                  </a:cubicBezTo>
                  <a:cubicBezTo>
                    <a:pt x="251257" y="50937"/>
                    <a:pt x="299962" y="53220"/>
                    <a:pt x="348343" y="58058"/>
                  </a:cubicBezTo>
                  <a:cubicBezTo>
                    <a:pt x="362857" y="62896"/>
                    <a:pt x="379809" y="63179"/>
                    <a:pt x="391886" y="72572"/>
                  </a:cubicBezTo>
                  <a:cubicBezTo>
                    <a:pt x="424291" y="97776"/>
                    <a:pt x="478972" y="159658"/>
                    <a:pt x="478972" y="159658"/>
                  </a:cubicBezTo>
                  <a:cubicBezTo>
                    <a:pt x="516435" y="272048"/>
                    <a:pt x="493486" y="187901"/>
                    <a:pt x="493486" y="4209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95" name="30 Forma libre">
              <a:extLst>
                <a:ext uri="{FF2B5EF4-FFF2-40B4-BE49-F238E27FC236}">
                  <a16:creationId xmlns:a16="http://schemas.microsoft.com/office/drawing/2014/main" id="{387C5DC2-8DD3-47DA-BF32-EC127A2D2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857" y="6255657"/>
              <a:ext cx="116383" cy="488500"/>
            </a:xfrm>
            <a:custGeom>
              <a:avLst/>
              <a:gdLst>
                <a:gd name="T0" fmla="*/ 14514 w 116383"/>
                <a:gd name="T1" fmla="*/ 0 h 488500"/>
                <a:gd name="T2" fmla="*/ 29029 w 116383"/>
                <a:gd name="T3" fmla="*/ 130629 h 488500"/>
                <a:gd name="T4" fmla="*/ 43543 w 116383"/>
                <a:gd name="T5" fmla="*/ 174172 h 488500"/>
                <a:gd name="T6" fmla="*/ 87086 w 116383"/>
                <a:gd name="T7" fmla="*/ 333829 h 488500"/>
                <a:gd name="T8" fmla="*/ 0 w 116383"/>
                <a:gd name="T9" fmla="*/ 464457 h 4885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383" h="488500">
                  <a:moveTo>
                    <a:pt x="14514" y="0"/>
                  </a:moveTo>
                  <a:cubicBezTo>
                    <a:pt x="19352" y="43543"/>
                    <a:pt x="21826" y="87414"/>
                    <a:pt x="29029" y="130629"/>
                  </a:cubicBezTo>
                  <a:cubicBezTo>
                    <a:pt x="31544" y="145720"/>
                    <a:pt x="39832" y="159329"/>
                    <a:pt x="43543" y="174172"/>
                  </a:cubicBezTo>
                  <a:cubicBezTo>
                    <a:pt x="84571" y="338285"/>
                    <a:pt x="24813" y="147011"/>
                    <a:pt x="87086" y="333829"/>
                  </a:cubicBezTo>
                  <a:cubicBezTo>
                    <a:pt x="69901" y="488500"/>
                    <a:pt x="116383" y="464457"/>
                    <a:pt x="0" y="464457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36896" name="31 Elipse">
              <a:extLst>
                <a:ext uri="{FF2B5EF4-FFF2-40B4-BE49-F238E27FC236}">
                  <a16:creationId xmlns:a16="http://schemas.microsoft.com/office/drawing/2014/main" id="{44F9A9F6-377C-438B-9AF8-0FE781485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429" y="5602514"/>
              <a:ext cx="217714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36897" name="32 Elipse">
              <a:extLst>
                <a:ext uri="{FF2B5EF4-FFF2-40B4-BE49-F238E27FC236}">
                  <a16:creationId xmlns:a16="http://schemas.microsoft.com/office/drawing/2014/main" id="{54189598-EACC-4F5B-B75C-98C522114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1029" y="5660571"/>
              <a:ext cx="45719" cy="4571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43C9F389-B384-489B-98FF-8E110FE62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6444" y="274638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73F2FA61-4B32-4AD2-8C73-56B2E3880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Redes neuronales dirigidas a aplicaciones</a:t>
            </a:r>
          </a:p>
          <a:p>
            <a:pPr>
              <a:buFontTx/>
              <a:buChar char="•"/>
            </a:pPr>
            <a:endParaRPr lang="es-ES" altLang="es-ES" sz="2400"/>
          </a:p>
          <a:p>
            <a:pPr lvl="1">
              <a:buFontTx/>
              <a:buChar char="•"/>
            </a:pPr>
            <a:r>
              <a:rPr lang="es-ES" altLang="es-ES" sz="2400"/>
              <a:t> Un sistema nervioso no posee todo el conocimiento.</a:t>
            </a:r>
          </a:p>
          <a:p>
            <a:pPr lvl="1">
              <a:buFontTx/>
              <a:buChar char="•"/>
            </a:pPr>
            <a:r>
              <a:rPr lang="es-ES" altLang="es-ES" sz="2400"/>
              <a:t> Es necesario añadir nuevas funcionalidades y conexiones a la estructura biológica.</a:t>
            </a:r>
          </a:p>
          <a:p>
            <a:pPr lvl="1">
              <a:buFontTx/>
              <a:buChar char="•"/>
            </a:pPr>
            <a:endParaRPr lang="es-ES" altLang="es-ES" sz="2400"/>
          </a:p>
          <a:p>
            <a:pPr lvl="1">
              <a:buFontTx/>
              <a:buChar char="•"/>
            </a:pPr>
            <a:r>
              <a:rPr lang="es-ES" altLang="es-ES" sz="2400"/>
              <a:t> Características:</a:t>
            </a:r>
          </a:p>
          <a:p>
            <a:pPr lvl="2">
              <a:buFontTx/>
              <a:buChar char="•"/>
            </a:pPr>
            <a:r>
              <a:rPr lang="es-ES" altLang="es-ES" sz="2400"/>
              <a:t> Auto-organización y Adaptatividad</a:t>
            </a:r>
          </a:p>
          <a:p>
            <a:pPr lvl="2">
              <a:buFontTx/>
              <a:buChar char="•"/>
            </a:pPr>
            <a:r>
              <a:rPr lang="es-ES" altLang="es-ES" sz="2400"/>
              <a:t> Procesado no lineal</a:t>
            </a:r>
          </a:p>
          <a:p>
            <a:pPr lvl="2">
              <a:buFontTx/>
              <a:buChar char="•"/>
            </a:pPr>
            <a:r>
              <a:rPr lang="es-ES" altLang="es-ES" sz="2400"/>
              <a:t> Procesado paralelo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5CD01828-C912-499D-AF20-FE525E9DC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6444" y="312738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58E6D21E-DD6E-4097-BCA0-1A76B2764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Clasificación:</a:t>
            </a:r>
          </a:p>
          <a:p>
            <a:pPr lvl="1">
              <a:buFontTx/>
              <a:buChar char="•"/>
            </a:pPr>
            <a:r>
              <a:rPr lang="es-ES" altLang="es-ES" sz="2400"/>
              <a:t> Toda red neuronal debe pasar por dos fases:</a:t>
            </a:r>
          </a:p>
          <a:p>
            <a:pPr lvl="2">
              <a:buFontTx/>
              <a:buChar char="•"/>
            </a:pPr>
            <a:r>
              <a:rPr lang="es-ES" altLang="es-ES" sz="2400"/>
              <a:t> Fase de aprendizaje</a:t>
            </a:r>
          </a:p>
          <a:p>
            <a:pPr lvl="2">
              <a:buFontTx/>
              <a:buChar char="•"/>
            </a:pPr>
            <a:r>
              <a:rPr lang="es-ES" altLang="es-ES" sz="2400"/>
              <a:t> Fase de prueba (utilización)</a:t>
            </a:r>
          </a:p>
          <a:p>
            <a:pPr>
              <a:buFontTx/>
              <a:buChar char="•"/>
            </a:pPr>
            <a:endParaRPr lang="es-ES" altLang="es-ES" sz="2400"/>
          </a:p>
          <a:p>
            <a:pPr>
              <a:buFontTx/>
              <a:buChar char="•"/>
            </a:pPr>
            <a:r>
              <a:rPr lang="es-ES" altLang="es-ES" sz="2400"/>
              <a:t> Según el tipo de aprendizaje:</a:t>
            </a:r>
          </a:p>
          <a:p>
            <a:pPr lvl="1">
              <a:buFontTx/>
              <a:buChar char="•"/>
            </a:pPr>
            <a:r>
              <a:rPr lang="es-ES" altLang="es-ES" sz="2400"/>
              <a:t> De pesos fijos</a:t>
            </a:r>
          </a:p>
          <a:p>
            <a:pPr lvl="1">
              <a:buFontTx/>
              <a:buChar char="•"/>
            </a:pPr>
            <a:r>
              <a:rPr lang="es-ES" altLang="es-ES" sz="2400"/>
              <a:t> Aprendizaje supervisado</a:t>
            </a:r>
          </a:p>
          <a:p>
            <a:pPr lvl="1">
              <a:buFontTx/>
              <a:buChar char="•"/>
            </a:pPr>
            <a:r>
              <a:rPr lang="es-ES" altLang="es-ES" sz="2400"/>
              <a:t> Aprendizaje sin supervisión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4FB944DE-C244-4DA8-A1D8-3A48306B0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67342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7D68D447-CBDF-49ED-9393-415F532CD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Modelo de neurona artificial </a:t>
            </a:r>
            <a:r>
              <a:rPr lang="es-ES" altLang="es-ES" sz="2000"/>
              <a:t>(elemento de procesamiento)</a:t>
            </a:r>
          </a:p>
          <a:p>
            <a:pPr lvl="1">
              <a:buFontTx/>
              <a:buChar char="•"/>
            </a:pPr>
            <a:r>
              <a:rPr lang="es-ES" altLang="es-ES" sz="2000"/>
              <a:t> X: entradas</a:t>
            </a:r>
          </a:p>
          <a:p>
            <a:pPr lvl="1">
              <a:buFontTx/>
              <a:buChar char="•"/>
            </a:pPr>
            <a:r>
              <a:rPr lang="es-ES" altLang="es-ES" sz="2000"/>
              <a:t> W: pesos</a:t>
            </a:r>
          </a:p>
          <a:p>
            <a:pPr lvl="1">
              <a:buFontTx/>
              <a:buChar char="•"/>
            </a:pPr>
            <a:r>
              <a:rPr lang="es-ES" altLang="es-ES" sz="2000"/>
              <a:t> f: función de activación</a:t>
            </a:r>
          </a:p>
        </p:txBody>
      </p:sp>
      <p:sp>
        <p:nvSpPr>
          <p:cNvPr id="39940" name="4 Elipse">
            <a:extLst>
              <a:ext uri="{FF2B5EF4-FFF2-40B4-BE49-F238E27FC236}">
                <a16:creationId xmlns:a16="http://schemas.microsoft.com/office/drawing/2014/main" id="{5610519B-A976-4232-A17D-2BDAC6E3D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025" y="4310063"/>
            <a:ext cx="971550" cy="973137"/>
          </a:xfrm>
          <a:prstGeom prst="ellipse">
            <a:avLst/>
          </a:prstGeom>
          <a:solidFill>
            <a:schemeClr val="accent1">
              <a:alpha val="23137"/>
            </a:schemeClr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s-ES" altLang="es-ES" b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39941" name="5 CuadroTexto">
            <a:extLst>
              <a:ext uri="{FF2B5EF4-FFF2-40B4-BE49-F238E27FC236}">
                <a16:creationId xmlns:a16="http://schemas.microsoft.com/office/drawing/2014/main" id="{03D6619E-BE1B-4FB7-9F6E-C95EC9394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825" y="3903663"/>
            <a:ext cx="1562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 b="1">
                <a:latin typeface="Courier New" panose="02070309020205020404" pitchFamily="49" charset="0"/>
                <a:cs typeface="Courier New" panose="02070309020205020404" pitchFamily="49" charset="0"/>
              </a:rPr>
              <a:t>Elemento J</a:t>
            </a:r>
          </a:p>
        </p:txBody>
      </p:sp>
      <p:sp>
        <p:nvSpPr>
          <p:cNvPr id="39942" name="6 Elipse">
            <a:extLst>
              <a:ext uri="{FF2B5EF4-FFF2-40B4-BE49-F238E27FC236}">
                <a16:creationId xmlns:a16="http://schemas.microsoft.com/office/drawing/2014/main" id="{A01219B7-75E3-4B6A-A380-BEA7AF6CD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2738" y="4687888"/>
            <a:ext cx="217487" cy="2174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cxnSp>
        <p:nvCxnSpPr>
          <p:cNvPr id="39943" name="8 Conector recto de flecha">
            <a:extLst>
              <a:ext uri="{FF2B5EF4-FFF2-40B4-BE49-F238E27FC236}">
                <a16:creationId xmlns:a16="http://schemas.microsoft.com/office/drawing/2014/main" id="{80A9F0A4-6129-46B0-893D-233709AD271C}"/>
              </a:ext>
            </a:extLst>
          </p:cNvPr>
          <p:cNvCxnSpPr>
            <a:cxnSpLocks noChangeShapeType="1"/>
            <a:stCxn id="39940" idx="6"/>
            <a:endCxn id="39942" idx="2"/>
          </p:cNvCxnSpPr>
          <p:nvPr/>
        </p:nvCxnSpPr>
        <p:spPr bwMode="auto">
          <a:xfrm>
            <a:off x="5616575" y="4797425"/>
            <a:ext cx="1046163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9944" name="9 Elipse">
            <a:extLst>
              <a:ext uri="{FF2B5EF4-FFF2-40B4-BE49-F238E27FC236}">
                <a16:creationId xmlns:a16="http://schemas.microsoft.com/office/drawing/2014/main" id="{8B249F8E-C232-40AC-A6E7-C45A58377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884863"/>
            <a:ext cx="217488" cy="2190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sp>
        <p:nvSpPr>
          <p:cNvPr id="39945" name="10 Elipse">
            <a:extLst>
              <a:ext uri="{FF2B5EF4-FFF2-40B4-BE49-F238E27FC236}">
                <a16:creationId xmlns:a16="http://schemas.microsoft.com/office/drawing/2014/main" id="{09A69FDF-9B27-4622-9CC6-E7ED8BCD4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5870575"/>
            <a:ext cx="217488" cy="2174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sp>
        <p:nvSpPr>
          <p:cNvPr id="39946" name="11 Elipse">
            <a:extLst>
              <a:ext uri="{FF2B5EF4-FFF2-40B4-BE49-F238E27FC236}">
                <a16:creationId xmlns:a16="http://schemas.microsoft.com/office/drawing/2014/main" id="{4E968F24-6A67-465C-87CF-6E5B56249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5376863"/>
            <a:ext cx="217488" cy="2190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sp>
        <p:nvSpPr>
          <p:cNvPr id="39947" name="12 Elipse">
            <a:extLst>
              <a:ext uri="{FF2B5EF4-FFF2-40B4-BE49-F238E27FC236}">
                <a16:creationId xmlns:a16="http://schemas.microsoft.com/office/drawing/2014/main" id="{8613BDCB-2762-49BA-8B4A-BDD5192AB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4400" y="4462463"/>
            <a:ext cx="217488" cy="2190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sp>
        <p:nvSpPr>
          <p:cNvPr id="39948" name="13 Elipse">
            <a:extLst>
              <a:ext uri="{FF2B5EF4-FFF2-40B4-BE49-F238E27FC236}">
                <a16:creationId xmlns:a16="http://schemas.microsoft.com/office/drawing/2014/main" id="{39BDAA8D-46A9-4354-9E3A-ACCF7467A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688" y="3998913"/>
            <a:ext cx="217487" cy="2174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sp>
        <p:nvSpPr>
          <p:cNvPr id="39949" name="14 CuadroTexto">
            <a:extLst>
              <a:ext uri="{FF2B5EF4-FFF2-40B4-BE49-F238E27FC236}">
                <a16:creationId xmlns:a16="http://schemas.microsoft.com/office/drawing/2014/main" id="{D92BBB01-F6E0-4B80-B1D7-D158048E8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4803775"/>
            <a:ext cx="1074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/>
              <a:t>Entradas</a:t>
            </a:r>
          </a:p>
        </p:txBody>
      </p:sp>
      <p:cxnSp>
        <p:nvCxnSpPr>
          <p:cNvPr id="39950" name="16 Conector recto de flecha">
            <a:extLst>
              <a:ext uri="{FF2B5EF4-FFF2-40B4-BE49-F238E27FC236}">
                <a16:creationId xmlns:a16="http://schemas.microsoft.com/office/drawing/2014/main" id="{3737316B-4CBF-4872-9BFF-ED10566ED848}"/>
              </a:ext>
            </a:extLst>
          </p:cNvPr>
          <p:cNvCxnSpPr>
            <a:cxnSpLocks noChangeShapeType="1"/>
            <a:stCxn id="39948" idx="6"/>
            <a:endCxn id="39940" idx="2"/>
          </p:cNvCxnSpPr>
          <p:nvPr/>
        </p:nvCxnSpPr>
        <p:spPr bwMode="auto">
          <a:xfrm>
            <a:off x="2416175" y="4106863"/>
            <a:ext cx="2228850" cy="6905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9951" name="18 Conector recto de flecha">
            <a:extLst>
              <a:ext uri="{FF2B5EF4-FFF2-40B4-BE49-F238E27FC236}">
                <a16:creationId xmlns:a16="http://schemas.microsoft.com/office/drawing/2014/main" id="{00FEB342-E4F1-4C2E-83F8-E03852647D9C}"/>
              </a:ext>
            </a:extLst>
          </p:cNvPr>
          <p:cNvCxnSpPr>
            <a:cxnSpLocks noChangeShapeType="1"/>
            <a:stCxn id="39947" idx="6"/>
            <a:endCxn id="39940" idx="2"/>
          </p:cNvCxnSpPr>
          <p:nvPr/>
        </p:nvCxnSpPr>
        <p:spPr bwMode="auto">
          <a:xfrm>
            <a:off x="2401888" y="4572000"/>
            <a:ext cx="2243137" cy="2254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9952" name="20 Conector recto de flecha">
            <a:extLst>
              <a:ext uri="{FF2B5EF4-FFF2-40B4-BE49-F238E27FC236}">
                <a16:creationId xmlns:a16="http://schemas.microsoft.com/office/drawing/2014/main" id="{6DDE0519-A52F-4F89-8E32-B01013A317AB}"/>
              </a:ext>
            </a:extLst>
          </p:cNvPr>
          <p:cNvCxnSpPr>
            <a:cxnSpLocks noChangeShapeType="1"/>
            <a:stCxn id="39946" idx="6"/>
            <a:endCxn id="39940" idx="2"/>
          </p:cNvCxnSpPr>
          <p:nvPr/>
        </p:nvCxnSpPr>
        <p:spPr bwMode="auto">
          <a:xfrm flipV="1">
            <a:off x="2430463" y="4797425"/>
            <a:ext cx="2214562" cy="6889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9953" name="22 Conector recto de flecha">
            <a:extLst>
              <a:ext uri="{FF2B5EF4-FFF2-40B4-BE49-F238E27FC236}">
                <a16:creationId xmlns:a16="http://schemas.microsoft.com/office/drawing/2014/main" id="{8C6AC740-234D-4A01-8E2A-AA06AF4A4937}"/>
              </a:ext>
            </a:extLst>
          </p:cNvPr>
          <p:cNvCxnSpPr>
            <a:cxnSpLocks noChangeShapeType="1"/>
            <a:stCxn id="39945" idx="6"/>
            <a:endCxn id="39940" idx="2"/>
          </p:cNvCxnSpPr>
          <p:nvPr/>
        </p:nvCxnSpPr>
        <p:spPr bwMode="auto">
          <a:xfrm flipV="1">
            <a:off x="2430463" y="4797425"/>
            <a:ext cx="2214562" cy="11826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9954" name="24 Conector recto de flecha">
            <a:extLst>
              <a:ext uri="{FF2B5EF4-FFF2-40B4-BE49-F238E27FC236}">
                <a16:creationId xmlns:a16="http://schemas.microsoft.com/office/drawing/2014/main" id="{E3138CE7-CA48-4678-B147-7B86112347EF}"/>
              </a:ext>
            </a:extLst>
          </p:cNvPr>
          <p:cNvCxnSpPr>
            <a:cxnSpLocks noChangeShapeType="1"/>
            <a:stCxn id="39944" idx="0"/>
            <a:endCxn id="39940" idx="4"/>
          </p:cNvCxnSpPr>
          <p:nvPr/>
        </p:nvCxnSpPr>
        <p:spPr bwMode="auto">
          <a:xfrm rot="16200000" flipV="1">
            <a:off x="4833937" y="5580063"/>
            <a:ext cx="601663" cy="79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9955" name="26 CuadroTexto">
            <a:extLst>
              <a:ext uri="{FF2B5EF4-FFF2-40B4-BE49-F238E27FC236}">
                <a16:creationId xmlns:a16="http://schemas.microsoft.com/office/drawing/2014/main" id="{93737026-CC5C-44A3-B031-CEE52B410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3759200"/>
            <a:ext cx="430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s-ES" altLang="es-ES" sz="140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s-ES" altLang="es-E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956" name="27 CuadroTexto">
            <a:extLst>
              <a:ext uri="{FF2B5EF4-FFF2-40B4-BE49-F238E27FC236}">
                <a16:creationId xmlns:a16="http://schemas.microsoft.com/office/drawing/2014/main" id="{74F06857-D8FA-49C1-BAE1-DB5053603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0" y="5799138"/>
            <a:ext cx="4302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s-ES" altLang="es-ES" sz="140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endParaRPr lang="es-ES" altLang="es-E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957" name="28 CuadroTexto">
            <a:extLst>
              <a:ext uri="{FF2B5EF4-FFF2-40B4-BE49-F238E27FC236}">
                <a16:creationId xmlns:a16="http://schemas.microsoft.com/office/drawing/2014/main" id="{515899E8-B586-4794-BBEA-B41D4B3D9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1025" y="4064000"/>
            <a:ext cx="568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s-ES" altLang="es-ES" sz="1600">
                <a:latin typeface="Courier New" panose="02070309020205020404" pitchFamily="49" charset="0"/>
                <a:cs typeface="Courier New" panose="02070309020205020404" pitchFamily="49" charset="0"/>
              </a:rPr>
              <a:t>j1</a:t>
            </a:r>
            <a:endParaRPr lang="es-ES" altLang="es-E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958" name="30 CuadroTexto">
            <a:extLst>
              <a:ext uri="{FF2B5EF4-FFF2-40B4-BE49-F238E27FC236}">
                <a16:creationId xmlns:a16="http://schemas.microsoft.com/office/drawing/2014/main" id="{A91DCCFA-CE0C-4DA6-8ABE-0B442DE9F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8975" y="5508625"/>
            <a:ext cx="569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s-ES" altLang="es-ES" sz="1600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endParaRPr lang="es-ES" altLang="es-E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959" name="31 CuadroTexto">
            <a:extLst>
              <a:ext uri="{FF2B5EF4-FFF2-40B4-BE49-F238E27FC236}">
                <a16:creationId xmlns:a16="http://schemas.microsoft.com/office/drawing/2014/main" id="{A25AF9BA-5099-4CD5-8E33-B56E0133F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0575" y="6197600"/>
            <a:ext cx="1204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/>
              <a:t>Tendencia</a:t>
            </a:r>
          </a:p>
        </p:txBody>
      </p:sp>
      <p:sp>
        <p:nvSpPr>
          <p:cNvPr id="39960" name="32 CuadroTexto">
            <a:extLst>
              <a:ext uri="{FF2B5EF4-FFF2-40B4-BE49-F238E27FC236}">
                <a16:creationId xmlns:a16="http://schemas.microsoft.com/office/drawing/2014/main" id="{E47E0D13-1D82-49C3-8FFD-51D114F09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7313" y="5443538"/>
            <a:ext cx="5699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s-ES" altLang="es-ES" sz="1600">
                <a:latin typeface="Courier New" panose="02070309020205020404" pitchFamily="49" charset="0"/>
                <a:cs typeface="Courier New" panose="02070309020205020404" pitchFamily="49" charset="0"/>
              </a:rPr>
              <a:t>j0</a:t>
            </a:r>
            <a:endParaRPr lang="es-ES" altLang="es-E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961" name="33 CuadroTexto">
            <a:extLst>
              <a:ext uri="{FF2B5EF4-FFF2-40B4-BE49-F238E27FC236}">
                <a16:creationId xmlns:a16="http://schemas.microsoft.com/office/drawing/2014/main" id="{68BC3B1A-984D-4C34-8DEF-9FA27062B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614863"/>
            <a:ext cx="790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/>
              <a:t>Salida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2">
            <a:extLst>
              <a:ext uri="{FF2B5EF4-FFF2-40B4-BE49-F238E27FC236}">
                <a16:creationId xmlns:a16="http://schemas.microsoft.com/office/drawing/2014/main" id="{54044412-6037-49C3-BED8-439C97C37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287665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4101" name="Text Box 3">
            <a:extLst>
              <a:ext uri="{FF2B5EF4-FFF2-40B4-BE49-F238E27FC236}">
                <a16:creationId xmlns:a16="http://schemas.microsoft.com/office/drawing/2014/main" id="{6CFC0190-7758-4AB3-8D39-8D3642900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Función de activación:</a:t>
            </a:r>
            <a:endParaRPr lang="es-ES" altLang="es-ES" sz="2000"/>
          </a:p>
          <a:p>
            <a:pPr lvl="1">
              <a:buFontTx/>
              <a:buChar char="•"/>
            </a:pPr>
            <a:r>
              <a:rPr lang="es-ES" altLang="es-ES" sz="2400"/>
              <a:t> Valor de entrada neto:</a:t>
            </a:r>
          </a:p>
          <a:p>
            <a:pPr lvl="1">
              <a:buFontTx/>
              <a:buChar char="•"/>
            </a:pPr>
            <a:endParaRPr lang="es-ES" altLang="es-ES" sz="2400"/>
          </a:p>
          <a:p>
            <a:pPr lvl="1">
              <a:buFontTx/>
              <a:buChar char="•"/>
            </a:pPr>
            <a:endParaRPr lang="es-ES" altLang="es-ES" sz="2400"/>
          </a:p>
          <a:p>
            <a:pPr lvl="1">
              <a:buFontTx/>
              <a:buChar char="•"/>
            </a:pPr>
            <a:endParaRPr lang="es-ES" altLang="es-ES" sz="2400"/>
          </a:p>
          <a:p>
            <a:pPr lvl="1">
              <a:buFontTx/>
              <a:buChar char="•"/>
            </a:pPr>
            <a:r>
              <a:rPr lang="es-ES" altLang="es-ES" sz="2400"/>
              <a:t> Valor de activación:</a:t>
            </a:r>
          </a:p>
          <a:p>
            <a:pPr lvl="1">
              <a:buFontTx/>
              <a:buChar char="•"/>
            </a:pPr>
            <a:endParaRPr lang="es-ES" altLang="es-ES" sz="2400"/>
          </a:p>
          <a:p>
            <a:pPr lvl="1">
              <a:buFontTx/>
              <a:buChar char="•"/>
            </a:pPr>
            <a:endParaRPr lang="es-ES" altLang="es-ES" sz="2400"/>
          </a:p>
          <a:p>
            <a:pPr lvl="1">
              <a:buFontTx/>
              <a:buChar char="•"/>
            </a:pPr>
            <a:endParaRPr lang="es-ES" altLang="es-ES" sz="2400"/>
          </a:p>
          <a:p>
            <a:pPr>
              <a:buFontTx/>
              <a:buChar char="•"/>
            </a:pPr>
            <a:r>
              <a:rPr lang="es-ES" altLang="es-ES" sz="2400"/>
              <a:t> Función de salida:</a:t>
            </a:r>
          </a:p>
          <a:p>
            <a:pPr lvl="1">
              <a:buFontTx/>
              <a:buChar char="•"/>
            </a:pPr>
            <a:r>
              <a:rPr lang="es-ES" altLang="es-ES" sz="2400"/>
              <a:t> Actúa de limitador de margen dinámico sobre el valor de activación (compresor)</a:t>
            </a:r>
          </a:p>
        </p:txBody>
      </p:sp>
      <p:graphicFrame>
        <p:nvGraphicFramePr>
          <p:cNvPr id="4098" name="Object 5">
            <a:extLst>
              <a:ext uri="{FF2B5EF4-FFF2-40B4-BE49-F238E27FC236}">
                <a16:creationId xmlns:a16="http://schemas.microsoft.com/office/drawing/2014/main" id="{75C5A9BB-65A8-4A6B-B181-84A027508ED6}"/>
              </a:ext>
            </a:extLst>
          </p:cNvPr>
          <p:cNvGraphicFramePr>
            <a:graphicFrameLocks/>
          </p:cNvGraphicFramePr>
          <p:nvPr/>
        </p:nvGraphicFramePr>
        <p:xfrm>
          <a:off x="2713038" y="2927350"/>
          <a:ext cx="266065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104840" imgH="355320" progId="Equation.3">
                  <p:embed/>
                </p:oleObj>
              </mc:Choice>
              <mc:Fallback>
                <p:oleObj name="Ecuación" r:id="rId3" imgW="1104840" imgH="355320" progId="Equation.3">
                  <p:embed/>
                  <p:pic>
                    <p:nvPicPr>
                      <p:cNvPr id="4098" name="Object 5">
                        <a:extLst>
                          <a:ext uri="{FF2B5EF4-FFF2-40B4-BE49-F238E27FC236}">
                            <a16:creationId xmlns:a16="http://schemas.microsoft.com/office/drawing/2014/main" id="{75C5A9BB-65A8-4A6B-B181-84A027508ED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038" y="2927350"/>
                        <a:ext cx="2660650" cy="839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>
            <a:extLst>
              <a:ext uri="{FF2B5EF4-FFF2-40B4-BE49-F238E27FC236}">
                <a16:creationId xmlns:a16="http://schemas.microsoft.com/office/drawing/2014/main" id="{D7D7E849-C0C2-4FE3-820A-601737A7D14C}"/>
              </a:ext>
            </a:extLst>
          </p:cNvPr>
          <p:cNvGraphicFramePr>
            <a:graphicFrameLocks/>
          </p:cNvGraphicFramePr>
          <p:nvPr/>
        </p:nvGraphicFramePr>
        <p:xfrm>
          <a:off x="2449513" y="4483100"/>
          <a:ext cx="36718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523880" imgH="228600" progId="Equation.3">
                  <p:embed/>
                </p:oleObj>
              </mc:Choice>
              <mc:Fallback>
                <p:oleObj name="Ecuación" r:id="rId5" imgW="1523880" imgH="228600" progId="Equation.3">
                  <p:embed/>
                  <p:pic>
                    <p:nvPicPr>
                      <p:cNvPr id="4099" name="Object 6">
                        <a:extLst>
                          <a:ext uri="{FF2B5EF4-FFF2-40B4-BE49-F238E27FC236}">
                            <a16:creationId xmlns:a16="http://schemas.microsoft.com/office/drawing/2014/main" id="{D7D7E849-C0C2-4FE3-820A-601737A7D14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4483100"/>
                        <a:ext cx="3671887" cy="539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3675E7D9-286B-490E-94C1-27B837E1B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330854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954DE7FC-4741-4BAA-B735-98B1223BF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Topología:</a:t>
            </a:r>
          </a:p>
          <a:p>
            <a:pPr lvl="1">
              <a:buFontTx/>
              <a:buChar char="•"/>
            </a:pPr>
            <a:r>
              <a:rPr lang="es-ES" altLang="es-ES" sz="2400"/>
              <a:t> Los elementos de proceso de conectan formando capas</a:t>
            </a:r>
          </a:p>
        </p:txBody>
      </p:sp>
      <p:grpSp>
        <p:nvGrpSpPr>
          <p:cNvPr id="40964" name="Group 52">
            <a:extLst>
              <a:ext uri="{FF2B5EF4-FFF2-40B4-BE49-F238E27FC236}">
                <a16:creationId xmlns:a16="http://schemas.microsoft.com/office/drawing/2014/main" id="{41ADCE68-4C2D-412D-9A37-AA4A2962008B}"/>
              </a:ext>
            </a:extLst>
          </p:cNvPr>
          <p:cNvGrpSpPr>
            <a:grpSpLocks/>
          </p:cNvGrpSpPr>
          <p:nvPr/>
        </p:nvGrpSpPr>
        <p:grpSpPr bwMode="auto">
          <a:xfrm>
            <a:off x="3332163" y="3556000"/>
            <a:ext cx="2784475" cy="1974850"/>
            <a:chOff x="1307" y="2240"/>
            <a:chExt cx="1754" cy="1244"/>
          </a:xfrm>
        </p:grpSpPr>
        <p:sp>
          <p:nvSpPr>
            <p:cNvPr id="40975" name="Oval 6">
              <a:extLst>
                <a:ext uri="{FF2B5EF4-FFF2-40B4-BE49-F238E27FC236}">
                  <a16:creationId xmlns:a16="http://schemas.microsoft.com/office/drawing/2014/main" id="{72230F29-9D52-4699-899C-B2D0D808E3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" y="2587"/>
              <a:ext cx="229" cy="22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40976" name="Oval 7">
              <a:extLst>
                <a:ext uri="{FF2B5EF4-FFF2-40B4-BE49-F238E27FC236}">
                  <a16:creationId xmlns:a16="http://schemas.microsoft.com/office/drawing/2014/main" id="{CD6F58B5-97A6-4ACA-8BB8-450E89863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5" y="2925"/>
              <a:ext cx="229" cy="22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grpSp>
          <p:nvGrpSpPr>
            <p:cNvPr id="40977" name="Group 19">
              <a:extLst>
                <a:ext uri="{FF2B5EF4-FFF2-40B4-BE49-F238E27FC236}">
                  <a16:creationId xmlns:a16="http://schemas.microsoft.com/office/drawing/2014/main" id="{D08C6A83-B23E-49E8-AD16-926742105E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0" y="2240"/>
              <a:ext cx="238" cy="1244"/>
              <a:chOff x="1882" y="2339"/>
              <a:chExt cx="238" cy="1244"/>
            </a:xfrm>
          </p:grpSpPr>
          <p:sp>
            <p:nvSpPr>
              <p:cNvPr id="41012" name="Oval 9">
                <a:extLst>
                  <a:ext uri="{FF2B5EF4-FFF2-40B4-BE49-F238E27FC236}">
                    <a16:creationId xmlns:a16="http://schemas.microsoft.com/office/drawing/2014/main" id="{E4F5E90E-5E3B-4B76-820F-93DBCF154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2" y="2339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1013" name="Oval 10">
                <a:extLst>
                  <a:ext uri="{FF2B5EF4-FFF2-40B4-BE49-F238E27FC236}">
                    <a16:creationId xmlns:a16="http://schemas.microsoft.com/office/drawing/2014/main" id="{CD6076DD-69A3-44CA-8F45-8B10A26C1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2677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1014" name="Oval 11">
                <a:extLst>
                  <a:ext uri="{FF2B5EF4-FFF2-40B4-BE49-F238E27FC236}">
                    <a16:creationId xmlns:a16="http://schemas.microsoft.com/office/drawing/2014/main" id="{9B6F906C-9061-478D-ACB1-B833825A4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3015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1015" name="Oval 12">
                <a:extLst>
                  <a:ext uri="{FF2B5EF4-FFF2-40B4-BE49-F238E27FC236}">
                    <a16:creationId xmlns:a16="http://schemas.microsoft.com/office/drawing/2014/main" id="{BC7FDA2D-2072-4099-B9B2-5DD22E48C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1" y="3354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</p:grpSp>
        <p:grpSp>
          <p:nvGrpSpPr>
            <p:cNvPr id="40978" name="Group 20">
              <a:extLst>
                <a:ext uri="{FF2B5EF4-FFF2-40B4-BE49-F238E27FC236}">
                  <a16:creationId xmlns:a16="http://schemas.microsoft.com/office/drawing/2014/main" id="{48F7F4B5-493E-4803-BDC3-1E71560C63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3" y="2240"/>
              <a:ext cx="238" cy="1244"/>
              <a:chOff x="2558" y="2393"/>
              <a:chExt cx="238" cy="1244"/>
            </a:xfrm>
          </p:grpSpPr>
          <p:sp>
            <p:nvSpPr>
              <p:cNvPr id="41008" name="Oval 15">
                <a:extLst>
                  <a:ext uri="{FF2B5EF4-FFF2-40B4-BE49-F238E27FC236}">
                    <a16:creationId xmlns:a16="http://schemas.microsoft.com/office/drawing/2014/main" id="{E3825588-339A-498C-8FFF-5F2599C10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8" y="2393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1009" name="Oval 16">
                <a:extLst>
                  <a:ext uri="{FF2B5EF4-FFF2-40B4-BE49-F238E27FC236}">
                    <a16:creationId xmlns:a16="http://schemas.microsoft.com/office/drawing/2014/main" id="{EBD70B04-9570-4B3A-AC95-6630B8A9E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6" y="2731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1010" name="Oval 17">
                <a:extLst>
                  <a:ext uri="{FF2B5EF4-FFF2-40B4-BE49-F238E27FC236}">
                    <a16:creationId xmlns:a16="http://schemas.microsoft.com/office/drawing/2014/main" id="{8C1819A3-0E62-4034-99A5-0651A19558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6" y="3069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1011" name="Oval 18">
                <a:extLst>
                  <a:ext uri="{FF2B5EF4-FFF2-40B4-BE49-F238E27FC236}">
                    <a16:creationId xmlns:a16="http://schemas.microsoft.com/office/drawing/2014/main" id="{47D23A37-74F3-42B7-9823-FB270BBCF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" y="3408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</p:grpSp>
        <p:sp>
          <p:nvSpPr>
            <p:cNvPr id="40979" name="Oval 22">
              <a:extLst>
                <a:ext uri="{FF2B5EF4-FFF2-40B4-BE49-F238E27FC236}">
                  <a16:creationId xmlns:a16="http://schemas.microsoft.com/office/drawing/2014/main" id="{0EE032A9-C89C-4506-A7CB-321FBEFC6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751"/>
              <a:ext cx="229" cy="22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40980" name="Line 23">
              <a:extLst>
                <a:ext uri="{FF2B5EF4-FFF2-40B4-BE49-F238E27FC236}">
                  <a16:creationId xmlns:a16="http://schemas.microsoft.com/office/drawing/2014/main" id="{1B83872D-C7FA-4847-9137-66D0956D3B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8" y="2414"/>
              <a:ext cx="292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81" name="Line 24">
              <a:extLst>
                <a:ext uri="{FF2B5EF4-FFF2-40B4-BE49-F238E27FC236}">
                  <a16:creationId xmlns:a16="http://schemas.microsoft.com/office/drawing/2014/main" id="{45EFA07D-C11B-4167-B9C7-553BF303D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97"/>
              <a:ext cx="2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82" name="Line 25">
              <a:extLst>
                <a:ext uri="{FF2B5EF4-FFF2-40B4-BE49-F238E27FC236}">
                  <a16:creationId xmlns:a16="http://schemas.microsoft.com/office/drawing/2014/main" id="{B8892123-0B3F-4553-B34F-792FE1003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97"/>
              <a:ext cx="283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83" name="Line 26">
              <a:extLst>
                <a:ext uri="{FF2B5EF4-FFF2-40B4-BE49-F238E27FC236}">
                  <a16:creationId xmlns:a16="http://schemas.microsoft.com/office/drawing/2014/main" id="{F29DDA02-0400-478B-944D-5C0FC7791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5" y="2725"/>
              <a:ext cx="293" cy="5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84" name="Line 27">
              <a:extLst>
                <a:ext uri="{FF2B5EF4-FFF2-40B4-BE49-F238E27FC236}">
                  <a16:creationId xmlns:a16="http://schemas.microsoft.com/office/drawing/2014/main" id="{20EBDC1A-34A3-471A-90CE-9847C09DE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5" y="3045"/>
              <a:ext cx="284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85" name="Line 28">
              <a:extLst>
                <a:ext uri="{FF2B5EF4-FFF2-40B4-BE49-F238E27FC236}">
                  <a16:creationId xmlns:a16="http://schemas.microsoft.com/office/drawing/2014/main" id="{42383E92-E803-41B8-83BC-C34452EC9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5" y="3045"/>
              <a:ext cx="2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86" name="Line 29">
              <a:extLst>
                <a:ext uri="{FF2B5EF4-FFF2-40B4-BE49-F238E27FC236}">
                  <a16:creationId xmlns:a16="http://schemas.microsoft.com/office/drawing/2014/main" id="{753E1AA6-7EDE-47C3-8497-C77AACA154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5" y="2761"/>
              <a:ext cx="293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87" name="Line 30">
              <a:extLst>
                <a:ext uri="{FF2B5EF4-FFF2-40B4-BE49-F238E27FC236}">
                  <a16:creationId xmlns:a16="http://schemas.microsoft.com/office/drawing/2014/main" id="{EACF1E23-AB94-477D-ACF6-0185A13A92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4" y="2450"/>
              <a:ext cx="293" cy="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88" name="Line 31">
              <a:extLst>
                <a:ext uri="{FF2B5EF4-FFF2-40B4-BE49-F238E27FC236}">
                  <a16:creationId xmlns:a16="http://schemas.microsoft.com/office/drawing/2014/main" id="{3F67BE30-4102-4B64-8FD8-8D7647599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9" y="2368"/>
              <a:ext cx="2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89" name="Line 32">
              <a:extLst>
                <a:ext uri="{FF2B5EF4-FFF2-40B4-BE49-F238E27FC236}">
                  <a16:creationId xmlns:a16="http://schemas.microsoft.com/office/drawing/2014/main" id="{2B5907D1-757E-4F50-9A55-7EE06B3092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377"/>
              <a:ext cx="283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90" name="Line 33">
              <a:extLst>
                <a:ext uri="{FF2B5EF4-FFF2-40B4-BE49-F238E27FC236}">
                  <a16:creationId xmlns:a16="http://schemas.microsoft.com/office/drawing/2014/main" id="{321F67B4-4F4D-4497-9AC1-E553427AB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386"/>
              <a:ext cx="293" cy="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91" name="Line 34">
              <a:extLst>
                <a:ext uri="{FF2B5EF4-FFF2-40B4-BE49-F238E27FC236}">
                  <a16:creationId xmlns:a16="http://schemas.microsoft.com/office/drawing/2014/main" id="{84D17B0A-F562-4DEF-80F6-7190B1386F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386"/>
              <a:ext cx="293" cy="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92" name="Line 35">
              <a:extLst>
                <a:ext uri="{FF2B5EF4-FFF2-40B4-BE49-F238E27FC236}">
                  <a16:creationId xmlns:a16="http://schemas.microsoft.com/office/drawing/2014/main" id="{5DF9ECD7-BE2D-4408-8721-A33C3F3D3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9" y="3374"/>
              <a:ext cx="2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93" name="Line 36">
              <a:extLst>
                <a:ext uri="{FF2B5EF4-FFF2-40B4-BE49-F238E27FC236}">
                  <a16:creationId xmlns:a16="http://schemas.microsoft.com/office/drawing/2014/main" id="{D2F61416-2BB7-4289-B1ED-504A3C491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9" y="3109"/>
              <a:ext cx="311" cy="2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94" name="Line 37">
              <a:extLst>
                <a:ext uri="{FF2B5EF4-FFF2-40B4-BE49-F238E27FC236}">
                  <a16:creationId xmlns:a16="http://schemas.microsoft.com/office/drawing/2014/main" id="{E9FF5D94-460E-4B4C-960C-CE853ADDE2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8" y="2779"/>
              <a:ext cx="320" cy="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95" name="Line 38">
              <a:extLst>
                <a:ext uri="{FF2B5EF4-FFF2-40B4-BE49-F238E27FC236}">
                  <a16:creationId xmlns:a16="http://schemas.microsoft.com/office/drawing/2014/main" id="{A54BE67B-5703-4A2A-BFE9-224538D4DC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7" y="2441"/>
              <a:ext cx="302" cy="9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96" name="Line 39">
              <a:extLst>
                <a:ext uri="{FF2B5EF4-FFF2-40B4-BE49-F238E27FC236}">
                  <a16:creationId xmlns:a16="http://schemas.microsoft.com/office/drawing/2014/main" id="{1043B132-37DE-4B20-85F4-73A069F4F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3054"/>
              <a:ext cx="302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97" name="Line 40">
              <a:extLst>
                <a:ext uri="{FF2B5EF4-FFF2-40B4-BE49-F238E27FC236}">
                  <a16:creationId xmlns:a16="http://schemas.microsoft.com/office/drawing/2014/main" id="{CC72F4B5-EF80-4F81-894E-94DACC687D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7" y="3054"/>
              <a:ext cx="284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98" name="Line 41">
              <a:extLst>
                <a:ext uri="{FF2B5EF4-FFF2-40B4-BE49-F238E27FC236}">
                  <a16:creationId xmlns:a16="http://schemas.microsoft.com/office/drawing/2014/main" id="{572F7BBA-2748-4BE0-A61C-0DB34376BF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7" y="2743"/>
              <a:ext cx="284" cy="3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0999" name="Line 42">
              <a:extLst>
                <a:ext uri="{FF2B5EF4-FFF2-40B4-BE49-F238E27FC236}">
                  <a16:creationId xmlns:a16="http://schemas.microsoft.com/office/drawing/2014/main" id="{FF296D61-54D9-44AF-8B02-0F4BAD47B5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7" y="2441"/>
              <a:ext cx="293" cy="6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1000" name="Line 43">
              <a:extLst>
                <a:ext uri="{FF2B5EF4-FFF2-40B4-BE49-F238E27FC236}">
                  <a16:creationId xmlns:a16="http://schemas.microsoft.com/office/drawing/2014/main" id="{CDC1D75F-17BF-4F36-81BC-5CC0227A3C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9" y="2688"/>
              <a:ext cx="320" cy="6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1001" name="Line 44">
              <a:extLst>
                <a:ext uri="{FF2B5EF4-FFF2-40B4-BE49-F238E27FC236}">
                  <a16:creationId xmlns:a16="http://schemas.microsoft.com/office/drawing/2014/main" id="{C46F6496-30B6-4FD9-8D7B-F66A23E266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688"/>
              <a:ext cx="283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1002" name="Line 45">
              <a:extLst>
                <a:ext uri="{FF2B5EF4-FFF2-40B4-BE49-F238E27FC236}">
                  <a16:creationId xmlns:a16="http://schemas.microsoft.com/office/drawing/2014/main" id="{A0EE5B4A-100A-4502-AA0B-9CEEB9E20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688"/>
              <a:ext cx="283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1003" name="Line 46">
              <a:extLst>
                <a:ext uri="{FF2B5EF4-FFF2-40B4-BE49-F238E27FC236}">
                  <a16:creationId xmlns:a16="http://schemas.microsoft.com/office/drawing/2014/main" id="{8D2983A5-AC6C-4B47-9511-8729E326A0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8" y="2405"/>
              <a:ext cx="293" cy="2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1004" name="Line 47">
              <a:extLst>
                <a:ext uri="{FF2B5EF4-FFF2-40B4-BE49-F238E27FC236}">
                  <a16:creationId xmlns:a16="http://schemas.microsoft.com/office/drawing/2014/main" id="{88B8549C-8FD0-4339-8A3D-D8F90E178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" y="2395"/>
              <a:ext cx="293" cy="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1005" name="Line 48">
              <a:extLst>
                <a:ext uri="{FF2B5EF4-FFF2-40B4-BE49-F238E27FC236}">
                  <a16:creationId xmlns:a16="http://schemas.microsoft.com/office/drawing/2014/main" id="{F9E2A973-D4CC-480A-A524-15159AE47F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9" y="2953"/>
              <a:ext cx="284" cy="4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1006" name="Line 49">
              <a:extLst>
                <a:ext uri="{FF2B5EF4-FFF2-40B4-BE49-F238E27FC236}">
                  <a16:creationId xmlns:a16="http://schemas.microsoft.com/office/drawing/2014/main" id="{1F2E2BA4-82D1-414A-8AE7-7074548DFA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0" y="2907"/>
              <a:ext cx="274" cy="1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1007" name="Line 50">
              <a:extLst>
                <a:ext uri="{FF2B5EF4-FFF2-40B4-BE49-F238E27FC236}">
                  <a16:creationId xmlns:a16="http://schemas.microsoft.com/office/drawing/2014/main" id="{2B9DC2EA-C31F-4B00-9CF0-250630733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9" y="2715"/>
              <a:ext cx="265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</p:grpSp>
      <p:grpSp>
        <p:nvGrpSpPr>
          <p:cNvPr id="5" name="Group 61">
            <a:extLst>
              <a:ext uri="{FF2B5EF4-FFF2-40B4-BE49-F238E27FC236}">
                <a16:creationId xmlns:a16="http://schemas.microsoft.com/office/drawing/2014/main" id="{8064710F-70D4-4F95-BF05-9B25767BE4C8}"/>
              </a:ext>
            </a:extLst>
          </p:cNvPr>
          <p:cNvGrpSpPr>
            <a:grpSpLocks/>
          </p:cNvGrpSpPr>
          <p:nvPr/>
        </p:nvGrpSpPr>
        <p:grpSpPr bwMode="auto">
          <a:xfrm>
            <a:off x="2098675" y="3468688"/>
            <a:ext cx="1674813" cy="2308225"/>
            <a:chOff x="1322" y="2185"/>
            <a:chExt cx="1055" cy="1454"/>
          </a:xfrm>
        </p:grpSpPr>
        <p:sp>
          <p:nvSpPr>
            <p:cNvPr id="40973" name="Text Box 53">
              <a:extLst>
                <a:ext uri="{FF2B5EF4-FFF2-40B4-BE49-F238E27FC236}">
                  <a16:creationId xmlns:a16="http://schemas.microsoft.com/office/drawing/2014/main" id="{5506F702-D10C-4580-A4AA-50644D908D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2" y="2665"/>
              <a:ext cx="690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s-ES" altLang="es-ES" sz="2000"/>
                <a:t>Capa de</a:t>
              </a:r>
            </a:p>
            <a:p>
              <a:pPr eaLnBrk="1" hangingPunct="1"/>
              <a:r>
                <a:rPr lang="es-ES" altLang="es-ES" sz="2000"/>
                <a:t>entrada</a:t>
              </a:r>
            </a:p>
          </p:txBody>
        </p:sp>
        <p:sp>
          <p:nvSpPr>
            <p:cNvPr id="40974" name="Rectangle 56">
              <a:extLst>
                <a:ext uri="{FF2B5EF4-FFF2-40B4-BE49-F238E27FC236}">
                  <a16:creationId xmlns:a16="http://schemas.microsoft.com/office/drawing/2014/main" id="{24E602EA-22F6-4CFF-A828-D410A4898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2185"/>
              <a:ext cx="329" cy="1454"/>
            </a:xfrm>
            <a:prstGeom prst="rect">
              <a:avLst/>
            </a:prstGeom>
            <a:noFill/>
            <a:ln w="25400" algn="ctr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</p:grpSp>
      <p:grpSp>
        <p:nvGrpSpPr>
          <p:cNvPr id="6" name="Group 63">
            <a:extLst>
              <a:ext uri="{FF2B5EF4-FFF2-40B4-BE49-F238E27FC236}">
                <a16:creationId xmlns:a16="http://schemas.microsoft.com/office/drawing/2014/main" id="{BC562668-4BB2-466B-8195-23D1F6A97591}"/>
              </a:ext>
            </a:extLst>
          </p:cNvPr>
          <p:cNvGrpSpPr>
            <a:grpSpLocks/>
          </p:cNvGrpSpPr>
          <p:nvPr/>
        </p:nvGrpSpPr>
        <p:grpSpPr bwMode="auto">
          <a:xfrm>
            <a:off x="5630863" y="3421063"/>
            <a:ext cx="1682750" cy="2308225"/>
            <a:chOff x="3547" y="2155"/>
            <a:chExt cx="1060" cy="1454"/>
          </a:xfrm>
        </p:grpSpPr>
        <p:sp>
          <p:nvSpPr>
            <p:cNvPr id="40971" name="Text Box 54">
              <a:extLst>
                <a:ext uri="{FF2B5EF4-FFF2-40B4-BE49-F238E27FC236}">
                  <a16:creationId xmlns:a16="http://schemas.microsoft.com/office/drawing/2014/main" id="{7BD71D6D-B84D-41CE-87A9-E3B85723E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7" y="2619"/>
              <a:ext cx="690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/>
              <a:r>
                <a:rPr lang="es-ES" altLang="es-ES" sz="2000"/>
                <a:t>Capa de</a:t>
              </a:r>
            </a:p>
            <a:p>
              <a:pPr algn="ctr" eaLnBrk="1" hangingPunct="1"/>
              <a:r>
                <a:rPr lang="es-ES" altLang="es-ES" sz="2000"/>
                <a:t>salida</a:t>
              </a:r>
            </a:p>
          </p:txBody>
        </p:sp>
        <p:sp>
          <p:nvSpPr>
            <p:cNvPr id="40972" name="Rectangle 57">
              <a:extLst>
                <a:ext uri="{FF2B5EF4-FFF2-40B4-BE49-F238E27FC236}">
                  <a16:creationId xmlns:a16="http://schemas.microsoft.com/office/drawing/2014/main" id="{4FD9E913-B1AE-4930-9F24-6CB60E7C4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7" y="2155"/>
              <a:ext cx="329" cy="1454"/>
            </a:xfrm>
            <a:prstGeom prst="rect">
              <a:avLst/>
            </a:prstGeom>
            <a:noFill/>
            <a:ln w="25400" algn="ctr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</p:grpSp>
      <p:grpSp>
        <p:nvGrpSpPr>
          <p:cNvPr id="7" name="Group 62">
            <a:extLst>
              <a:ext uri="{FF2B5EF4-FFF2-40B4-BE49-F238E27FC236}">
                <a16:creationId xmlns:a16="http://schemas.microsoft.com/office/drawing/2014/main" id="{A3F0392A-EF97-49BF-AB35-66A2DD21D458}"/>
              </a:ext>
            </a:extLst>
          </p:cNvPr>
          <p:cNvGrpSpPr>
            <a:grpSpLocks/>
          </p:cNvGrpSpPr>
          <p:nvPr/>
        </p:nvGrpSpPr>
        <p:grpSpPr bwMode="auto">
          <a:xfrm>
            <a:off x="4062413" y="3438525"/>
            <a:ext cx="1335087" cy="3249613"/>
            <a:chOff x="2559" y="2166"/>
            <a:chExt cx="841" cy="2047"/>
          </a:xfrm>
        </p:grpSpPr>
        <p:sp>
          <p:nvSpPr>
            <p:cNvPr id="40968" name="Text Box 55">
              <a:extLst>
                <a:ext uri="{FF2B5EF4-FFF2-40B4-BE49-F238E27FC236}">
                  <a16:creationId xmlns:a16="http://schemas.microsoft.com/office/drawing/2014/main" id="{FE41CB07-43E1-4EA2-BEE4-C299524BF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3771"/>
              <a:ext cx="63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/>
              <a:r>
                <a:rPr lang="es-ES" altLang="es-ES" sz="2000"/>
                <a:t> Capas </a:t>
              </a:r>
            </a:p>
            <a:p>
              <a:pPr algn="ctr" eaLnBrk="1" hangingPunct="1"/>
              <a:r>
                <a:rPr lang="es-ES" altLang="es-ES" sz="2000"/>
                <a:t>ocultas</a:t>
              </a:r>
            </a:p>
          </p:txBody>
        </p:sp>
        <p:sp>
          <p:nvSpPr>
            <p:cNvPr id="40969" name="Rectangle 59">
              <a:extLst>
                <a:ext uri="{FF2B5EF4-FFF2-40B4-BE49-F238E27FC236}">
                  <a16:creationId xmlns:a16="http://schemas.microsoft.com/office/drawing/2014/main" id="{8645521E-0A78-4ECC-86FD-761F5A14E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" y="2175"/>
              <a:ext cx="329" cy="1454"/>
            </a:xfrm>
            <a:prstGeom prst="rect">
              <a:avLst/>
            </a:prstGeom>
            <a:noFill/>
            <a:ln w="25400" algn="ctr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40970" name="Rectangle 60">
              <a:extLst>
                <a:ext uri="{FF2B5EF4-FFF2-40B4-BE49-F238E27FC236}">
                  <a16:creationId xmlns:a16="http://schemas.microsoft.com/office/drawing/2014/main" id="{F4E9DA68-AF81-48F5-963E-AB1DA01C2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" y="2166"/>
              <a:ext cx="329" cy="1454"/>
            </a:xfrm>
            <a:prstGeom prst="rect">
              <a:avLst/>
            </a:prstGeom>
            <a:noFill/>
            <a:ln w="25400" algn="ctr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>
            <a:extLst>
              <a:ext uri="{FF2B5EF4-FFF2-40B4-BE49-F238E27FC236}">
                <a16:creationId xmlns:a16="http://schemas.microsoft.com/office/drawing/2014/main" id="{DB23C5C8-D049-4F68-8625-7E0F4A8C7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331788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32F4BD57-C745-4BD3-93FE-B66B2B0F6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Características:</a:t>
            </a:r>
          </a:p>
          <a:p>
            <a:pPr lvl="1">
              <a:buFontTx/>
              <a:buChar char="•"/>
            </a:pPr>
            <a:r>
              <a:rPr lang="es-ES" altLang="es-ES" sz="2400"/>
              <a:t> Cada capa puede tener un nº de elementos distinto  de las otras</a:t>
            </a:r>
          </a:p>
          <a:p>
            <a:pPr lvl="1">
              <a:buFontTx/>
              <a:buChar char="•"/>
            </a:pPr>
            <a:r>
              <a:rPr lang="es-ES" altLang="es-ES" sz="2400"/>
              <a:t> Puede haber tantas capas como se desee</a:t>
            </a:r>
          </a:p>
          <a:p>
            <a:pPr lvl="2">
              <a:buFontTx/>
              <a:buChar char="•"/>
            </a:pPr>
            <a:r>
              <a:rPr lang="es-ES" altLang="es-ES" sz="2400"/>
              <a:t> A mayor número de capas más complejo puede ser el problema a resolver</a:t>
            </a:r>
          </a:p>
          <a:p>
            <a:pPr lvl="2">
              <a:buFontTx/>
              <a:buChar char="•"/>
            </a:pPr>
            <a:r>
              <a:rPr lang="es-ES" altLang="es-ES" sz="2400"/>
              <a:t> No siempre aumentar el número de capas mejora el resultado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AF977863-A236-44D0-BAA9-B1809C631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566" y="279544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A6662BA0-057B-466C-8993-8B62F39D5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Clasificación en múltiples categorías:</a:t>
            </a:r>
          </a:p>
          <a:p>
            <a:pPr lvl="1">
              <a:buFontTx/>
              <a:buChar char="•"/>
            </a:pPr>
            <a:r>
              <a:rPr lang="es-ES" altLang="es-ES" sz="2400"/>
              <a:t> Dos aproximaciones distintas:</a:t>
            </a:r>
          </a:p>
          <a:p>
            <a:pPr lvl="2">
              <a:buFontTx/>
              <a:buChar char="•"/>
            </a:pPr>
            <a:r>
              <a:rPr lang="es-ES" altLang="es-ES" sz="2400"/>
              <a:t> ACON: </a:t>
            </a:r>
            <a:r>
              <a:rPr lang="es-ES" altLang="es-ES" sz="2400" i="1"/>
              <a:t>All Class in One Network</a:t>
            </a:r>
          </a:p>
          <a:p>
            <a:pPr lvl="3">
              <a:buFontTx/>
              <a:buChar char="•"/>
            </a:pPr>
            <a:r>
              <a:rPr lang="es-ES" altLang="es-ES" sz="2400"/>
              <a:t> Todas las clases en una red</a:t>
            </a:r>
          </a:p>
          <a:p>
            <a:pPr lvl="2">
              <a:buFontTx/>
              <a:buChar char="•"/>
            </a:pPr>
            <a:r>
              <a:rPr lang="es-ES" altLang="es-ES" sz="2400"/>
              <a:t> OCON: </a:t>
            </a:r>
            <a:r>
              <a:rPr lang="es-ES" altLang="es-ES" sz="2400" i="1"/>
              <a:t>One Class in One Network</a:t>
            </a:r>
          </a:p>
          <a:p>
            <a:pPr lvl="3">
              <a:buFontTx/>
              <a:buChar char="•"/>
            </a:pPr>
            <a:r>
              <a:rPr lang="es-ES" altLang="es-ES" sz="2400"/>
              <a:t> Una subred para cada clase</a:t>
            </a:r>
          </a:p>
        </p:txBody>
      </p:sp>
      <p:sp>
        <p:nvSpPr>
          <p:cNvPr id="43012" name="Text Box 5">
            <a:extLst>
              <a:ext uri="{FF2B5EF4-FFF2-40B4-BE49-F238E27FC236}">
                <a16:creationId xmlns:a16="http://schemas.microsoft.com/office/drawing/2014/main" id="{C4E1805B-851B-42E0-980D-3FEDBB3E3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950" y="5116513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 sz="2000"/>
              <a:t>ACON</a:t>
            </a:r>
          </a:p>
        </p:txBody>
      </p:sp>
      <p:sp>
        <p:nvSpPr>
          <p:cNvPr id="43013" name="Text Box 6">
            <a:extLst>
              <a:ext uri="{FF2B5EF4-FFF2-40B4-BE49-F238E27FC236}">
                <a16:creationId xmlns:a16="http://schemas.microsoft.com/office/drawing/2014/main" id="{6EF96507-5182-4B11-9403-778A2A5B0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9763" y="5086350"/>
            <a:ext cx="865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 sz="2000"/>
              <a:t>OCON</a:t>
            </a:r>
          </a:p>
        </p:txBody>
      </p:sp>
      <p:grpSp>
        <p:nvGrpSpPr>
          <p:cNvPr id="43014" name="92 Grupo">
            <a:extLst>
              <a:ext uri="{FF2B5EF4-FFF2-40B4-BE49-F238E27FC236}">
                <a16:creationId xmlns:a16="http://schemas.microsoft.com/office/drawing/2014/main" id="{A176D0C9-C6CD-4604-91DE-32C015AAA14C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4576763"/>
            <a:ext cx="1466850" cy="1489075"/>
            <a:chOff x="2123358" y="4576120"/>
            <a:chExt cx="1466850" cy="1490432"/>
          </a:xfrm>
        </p:grpSpPr>
        <p:sp>
          <p:nvSpPr>
            <p:cNvPr id="43050" name="Oval 6">
              <a:extLst>
                <a:ext uri="{FF2B5EF4-FFF2-40B4-BE49-F238E27FC236}">
                  <a16:creationId xmlns:a16="http://schemas.microsoft.com/office/drawing/2014/main" id="{CCA89667-F8BF-4ED3-A1EE-A5AC236B19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11023" y="4576120"/>
              <a:ext cx="270023" cy="27002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43051" name="Oval 7">
              <a:extLst>
                <a:ext uri="{FF2B5EF4-FFF2-40B4-BE49-F238E27FC236}">
                  <a16:creationId xmlns:a16="http://schemas.microsoft.com/office/drawing/2014/main" id="{E5398307-2A0B-416A-84A5-B7AF9A3391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12474" y="4585554"/>
              <a:ext cx="270023" cy="27002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grpSp>
          <p:nvGrpSpPr>
            <p:cNvPr id="43052" name="Group 19">
              <a:extLst>
                <a:ext uri="{FF2B5EF4-FFF2-40B4-BE49-F238E27FC236}">
                  <a16:creationId xmlns:a16="http://schemas.microsoft.com/office/drawing/2014/main" id="{4324CD6E-F59E-4269-AC32-9CB0B0FB7EC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716465" y="4576120"/>
              <a:ext cx="280635" cy="1466850"/>
              <a:chOff x="1882" y="2339"/>
              <a:chExt cx="238" cy="1244"/>
            </a:xfrm>
          </p:grpSpPr>
          <p:sp>
            <p:nvSpPr>
              <p:cNvPr id="43082" name="Oval 9">
                <a:extLst>
                  <a:ext uri="{FF2B5EF4-FFF2-40B4-BE49-F238E27FC236}">
                    <a16:creationId xmlns:a16="http://schemas.microsoft.com/office/drawing/2014/main" id="{1230E540-5496-417A-A7E1-2F69DE5D4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2" y="2339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3083" name="Oval 10">
                <a:extLst>
                  <a:ext uri="{FF2B5EF4-FFF2-40B4-BE49-F238E27FC236}">
                    <a16:creationId xmlns:a16="http://schemas.microsoft.com/office/drawing/2014/main" id="{C2EC0487-9B3B-47BD-9C71-47D5BAC87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2677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3084" name="Oval 11">
                <a:extLst>
                  <a:ext uri="{FF2B5EF4-FFF2-40B4-BE49-F238E27FC236}">
                    <a16:creationId xmlns:a16="http://schemas.microsoft.com/office/drawing/2014/main" id="{FE4956DA-B609-4331-AEBC-D1ABC158AC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3015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3085" name="Oval 12">
                <a:extLst>
                  <a:ext uri="{FF2B5EF4-FFF2-40B4-BE49-F238E27FC236}">
                    <a16:creationId xmlns:a16="http://schemas.microsoft.com/office/drawing/2014/main" id="{00C290E8-F543-46CC-B8D8-322A5BE6C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1" y="3354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</p:grpSp>
        <p:grpSp>
          <p:nvGrpSpPr>
            <p:cNvPr id="43053" name="Group 20">
              <a:extLst>
                <a:ext uri="{FF2B5EF4-FFF2-40B4-BE49-F238E27FC236}">
                  <a16:creationId xmlns:a16="http://schemas.microsoft.com/office/drawing/2014/main" id="{2FA37CAE-2B9A-415A-B44D-D9322C38149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716465" y="5192810"/>
              <a:ext cx="280635" cy="1466850"/>
              <a:chOff x="2558" y="2393"/>
              <a:chExt cx="238" cy="1244"/>
            </a:xfrm>
          </p:grpSpPr>
          <p:sp>
            <p:nvSpPr>
              <p:cNvPr id="43078" name="Oval 15">
                <a:extLst>
                  <a:ext uri="{FF2B5EF4-FFF2-40B4-BE49-F238E27FC236}">
                    <a16:creationId xmlns:a16="http://schemas.microsoft.com/office/drawing/2014/main" id="{48E33D14-D348-4D94-B632-B0CAAF7E51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8" y="2393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3079" name="Oval 16">
                <a:extLst>
                  <a:ext uri="{FF2B5EF4-FFF2-40B4-BE49-F238E27FC236}">
                    <a16:creationId xmlns:a16="http://schemas.microsoft.com/office/drawing/2014/main" id="{053AA79A-FE7F-4699-927D-E97A893E31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6" y="2731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3080" name="Oval 17">
                <a:extLst>
                  <a:ext uri="{FF2B5EF4-FFF2-40B4-BE49-F238E27FC236}">
                    <a16:creationId xmlns:a16="http://schemas.microsoft.com/office/drawing/2014/main" id="{49B79C14-6D78-417C-87ED-18E5FA0AC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6" y="3069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3081" name="Oval 18">
                <a:extLst>
                  <a:ext uri="{FF2B5EF4-FFF2-40B4-BE49-F238E27FC236}">
                    <a16:creationId xmlns:a16="http://schemas.microsoft.com/office/drawing/2014/main" id="{6AC985BD-56B3-437F-8978-51CC165D61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" y="3408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</p:grpSp>
        <p:sp>
          <p:nvSpPr>
            <p:cNvPr id="43054" name="Line 23">
              <a:extLst>
                <a:ext uri="{FF2B5EF4-FFF2-40B4-BE49-F238E27FC236}">
                  <a16:creationId xmlns:a16="http://schemas.microsoft.com/office/drawing/2014/main" id="{292DE0E3-4FFA-4A44-A255-82B83C070BB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089073" y="4873264"/>
              <a:ext cx="344309" cy="247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55" name="Line 24">
              <a:extLst>
                <a:ext uri="{FF2B5EF4-FFF2-40B4-BE49-F238E27FC236}">
                  <a16:creationId xmlns:a16="http://schemas.microsoft.com/office/drawing/2014/main" id="{CF99D051-FFDE-49DD-B2D0-DF838C1755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84492" y="5012992"/>
              <a:ext cx="3336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56" name="Line 25">
              <a:extLst>
                <a:ext uri="{FF2B5EF4-FFF2-40B4-BE49-F238E27FC236}">
                  <a16:creationId xmlns:a16="http://schemas.microsoft.com/office/drawing/2014/main" id="{DA770056-35AE-47E6-9BBB-2D24CF7B5F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17054" y="4845554"/>
              <a:ext cx="333697" cy="3348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57" name="Line 26">
              <a:extLst>
                <a:ext uri="{FF2B5EF4-FFF2-40B4-BE49-F238E27FC236}">
                  <a16:creationId xmlns:a16="http://schemas.microsoft.com/office/drawing/2014/main" id="{2DAB71DC-1DF0-4DB5-9A34-3771F2646E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511884" y="4695803"/>
              <a:ext cx="345488" cy="667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58" name="Line 27">
              <a:extLst>
                <a:ext uri="{FF2B5EF4-FFF2-40B4-BE49-F238E27FC236}">
                  <a16:creationId xmlns:a16="http://schemas.microsoft.com/office/drawing/2014/main" id="{2A61F694-F9AA-4EC5-906C-4E12F3CF2C1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22632" y="4873264"/>
              <a:ext cx="334876" cy="3018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59" name="Line 28">
              <a:extLst>
                <a:ext uri="{FF2B5EF4-FFF2-40B4-BE49-F238E27FC236}">
                  <a16:creationId xmlns:a16="http://schemas.microsoft.com/office/drawing/2014/main" id="{85809E67-0A84-4C13-BDF6-488E40627FA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79458" y="5018298"/>
              <a:ext cx="3230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60" name="Line 29">
              <a:extLst>
                <a:ext uri="{FF2B5EF4-FFF2-40B4-BE49-F238E27FC236}">
                  <a16:creationId xmlns:a16="http://schemas.microsoft.com/office/drawing/2014/main" id="{5AF88377-1AAA-42B1-8C11-0549B748A3C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635694" y="4862062"/>
              <a:ext cx="345488" cy="3348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61" name="Line 30">
              <a:extLst>
                <a:ext uri="{FF2B5EF4-FFF2-40B4-BE49-F238E27FC236}">
                  <a16:creationId xmlns:a16="http://schemas.microsoft.com/office/drawing/2014/main" id="{15CA47F0-A56C-49A6-80F5-BFF3910F114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819050" y="4689318"/>
              <a:ext cx="345488" cy="70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62" name="Line 31">
              <a:extLst>
                <a:ext uri="{FF2B5EF4-FFF2-40B4-BE49-F238E27FC236}">
                  <a16:creationId xmlns:a16="http://schemas.microsoft.com/office/drawing/2014/main" id="{B22C778B-5907-4EB3-A524-2E0014C98BE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67123" y="5611405"/>
              <a:ext cx="3443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63" name="Line 32">
              <a:extLst>
                <a:ext uri="{FF2B5EF4-FFF2-40B4-BE49-F238E27FC236}">
                  <a16:creationId xmlns:a16="http://schemas.microsoft.com/office/drawing/2014/main" id="{EC10E8A3-3083-4746-AC7E-DC51833CF6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089073" y="5443967"/>
              <a:ext cx="333697" cy="345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64" name="Line 33">
              <a:extLst>
                <a:ext uri="{FF2B5EF4-FFF2-40B4-BE49-F238E27FC236}">
                  <a16:creationId xmlns:a16="http://schemas.microsoft.com/office/drawing/2014/main" id="{62B43D81-EBB6-459E-9480-472D114EDF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94515" y="5271813"/>
              <a:ext cx="345488" cy="70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65" name="Line 34">
              <a:extLst>
                <a:ext uri="{FF2B5EF4-FFF2-40B4-BE49-F238E27FC236}">
                  <a16:creationId xmlns:a16="http://schemas.microsoft.com/office/drawing/2014/main" id="{72658337-699E-4CED-9630-1EA1784952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662814" y="5040112"/>
              <a:ext cx="345488" cy="11649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66" name="Line 35">
              <a:extLst>
                <a:ext uri="{FF2B5EF4-FFF2-40B4-BE49-F238E27FC236}">
                  <a16:creationId xmlns:a16="http://schemas.microsoft.com/office/drawing/2014/main" id="{4BD999F4-6618-47BA-9E4B-20F7558505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080908" y="5611405"/>
              <a:ext cx="3443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67" name="Line 36">
              <a:extLst>
                <a:ext uri="{FF2B5EF4-FFF2-40B4-BE49-F238E27FC236}">
                  <a16:creationId xmlns:a16="http://schemas.microsoft.com/office/drawing/2014/main" id="{6C511CD6-6AC5-4214-932F-DCDF79B89A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225943" y="5466371"/>
              <a:ext cx="366712" cy="3124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68" name="Line 37">
              <a:extLst>
                <a:ext uri="{FF2B5EF4-FFF2-40B4-BE49-F238E27FC236}">
                  <a16:creationId xmlns:a16="http://schemas.microsoft.com/office/drawing/2014/main" id="{CEE845F9-10C7-4998-B467-70D9F7DC61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415195" y="5287731"/>
              <a:ext cx="377325" cy="70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69" name="Line 38">
              <a:extLst>
                <a:ext uri="{FF2B5EF4-FFF2-40B4-BE49-F238E27FC236}">
                  <a16:creationId xmlns:a16="http://schemas.microsoft.com/office/drawing/2014/main" id="{2F6CF154-1235-4CA7-9B48-27D2619A47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625082" y="5088457"/>
              <a:ext cx="356100" cy="1100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70" name="Line 39">
              <a:extLst>
                <a:ext uri="{FF2B5EF4-FFF2-40B4-BE49-F238E27FC236}">
                  <a16:creationId xmlns:a16="http://schemas.microsoft.com/office/drawing/2014/main" id="{F7BF609A-98FF-4641-83CC-09C5E9AC0C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01408" y="5476983"/>
              <a:ext cx="356100" cy="3018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71" name="Line 40">
              <a:extLst>
                <a:ext uri="{FF2B5EF4-FFF2-40B4-BE49-F238E27FC236}">
                  <a16:creationId xmlns:a16="http://schemas.microsoft.com/office/drawing/2014/main" id="{7388DB6A-8A6D-4FD8-9F20-7313E9453C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457644" y="5622607"/>
              <a:ext cx="334876" cy="106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72" name="Line 41">
              <a:extLst>
                <a:ext uri="{FF2B5EF4-FFF2-40B4-BE49-F238E27FC236}">
                  <a16:creationId xmlns:a16="http://schemas.microsoft.com/office/drawing/2014/main" id="{0701DB75-164E-456E-B6F5-594190B42E2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646306" y="5444557"/>
              <a:ext cx="334876" cy="366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73" name="Line 42">
              <a:extLst>
                <a:ext uri="{FF2B5EF4-FFF2-40B4-BE49-F238E27FC236}">
                  <a16:creationId xmlns:a16="http://schemas.microsoft.com/office/drawing/2014/main" id="{7FB33B04-C7A3-4B40-B6EB-056F6A66C37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824356" y="5277119"/>
              <a:ext cx="345488" cy="712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74" name="Line 43">
              <a:extLst>
                <a:ext uri="{FF2B5EF4-FFF2-40B4-BE49-F238E27FC236}">
                  <a16:creationId xmlns:a16="http://schemas.microsoft.com/office/drawing/2014/main" id="{4EEA395B-D4C1-4323-A453-5B6754CC02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517780" y="5272402"/>
              <a:ext cx="377325" cy="7110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75" name="Line 44">
              <a:extLst>
                <a:ext uri="{FF2B5EF4-FFF2-40B4-BE49-F238E27FC236}">
                  <a16:creationId xmlns:a16="http://schemas.microsoft.com/office/drawing/2014/main" id="{D63D7EB5-07E5-4F86-9159-BF34D2D5CB7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06442" y="5428049"/>
              <a:ext cx="333697" cy="377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76" name="Line 45">
              <a:extLst>
                <a:ext uri="{FF2B5EF4-FFF2-40B4-BE49-F238E27FC236}">
                  <a16:creationId xmlns:a16="http://schemas.microsoft.com/office/drawing/2014/main" id="{80DE6639-ADC3-46C9-82A9-A4F8FAFA12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89798" y="5611405"/>
              <a:ext cx="333697" cy="106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77" name="Line 46">
              <a:extLst>
                <a:ext uri="{FF2B5EF4-FFF2-40B4-BE49-F238E27FC236}">
                  <a16:creationId xmlns:a16="http://schemas.microsoft.com/office/drawing/2014/main" id="{82DE9CFE-A458-41FC-80F4-6C4EEE76105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050751" y="5450453"/>
              <a:ext cx="345488" cy="3443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</p:grpSp>
      <p:grpSp>
        <p:nvGrpSpPr>
          <p:cNvPr id="43015" name="93 Grupo">
            <a:extLst>
              <a:ext uri="{FF2B5EF4-FFF2-40B4-BE49-F238E27FC236}">
                <a16:creationId xmlns:a16="http://schemas.microsoft.com/office/drawing/2014/main" id="{8D81D7AA-64D9-472B-A3EC-96DBE012AD75}"/>
              </a:ext>
            </a:extLst>
          </p:cNvPr>
          <p:cNvGrpSpPr>
            <a:grpSpLocks/>
          </p:cNvGrpSpPr>
          <p:nvPr/>
        </p:nvGrpSpPr>
        <p:grpSpPr bwMode="auto">
          <a:xfrm>
            <a:off x="5192713" y="4572000"/>
            <a:ext cx="1466850" cy="1490663"/>
            <a:chOff x="5193129" y="4572079"/>
            <a:chExt cx="1466850" cy="1490432"/>
          </a:xfrm>
        </p:grpSpPr>
        <p:sp>
          <p:nvSpPr>
            <p:cNvPr id="43018" name="Oval 6">
              <a:extLst>
                <a:ext uri="{FF2B5EF4-FFF2-40B4-BE49-F238E27FC236}">
                  <a16:creationId xmlns:a16="http://schemas.microsoft.com/office/drawing/2014/main" id="{85774229-6F29-4970-B7D7-107BF15143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980794" y="4572079"/>
              <a:ext cx="270023" cy="27002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43019" name="Oval 7">
              <a:extLst>
                <a:ext uri="{FF2B5EF4-FFF2-40B4-BE49-F238E27FC236}">
                  <a16:creationId xmlns:a16="http://schemas.microsoft.com/office/drawing/2014/main" id="{14F8ABAB-0A94-428D-BED5-87A06110F40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82245" y="4581513"/>
              <a:ext cx="270023" cy="27002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grpSp>
          <p:nvGrpSpPr>
            <p:cNvPr id="43020" name="Group 19">
              <a:extLst>
                <a:ext uri="{FF2B5EF4-FFF2-40B4-BE49-F238E27FC236}">
                  <a16:creationId xmlns:a16="http://schemas.microsoft.com/office/drawing/2014/main" id="{2812515E-0555-4C4C-9712-873CE3CB6C2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786236" y="4572079"/>
              <a:ext cx="280635" cy="1466850"/>
              <a:chOff x="1882" y="2339"/>
              <a:chExt cx="238" cy="1244"/>
            </a:xfrm>
          </p:grpSpPr>
          <p:sp>
            <p:nvSpPr>
              <p:cNvPr id="43046" name="Oval 9">
                <a:extLst>
                  <a:ext uri="{FF2B5EF4-FFF2-40B4-BE49-F238E27FC236}">
                    <a16:creationId xmlns:a16="http://schemas.microsoft.com/office/drawing/2014/main" id="{68C155BA-A973-447A-A125-7DA297CE1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2" y="2339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3047" name="Oval 10">
                <a:extLst>
                  <a:ext uri="{FF2B5EF4-FFF2-40B4-BE49-F238E27FC236}">
                    <a16:creationId xmlns:a16="http://schemas.microsoft.com/office/drawing/2014/main" id="{1CC54CEA-0844-4109-90FC-025AEFD74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2677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3048" name="Oval 11">
                <a:extLst>
                  <a:ext uri="{FF2B5EF4-FFF2-40B4-BE49-F238E27FC236}">
                    <a16:creationId xmlns:a16="http://schemas.microsoft.com/office/drawing/2014/main" id="{07679E50-9E79-4B60-BF8A-53BA990A27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3015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3049" name="Oval 12">
                <a:extLst>
                  <a:ext uri="{FF2B5EF4-FFF2-40B4-BE49-F238E27FC236}">
                    <a16:creationId xmlns:a16="http://schemas.microsoft.com/office/drawing/2014/main" id="{4A6C51AF-DFF7-4A6C-924B-0FF8870A92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1" y="3354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</p:grpSp>
        <p:grpSp>
          <p:nvGrpSpPr>
            <p:cNvPr id="43021" name="Group 20">
              <a:extLst>
                <a:ext uri="{FF2B5EF4-FFF2-40B4-BE49-F238E27FC236}">
                  <a16:creationId xmlns:a16="http://schemas.microsoft.com/office/drawing/2014/main" id="{9F9442A2-3E9C-4E47-84B1-0BD82A1EDAD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786236" y="5188769"/>
              <a:ext cx="280635" cy="1466850"/>
              <a:chOff x="2558" y="2393"/>
              <a:chExt cx="238" cy="1244"/>
            </a:xfrm>
          </p:grpSpPr>
          <p:sp>
            <p:nvSpPr>
              <p:cNvPr id="43042" name="Oval 15">
                <a:extLst>
                  <a:ext uri="{FF2B5EF4-FFF2-40B4-BE49-F238E27FC236}">
                    <a16:creationId xmlns:a16="http://schemas.microsoft.com/office/drawing/2014/main" id="{A6632432-6245-4E63-8B45-1A5673627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8" y="2393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3043" name="Oval 16">
                <a:extLst>
                  <a:ext uri="{FF2B5EF4-FFF2-40B4-BE49-F238E27FC236}">
                    <a16:creationId xmlns:a16="http://schemas.microsoft.com/office/drawing/2014/main" id="{032FD3DB-084A-446A-8BBB-DE4549172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6" y="2731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3044" name="Oval 17">
                <a:extLst>
                  <a:ext uri="{FF2B5EF4-FFF2-40B4-BE49-F238E27FC236}">
                    <a16:creationId xmlns:a16="http://schemas.microsoft.com/office/drawing/2014/main" id="{ADF0F775-C316-409B-9E42-4390ADA96E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6" y="3069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43045" name="Oval 18">
                <a:extLst>
                  <a:ext uri="{FF2B5EF4-FFF2-40B4-BE49-F238E27FC236}">
                    <a16:creationId xmlns:a16="http://schemas.microsoft.com/office/drawing/2014/main" id="{71872C5C-ED9E-4AD6-8286-3F7C4B8FE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" y="3408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</p:grpSp>
        <p:sp>
          <p:nvSpPr>
            <p:cNvPr id="43022" name="Line 23">
              <a:extLst>
                <a:ext uri="{FF2B5EF4-FFF2-40B4-BE49-F238E27FC236}">
                  <a16:creationId xmlns:a16="http://schemas.microsoft.com/office/drawing/2014/main" id="{FB4896B3-397D-4B05-9EE7-FFA9E818F4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158844" y="4869223"/>
              <a:ext cx="344309" cy="247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23" name="Line 24">
              <a:extLst>
                <a:ext uri="{FF2B5EF4-FFF2-40B4-BE49-F238E27FC236}">
                  <a16:creationId xmlns:a16="http://schemas.microsoft.com/office/drawing/2014/main" id="{4C20C20A-F7FD-4808-9107-73262D6EE9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954263" y="5008951"/>
              <a:ext cx="3336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24" name="Line 27">
              <a:extLst>
                <a:ext uri="{FF2B5EF4-FFF2-40B4-BE49-F238E27FC236}">
                  <a16:creationId xmlns:a16="http://schemas.microsoft.com/office/drawing/2014/main" id="{FD1DCCBE-8023-4DE1-99C0-A061E227953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392403" y="4869223"/>
              <a:ext cx="334876" cy="3018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25" name="Line 28">
              <a:extLst>
                <a:ext uri="{FF2B5EF4-FFF2-40B4-BE49-F238E27FC236}">
                  <a16:creationId xmlns:a16="http://schemas.microsoft.com/office/drawing/2014/main" id="{D1B01A33-DC5F-4C5B-89A2-82CC1BC3F58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549229" y="5014257"/>
              <a:ext cx="3230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26" name="Line 31">
              <a:extLst>
                <a:ext uri="{FF2B5EF4-FFF2-40B4-BE49-F238E27FC236}">
                  <a16:creationId xmlns:a16="http://schemas.microsoft.com/office/drawing/2014/main" id="{9E370A8D-9B31-4BBA-A29D-D000FFD8CF8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336894" y="5607364"/>
              <a:ext cx="3443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27" name="Line 32">
              <a:extLst>
                <a:ext uri="{FF2B5EF4-FFF2-40B4-BE49-F238E27FC236}">
                  <a16:creationId xmlns:a16="http://schemas.microsoft.com/office/drawing/2014/main" id="{060E8A35-59B9-42CB-8C8E-0222638141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58844" y="5439926"/>
              <a:ext cx="333697" cy="345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28" name="Line 33">
              <a:extLst>
                <a:ext uri="{FF2B5EF4-FFF2-40B4-BE49-F238E27FC236}">
                  <a16:creationId xmlns:a16="http://schemas.microsoft.com/office/drawing/2014/main" id="{651C1C2D-7ED1-4C60-AA22-FE41592C72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964286" y="5267772"/>
              <a:ext cx="345488" cy="70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29" name="Line 34">
              <a:extLst>
                <a:ext uri="{FF2B5EF4-FFF2-40B4-BE49-F238E27FC236}">
                  <a16:creationId xmlns:a16="http://schemas.microsoft.com/office/drawing/2014/main" id="{3471C815-3D8A-4DF5-8E73-FA5A2B09175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732585" y="5036071"/>
              <a:ext cx="345488" cy="11649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30" name="Line 35">
              <a:extLst>
                <a:ext uri="{FF2B5EF4-FFF2-40B4-BE49-F238E27FC236}">
                  <a16:creationId xmlns:a16="http://schemas.microsoft.com/office/drawing/2014/main" id="{CFD5C12C-4D9F-461A-86EE-BA79CAAF94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50679" y="5607364"/>
              <a:ext cx="3443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31" name="Line 36">
              <a:extLst>
                <a:ext uri="{FF2B5EF4-FFF2-40B4-BE49-F238E27FC236}">
                  <a16:creationId xmlns:a16="http://schemas.microsoft.com/office/drawing/2014/main" id="{861C7727-47F3-4849-8CCE-FA2B645E4A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295714" y="5462330"/>
              <a:ext cx="366712" cy="3124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32" name="Line 37">
              <a:extLst>
                <a:ext uri="{FF2B5EF4-FFF2-40B4-BE49-F238E27FC236}">
                  <a16:creationId xmlns:a16="http://schemas.microsoft.com/office/drawing/2014/main" id="{7E2C0866-AC90-45C9-8267-E20CAAFAD3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484966" y="5283690"/>
              <a:ext cx="377325" cy="70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33" name="Line 38">
              <a:extLst>
                <a:ext uri="{FF2B5EF4-FFF2-40B4-BE49-F238E27FC236}">
                  <a16:creationId xmlns:a16="http://schemas.microsoft.com/office/drawing/2014/main" id="{8EB24804-6C54-4FE2-AAE7-48DD3772FB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694853" y="5084416"/>
              <a:ext cx="356100" cy="1100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34" name="Line 39">
              <a:extLst>
                <a:ext uri="{FF2B5EF4-FFF2-40B4-BE49-F238E27FC236}">
                  <a16:creationId xmlns:a16="http://schemas.microsoft.com/office/drawing/2014/main" id="{79FF0EB8-577B-45E7-9E2D-0947C693BC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371179" y="5472942"/>
              <a:ext cx="356100" cy="3018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35" name="Line 40">
              <a:extLst>
                <a:ext uri="{FF2B5EF4-FFF2-40B4-BE49-F238E27FC236}">
                  <a16:creationId xmlns:a16="http://schemas.microsoft.com/office/drawing/2014/main" id="{195BC05D-AC6E-4074-953A-034F57E37F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527415" y="5618566"/>
              <a:ext cx="334876" cy="106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36" name="Line 41">
              <a:extLst>
                <a:ext uri="{FF2B5EF4-FFF2-40B4-BE49-F238E27FC236}">
                  <a16:creationId xmlns:a16="http://schemas.microsoft.com/office/drawing/2014/main" id="{2F8A96D2-DB0F-410C-A9E7-2D66351BC1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716077" y="5440516"/>
              <a:ext cx="334876" cy="366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37" name="Line 42">
              <a:extLst>
                <a:ext uri="{FF2B5EF4-FFF2-40B4-BE49-F238E27FC236}">
                  <a16:creationId xmlns:a16="http://schemas.microsoft.com/office/drawing/2014/main" id="{385F6FBB-E03F-48AD-93E8-9A72B3C7F2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894127" y="5273078"/>
              <a:ext cx="345488" cy="712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38" name="Line 43">
              <a:extLst>
                <a:ext uri="{FF2B5EF4-FFF2-40B4-BE49-F238E27FC236}">
                  <a16:creationId xmlns:a16="http://schemas.microsoft.com/office/drawing/2014/main" id="{50D93A04-CD35-4458-AE8C-71B9635A2E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587551" y="5268361"/>
              <a:ext cx="377325" cy="7110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39" name="Line 44">
              <a:extLst>
                <a:ext uri="{FF2B5EF4-FFF2-40B4-BE49-F238E27FC236}">
                  <a16:creationId xmlns:a16="http://schemas.microsoft.com/office/drawing/2014/main" id="{308F739D-6377-49C3-8190-D8FB9DEFB4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776213" y="5424008"/>
              <a:ext cx="333697" cy="377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40" name="Line 45">
              <a:extLst>
                <a:ext uri="{FF2B5EF4-FFF2-40B4-BE49-F238E27FC236}">
                  <a16:creationId xmlns:a16="http://schemas.microsoft.com/office/drawing/2014/main" id="{15CF3C0D-D0AD-4246-9B8F-22567E086C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959569" y="5607364"/>
              <a:ext cx="333697" cy="106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43041" name="Line 46">
              <a:extLst>
                <a:ext uri="{FF2B5EF4-FFF2-40B4-BE49-F238E27FC236}">
                  <a16:creationId xmlns:a16="http://schemas.microsoft.com/office/drawing/2014/main" id="{9DA0DCC6-7106-43DE-8B4F-025422AF400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120522" y="5446412"/>
              <a:ext cx="345488" cy="3443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</p:grpSp>
      <p:sp>
        <p:nvSpPr>
          <p:cNvPr id="43016" name="90 CuadroTexto">
            <a:extLst>
              <a:ext uri="{FF2B5EF4-FFF2-40B4-BE49-F238E27FC236}">
                <a16:creationId xmlns:a16="http://schemas.microsoft.com/office/drawing/2014/main" id="{13C2CEB9-47E3-4764-B607-0BAE56ED5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7488" y="6226175"/>
            <a:ext cx="1325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/>
              <a:t>2 Subredes</a:t>
            </a:r>
          </a:p>
        </p:txBody>
      </p:sp>
      <p:sp>
        <p:nvSpPr>
          <p:cNvPr id="43017" name="91 CuadroTexto">
            <a:extLst>
              <a:ext uri="{FF2B5EF4-FFF2-40B4-BE49-F238E27FC236}">
                <a16:creationId xmlns:a16="http://schemas.microsoft.com/office/drawing/2014/main" id="{7E9E7DAC-DACD-4313-A6BE-501912012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6262688"/>
            <a:ext cx="1495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/>
              <a:t>1 Red entera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56684-6760-B862-2B0E-C0F0582A4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>
            <a:extLst>
              <a:ext uri="{FF2B5EF4-FFF2-40B4-BE49-F238E27FC236}">
                <a16:creationId xmlns:a16="http://schemas.microsoft.com/office/drawing/2014/main" id="{88675D45-95AF-DE6F-A591-87107A5BD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274638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477187" name="Text Box 3">
            <a:extLst>
              <a:ext uri="{FF2B5EF4-FFF2-40B4-BE49-F238E27FC236}">
                <a16:creationId xmlns:a16="http://schemas.microsoft.com/office/drawing/2014/main" id="{96A10E17-D418-C239-931A-1E032E21A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81" y="1027779"/>
            <a:ext cx="80613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 dirty="0"/>
              <a:t> Clasificación según el número de conexiones:</a:t>
            </a:r>
          </a:p>
          <a:p>
            <a:pPr lvl="1">
              <a:buFontTx/>
              <a:buChar char="•"/>
            </a:pPr>
            <a:r>
              <a:rPr lang="es-ES" altLang="es-ES" sz="2400" dirty="0"/>
              <a:t> Redes Totalmente Conectadas</a:t>
            </a:r>
          </a:p>
          <a:p>
            <a:pPr lvl="1">
              <a:buFontTx/>
              <a:buChar char="•"/>
            </a:pPr>
            <a:r>
              <a:rPr lang="es-ES" altLang="es-ES" sz="2400" dirty="0"/>
              <a:t> Redes Localmente Conectadas</a:t>
            </a:r>
          </a:p>
          <a:p>
            <a:endParaRPr lang="es-ES" altLang="es-ES" sz="2400" dirty="0"/>
          </a:p>
        </p:txBody>
      </p:sp>
      <p:pic>
        <p:nvPicPr>
          <p:cNvPr id="4098" name="Picture 2" descr="La Red Neuronal Totalmente Conectada: Un Enfoque Innovador en el  Aprendizaje Automático - Jacar">
            <a:extLst>
              <a:ext uri="{FF2B5EF4-FFF2-40B4-BE49-F238E27FC236}">
                <a16:creationId xmlns:a16="http://schemas.microsoft.com/office/drawing/2014/main" id="{5F12AF05-E075-6056-D2F7-294E40801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88" y="2373872"/>
            <a:ext cx="7026294" cy="3773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687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>
            <a:extLst>
              <a:ext uri="{FF2B5EF4-FFF2-40B4-BE49-F238E27FC236}">
                <a16:creationId xmlns:a16="http://schemas.microsoft.com/office/drawing/2014/main" id="{4E328F30-0512-44A4-BCC0-B9F977FB0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274638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477187" name="Text Box 3">
            <a:extLst>
              <a:ext uri="{FF2B5EF4-FFF2-40B4-BE49-F238E27FC236}">
                <a16:creationId xmlns:a16="http://schemas.microsoft.com/office/drawing/2014/main" id="{C1103CDC-248F-4BE2-A926-5D62D0A57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7" y="796720"/>
            <a:ext cx="8061325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 dirty="0"/>
              <a:t> Clasificación según se transmite la información:</a:t>
            </a:r>
          </a:p>
          <a:p>
            <a:pPr lvl="1">
              <a:buFontTx/>
              <a:buChar char="•"/>
            </a:pPr>
            <a:r>
              <a:rPr lang="es-ES" altLang="es-ES" sz="2400" dirty="0"/>
              <a:t> Redes </a:t>
            </a:r>
            <a:r>
              <a:rPr lang="es-ES" altLang="es-ES" sz="2400" i="1" dirty="0" err="1"/>
              <a:t>Feedforward</a:t>
            </a:r>
            <a:r>
              <a:rPr lang="es-ES" altLang="es-ES" sz="2400" dirty="0"/>
              <a:t>: Las salidas de la capa i solo se conectan a las entradas de la capa i+1</a:t>
            </a:r>
          </a:p>
          <a:p>
            <a:pPr lvl="1">
              <a:buFontTx/>
              <a:buChar char="•"/>
            </a:pPr>
            <a:r>
              <a:rPr lang="es-ES" altLang="es-ES" sz="2400" dirty="0"/>
              <a:t> Redes </a:t>
            </a:r>
            <a:r>
              <a:rPr lang="es-ES" altLang="es-ES" sz="2400" i="1" dirty="0" err="1"/>
              <a:t>Feedbackward</a:t>
            </a:r>
            <a:r>
              <a:rPr lang="es-ES" altLang="es-ES" sz="2400" dirty="0"/>
              <a:t>: las salidas de una capa pueden ser entradas de capas anteriores</a:t>
            </a:r>
          </a:p>
          <a:p>
            <a:pPr lvl="2">
              <a:buFontTx/>
              <a:buChar char="•"/>
            </a:pPr>
            <a:r>
              <a:rPr lang="es-ES" altLang="es-ES" sz="2400" dirty="0"/>
              <a:t> Redes recurrentes: puede haber lazos cerrados</a:t>
            </a:r>
          </a:p>
          <a:p>
            <a:pPr lvl="1">
              <a:buFontTx/>
              <a:buChar char="•"/>
            </a:pPr>
            <a:r>
              <a:rPr lang="es-ES" altLang="es-ES" sz="2400" dirty="0"/>
              <a:t> Redes </a:t>
            </a:r>
            <a:r>
              <a:rPr lang="es-ES" altLang="es-ES" sz="2400" i="1" dirty="0" err="1"/>
              <a:t>Feedlateral</a:t>
            </a:r>
            <a:r>
              <a:rPr lang="es-ES" altLang="es-ES" sz="2400" dirty="0"/>
              <a:t>: Las salidas de una capa pueden ser entradas de esa misma capa </a:t>
            </a:r>
          </a:p>
        </p:txBody>
      </p:sp>
      <p:pic>
        <p:nvPicPr>
          <p:cNvPr id="5122" name="Picture 2" descr="Redes neuronales feedforward">
            <a:extLst>
              <a:ext uri="{FF2B5EF4-FFF2-40B4-BE49-F238E27FC236}">
                <a16:creationId xmlns:a16="http://schemas.microsoft.com/office/drawing/2014/main" id="{A20BDAEE-72A8-3816-89A2-5768E311D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375" y="3865254"/>
            <a:ext cx="5112774" cy="2875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D4986E9-BAB3-AAD2-5BE5-DC8B55F29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570" y="3919644"/>
            <a:ext cx="4550450" cy="2938356"/>
          </a:xfrm>
          <a:prstGeom prst="rect">
            <a:avLst/>
          </a:prstGeom>
        </p:spPr>
      </p:pic>
      <p:pic>
        <p:nvPicPr>
          <p:cNvPr id="6" name="Imagen 5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7F721D69-096A-4EF0-506A-68084FF731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424" y="3748443"/>
            <a:ext cx="5742039" cy="2952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F105983A-9535-4589-9A88-3ECC5B247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6" y="384037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C4D2B43D-B89F-480D-BA25-E8EAC2C39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Aprendizaje automático:</a:t>
            </a:r>
          </a:p>
        </p:txBody>
      </p:sp>
      <p:sp>
        <p:nvSpPr>
          <p:cNvPr id="46084" name="Text Box 5">
            <a:extLst>
              <a:ext uri="{FF2B5EF4-FFF2-40B4-BE49-F238E27FC236}">
                <a16:creationId xmlns:a16="http://schemas.microsoft.com/office/drawing/2014/main" id="{68590837-F5AD-4940-8B2F-010B71AC1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475" y="5575300"/>
            <a:ext cx="6691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 sz="2400"/>
              <a:t>Estructura general de un sistema de aprendizaje</a:t>
            </a:r>
          </a:p>
        </p:txBody>
      </p:sp>
      <p:sp>
        <p:nvSpPr>
          <p:cNvPr id="46085" name="5 Rectángulo">
            <a:extLst>
              <a:ext uri="{FF2B5EF4-FFF2-40B4-BE49-F238E27FC236}">
                <a16:creationId xmlns:a16="http://schemas.microsoft.com/office/drawing/2014/main" id="{07059A21-C9EB-457A-B175-4181E65A2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538" y="2903538"/>
            <a:ext cx="1682750" cy="10874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s-ES" altLang="es-ES"/>
              <a:t>Sistema</a:t>
            </a:r>
          </a:p>
          <a:p>
            <a:pPr algn="ctr" eaLnBrk="1" hangingPunct="1"/>
            <a:r>
              <a:rPr lang="es-ES" altLang="es-ES"/>
              <a:t>adaptativo</a:t>
            </a:r>
          </a:p>
        </p:txBody>
      </p:sp>
      <p:sp>
        <p:nvSpPr>
          <p:cNvPr id="46086" name="6 Rectángulo">
            <a:extLst>
              <a:ext uri="{FF2B5EF4-FFF2-40B4-BE49-F238E27FC236}">
                <a16:creationId xmlns:a16="http://schemas.microsoft.com/office/drawing/2014/main" id="{F43B6161-60A3-4343-9F2E-DDF0B2CF9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600" y="4746625"/>
            <a:ext cx="1684338" cy="5873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s-ES" altLang="es-ES"/>
              <a:t>Comparador</a:t>
            </a:r>
          </a:p>
        </p:txBody>
      </p:sp>
      <p:cxnSp>
        <p:nvCxnSpPr>
          <p:cNvPr id="46087" name="8 Conector recto de flecha">
            <a:extLst>
              <a:ext uri="{FF2B5EF4-FFF2-40B4-BE49-F238E27FC236}">
                <a16:creationId xmlns:a16="http://schemas.microsoft.com/office/drawing/2014/main" id="{D831B6C2-14B2-40A7-8074-31870F92FDDA}"/>
              </a:ext>
            </a:extLst>
          </p:cNvPr>
          <p:cNvCxnSpPr>
            <a:cxnSpLocks noChangeShapeType="1"/>
            <a:endCxn id="46085" idx="1"/>
          </p:cNvCxnSpPr>
          <p:nvPr/>
        </p:nvCxnSpPr>
        <p:spPr bwMode="auto">
          <a:xfrm>
            <a:off x="2771775" y="3440113"/>
            <a:ext cx="1147763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46088" name="11 CuadroTexto">
            <a:extLst>
              <a:ext uri="{FF2B5EF4-FFF2-40B4-BE49-F238E27FC236}">
                <a16:creationId xmlns:a16="http://schemas.microsoft.com/office/drawing/2014/main" id="{F725FAFE-7517-4C46-A5EB-CEC66574C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8" y="3236913"/>
            <a:ext cx="971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/>
              <a:t>Entrada</a:t>
            </a:r>
          </a:p>
        </p:txBody>
      </p:sp>
      <p:sp>
        <p:nvSpPr>
          <p:cNvPr id="46089" name="13 CuadroTexto">
            <a:extLst>
              <a:ext uri="{FF2B5EF4-FFF2-40B4-BE49-F238E27FC236}">
                <a16:creationId xmlns:a16="http://schemas.microsoft.com/office/drawing/2014/main" id="{A613E359-CAA8-4B69-A1F6-78BE06D03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6463" y="3236913"/>
            <a:ext cx="792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/>
              <a:t>Salida</a:t>
            </a:r>
          </a:p>
        </p:txBody>
      </p:sp>
      <p:cxnSp>
        <p:nvCxnSpPr>
          <p:cNvPr id="46090" name="19 Conector angular">
            <a:extLst>
              <a:ext uri="{FF2B5EF4-FFF2-40B4-BE49-F238E27FC236}">
                <a16:creationId xmlns:a16="http://schemas.microsoft.com/office/drawing/2014/main" id="{24ABBE45-FD86-4CB1-8F8F-748C350FA50B}"/>
              </a:ext>
            </a:extLst>
          </p:cNvPr>
          <p:cNvCxnSpPr>
            <a:cxnSpLocks noChangeShapeType="1"/>
            <a:stCxn id="46086" idx="0"/>
            <a:endCxn id="46085" idx="2"/>
          </p:cNvCxnSpPr>
          <p:nvPr/>
        </p:nvCxnSpPr>
        <p:spPr bwMode="auto">
          <a:xfrm rot="5400000" flipH="1" flipV="1">
            <a:off x="4379119" y="4364831"/>
            <a:ext cx="755650" cy="7938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6091" name="21 Forma">
            <a:extLst>
              <a:ext uri="{FF2B5EF4-FFF2-40B4-BE49-F238E27FC236}">
                <a16:creationId xmlns:a16="http://schemas.microsoft.com/office/drawing/2014/main" id="{433CEA2A-E2F7-453A-904C-1F3AE898C857}"/>
              </a:ext>
            </a:extLst>
          </p:cNvPr>
          <p:cNvCxnSpPr>
            <a:cxnSpLocks noChangeShapeType="1"/>
            <a:endCxn id="46086" idx="1"/>
          </p:cNvCxnSpPr>
          <p:nvPr/>
        </p:nvCxnSpPr>
        <p:spPr bwMode="auto">
          <a:xfrm rot="16200000" flipH="1">
            <a:off x="2737643" y="3866357"/>
            <a:ext cx="1585913" cy="76200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6092" name="23 Conector recto de flecha">
            <a:extLst>
              <a:ext uri="{FF2B5EF4-FFF2-40B4-BE49-F238E27FC236}">
                <a16:creationId xmlns:a16="http://schemas.microsoft.com/office/drawing/2014/main" id="{C5E1461A-52F6-45CF-BC2F-6095529FDAB7}"/>
              </a:ext>
            </a:extLst>
          </p:cNvPr>
          <p:cNvCxnSpPr>
            <a:cxnSpLocks noChangeShapeType="1"/>
            <a:stCxn id="46085" idx="3"/>
          </p:cNvCxnSpPr>
          <p:nvPr/>
        </p:nvCxnSpPr>
        <p:spPr bwMode="auto">
          <a:xfrm>
            <a:off x="5602288" y="3446463"/>
            <a:ext cx="1597025" cy="79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6093" name="25 Forma">
            <a:extLst>
              <a:ext uri="{FF2B5EF4-FFF2-40B4-BE49-F238E27FC236}">
                <a16:creationId xmlns:a16="http://schemas.microsoft.com/office/drawing/2014/main" id="{95992D06-CB02-47DD-8B96-4D568B24B60C}"/>
              </a:ext>
            </a:extLst>
          </p:cNvPr>
          <p:cNvCxnSpPr>
            <a:cxnSpLocks noChangeShapeType="1"/>
            <a:endCxn id="46086" idx="3"/>
          </p:cNvCxnSpPr>
          <p:nvPr/>
        </p:nvCxnSpPr>
        <p:spPr bwMode="auto">
          <a:xfrm rot="5400000">
            <a:off x="5168900" y="3881438"/>
            <a:ext cx="1585913" cy="731837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>
            <a:extLst>
              <a:ext uri="{FF2B5EF4-FFF2-40B4-BE49-F238E27FC236}">
                <a16:creationId xmlns:a16="http://schemas.microsoft.com/office/drawing/2014/main" id="{DF44F4E4-9EA4-49D5-A759-966FF040F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412750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2173B3AC-55D8-461D-9B76-1DCD917B7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Tipos de aprendizaje:</a:t>
            </a:r>
          </a:p>
          <a:p>
            <a:pPr lvl="1">
              <a:buFontTx/>
              <a:buChar char="•"/>
            </a:pPr>
            <a:r>
              <a:rPr lang="es-ES" altLang="es-ES" sz="2400"/>
              <a:t> Supervisado</a:t>
            </a:r>
          </a:p>
          <a:p>
            <a:pPr lvl="1">
              <a:buFontTx/>
              <a:buChar char="•"/>
            </a:pPr>
            <a:r>
              <a:rPr lang="es-ES" altLang="es-ES" sz="2400"/>
              <a:t> No supervisado</a:t>
            </a:r>
          </a:p>
          <a:p>
            <a:pPr>
              <a:buFontTx/>
              <a:buChar char="•"/>
            </a:pPr>
            <a:endParaRPr lang="es-ES" altLang="es-ES" sz="2400"/>
          </a:p>
          <a:p>
            <a:pPr>
              <a:buFontTx/>
              <a:buChar char="•"/>
            </a:pPr>
            <a:r>
              <a:rPr lang="es-ES" altLang="es-ES" sz="2400"/>
              <a:t> Aprendizaje supervisado: Necesita de un “profesor” que enseñe a la red</a:t>
            </a:r>
          </a:p>
          <a:p>
            <a:pPr lvl="1">
              <a:buFontTx/>
              <a:buChar char="•"/>
            </a:pPr>
            <a:r>
              <a:rPr lang="es-ES" altLang="es-ES" sz="2400"/>
              <a:t> Por corrección de errores</a:t>
            </a:r>
          </a:p>
          <a:p>
            <a:pPr lvl="1">
              <a:buFontTx/>
              <a:buChar char="•"/>
            </a:pPr>
            <a:r>
              <a:rPr lang="es-ES" altLang="es-ES" sz="2400"/>
              <a:t> Por refuerzo</a:t>
            </a:r>
          </a:p>
          <a:p>
            <a:pPr lvl="1">
              <a:buFontTx/>
              <a:buChar char="•"/>
            </a:pPr>
            <a:r>
              <a:rPr lang="es-ES" altLang="es-ES" sz="2400"/>
              <a:t> Estocástico</a:t>
            </a:r>
          </a:p>
          <a:p>
            <a:pPr lvl="1">
              <a:buFontTx/>
              <a:buChar char="•"/>
            </a:pPr>
            <a:endParaRPr lang="es-ES" altLang="es-ES" sz="2400"/>
          </a:p>
          <a:p>
            <a:pPr>
              <a:buFontTx/>
              <a:buChar char="•"/>
            </a:pPr>
            <a:r>
              <a:rPr lang="es-ES" altLang="es-ES" sz="2400"/>
              <a:t> Aprendizaje no supervisado: No se necesita de intervención exterior para aprender.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>
            <a:extLst>
              <a:ext uri="{FF2B5EF4-FFF2-40B4-BE49-F238E27FC236}">
                <a16:creationId xmlns:a16="http://schemas.microsoft.com/office/drawing/2014/main" id="{A7317961-5DC8-4EBB-95BA-351DC5D47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909" y="325437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48131" name="Text Box 3">
            <a:extLst>
              <a:ext uri="{FF2B5EF4-FFF2-40B4-BE49-F238E27FC236}">
                <a16:creationId xmlns:a16="http://schemas.microsoft.com/office/drawing/2014/main" id="{81CA5F29-044B-4A02-918D-078CBDB6A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Aprendizaje por corrección de error:</a:t>
            </a:r>
          </a:p>
          <a:p>
            <a:pPr lvl="1">
              <a:buFontTx/>
              <a:buChar char="•"/>
            </a:pPr>
            <a:r>
              <a:rPr lang="es-ES" altLang="es-ES" sz="2400"/>
              <a:t> Presentar una entrada a la red</a:t>
            </a:r>
          </a:p>
          <a:p>
            <a:pPr lvl="1">
              <a:buFontTx/>
              <a:buChar char="•"/>
            </a:pPr>
            <a:r>
              <a:rPr lang="es-ES" altLang="es-ES" sz="2400"/>
              <a:t> La red proporciona una salida</a:t>
            </a:r>
          </a:p>
          <a:p>
            <a:pPr lvl="1">
              <a:buFontTx/>
              <a:buChar char="•"/>
            </a:pPr>
            <a:r>
              <a:rPr lang="es-ES" altLang="es-ES" sz="2400"/>
              <a:t> Comparar la salida con la deseada</a:t>
            </a:r>
          </a:p>
          <a:p>
            <a:pPr lvl="1">
              <a:buFontTx/>
              <a:buChar char="•"/>
            </a:pPr>
            <a:r>
              <a:rPr lang="es-ES" altLang="es-ES" sz="2400"/>
              <a:t> Actualizar los pesos de la red</a:t>
            </a:r>
          </a:p>
          <a:p>
            <a:pPr lvl="1">
              <a:buFontTx/>
              <a:buChar char="•"/>
            </a:pPr>
            <a:r>
              <a:rPr lang="es-ES" altLang="es-ES" sz="2400"/>
              <a:t> Repetir el proceso</a:t>
            </a:r>
          </a:p>
          <a:p>
            <a:pPr>
              <a:buFontTx/>
              <a:buChar char="•"/>
            </a:pPr>
            <a:endParaRPr lang="es-ES" altLang="es-ES" sz="2400"/>
          </a:p>
        </p:txBody>
      </p:sp>
      <p:sp>
        <p:nvSpPr>
          <p:cNvPr id="48132" name="4 Rectángulo">
            <a:extLst>
              <a:ext uri="{FF2B5EF4-FFF2-40B4-BE49-F238E27FC236}">
                <a16:creationId xmlns:a16="http://schemas.microsoft.com/office/drawing/2014/main" id="{5D61F244-26D6-4047-B400-B76FD7AF5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4789488"/>
            <a:ext cx="1684338" cy="10890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s-ES" altLang="es-ES"/>
              <a:t>Red</a:t>
            </a:r>
          </a:p>
          <a:p>
            <a:pPr algn="ctr" eaLnBrk="1" hangingPunct="1"/>
            <a:r>
              <a:rPr lang="es-ES" altLang="es-ES"/>
              <a:t>Neuronal</a:t>
            </a:r>
          </a:p>
        </p:txBody>
      </p:sp>
      <p:sp>
        <p:nvSpPr>
          <p:cNvPr id="48133" name="5 Rectángulo">
            <a:extLst>
              <a:ext uri="{FF2B5EF4-FFF2-40B4-BE49-F238E27FC236}">
                <a16:creationId xmlns:a16="http://schemas.microsoft.com/office/drawing/2014/main" id="{EDC7F2A7-7955-48D9-8BEA-226F61CB5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225" y="5037138"/>
            <a:ext cx="1682750" cy="5873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s-ES" altLang="es-ES"/>
              <a:t>Comparador</a:t>
            </a:r>
          </a:p>
        </p:txBody>
      </p:sp>
      <p:cxnSp>
        <p:nvCxnSpPr>
          <p:cNvPr id="48134" name="7 Conector recto de flecha">
            <a:extLst>
              <a:ext uri="{FF2B5EF4-FFF2-40B4-BE49-F238E27FC236}">
                <a16:creationId xmlns:a16="http://schemas.microsoft.com/office/drawing/2014/main" id="{1856641C-BB07-4A76-964C-09A1E7A333F8}"/>
              </a:ext>
            </a:extLst>
          </p:cNvPr>
          <p:cNvCxnSpPr>
            <a:cxnSpLocks noChangeShapeType="1"/>
            <a:stCxn id="48132" idx="3"/>
            <a:endCxn id="48133" idx="1"/>
          </p:cNvCxnSpPr>
          <p:nvPr/>
        </p:nvCxnSpPr>
        <p:spPr bwMode="auto">
          <a:xfrm flipV="1">
            <a:off x="4964113" y="5330825"/>
            <a:ext cx="1154112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8135" name="9 Conector recto de flecha">
            <a:extLst>
              <a:ext uri="{FF2B5EF4-FFF2-40B4-BE49-F238E27FC236}">
                <a16:creationId xmlns:a16="http://schemas.microsoft.com/office/drawing/2014/main" id="{6B22492C-C8E3-4ABC-B9D9-8A1E6D13EC27}"/>
              </a:ext>
            </a:extLst>
          </p:cNvPr>
          <p:cNvCxnSpPr>
            <a:cxnSpLocks noChangeShapeType="1"/>
            <a:endCxn id="48132" idx="1"/>
          </p:cNvCxnSpPr>
          <p:nvPr/>
        </p:nvCxnSpPr>
        <p:spPr bwMode="auto">
          <a:xfrm>
            <a:off x="2133600" y="5326063"/>
            <a:ext cx="1146175" cy="79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8136" name="13 Conector angular">
            <a:extLst>
              <a:ext uri="{FF2B5EF4-FFF2-40B4-BE49-F238E27FC236}">
                <a16:creationId xmlns:a16="http://schemas.microsoft.com/office/drawing/2014/main" id="{5FCD30AA-B79D-4D1B-BB07-EEC9120A8237}"/>
              </a:ext>
            </a:extLst>
          </p:cNvPr>
          <p:cNvCxnSpPr>
            <a:cxnSpLocks noChangeShapeType="1"/>
            <a:endCxn id="48133" idx="2"/>
          </p:cNvCxnSpPr>
          <p:nvPr/>
        </p:nvCxnSpPr>
        <p:spPr bwMode="auto">
          <a:xfrm flipV="1">
            <a:off x="2090738" y="5624513"/>
            <a:ext cx="4868862" cy="61595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8137" name="16 Conector angular">
            <a:extLst>
              <a:ext uri="{FF2B5EF4-FFF2-40B4-BE49-F238E27FC236}">
                <a16:creationId xmlns:a16="http://schemas.microsoft.com/office/drawing/2014/main" id="{393B0EFD-1392-466D-B39A-83CAA8C0D5B4}"/>
              </a:ext>
            </a:extLst>
          </p:cNvPr>
          <p:cNvCxnSpPr>
            <a:cxnSpLocks noChangeShapeType="1"/>
            <a:stCxn id="48133" idx="0"/>
            <a:endCxn id="48132" idx="0"/>
          </p:cNvCxnSpPr>
          <p:nvPr/>
        </p:nvCxnSpPr>
        <p:spPr bwMode="auto">
          <a:xfrm rot="16200000" flipV="1">
            <a:off x="5417344" y="3494882"/>
            <a:ext cx="247650" cy="2836862"/>
          </a:xfrm>
          <a:prstGeom prst="bentConnector3">
            <a:avLst>
              <a:gd name="adj1" fmla="val 251472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48138" name="18 CuadroTexto">
            <a:extLst>
              <a:ext uri="{FF2B5EF4-FFF2-40B4-BE49-F238E27FC236}">
                <a16:creationId xmlns:a16="http://schemas.microsoft.com/office/drawing/2014/main" id="{79368D21-823C-4EBC-9E3D-8EE0BA674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313" y="5108575"/>
            <a:ext cx="9699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/>
              <a:t>Entrada</a:t>
            </a:r>
          </a:p>
        </p:txBody>
      </p:sp>
      <p:sp>
        <p:nvSpPr>
          <p:cNvPr id="48139" name="19 CuadroTexto">
            <a:extLst>
              <a:ext uri="{FF2B5EF4-FFF2-40B4-BE49-F238E27FC236}">
                <a16:creationId xmlns:a16="http://schemas.microsoft.com/office/drawing/2014/main" id="{AD36A595-36CD-4578-BDD1-124EF96C8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63" y="5884863"/>
            <a:ext cx="10318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s-ES" altLang="es-ES"/>
              <a:t>Salida</a:t>
            </a:r>
          </a:p>
          <a:p>
            <a:pPr algn="ctr" eaLnBrk="1" hangingPunct="1"/>
            <a:r>
              <a:rPr lang="es-ES" altLang="es-ES"/>
              <a:t>deseada</a:t>
            </a:r>
          </a:p>
        </p:txBody>
      </p:sp>
      <p:sp>
        <p:nvSpPr>
          <p:cNvPr id="48140" name="20 CuadroTexto">
            <a:extLst>
              <a:ext uri="{FF2B5EF4-FFF2-40B4-BE49-F238E27FC236}">
                <a16:creationId xmlns:a16="http://schemas.microsoft.com/office/drawing/2014/main" id="{ADDB14C3-39CA-446C-84C1-59742CD68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9138" y="4484688"/>
            <a:ext cx="790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/>
              <a:t>Salida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>
            <a:extLst>
              <a:ext uri="{FF2B5EF4-FFF2-40B4-BE49-F238E27FC236}">
                <a16:creationId xmlns:a16="http://schemas.microsoft.com/office/drawing/2014/main" id="{D0451A43-63A2-47F5-AC88-6A6197AAE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341313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57A8A8F7-A865-4D2E-8571-617EEB4DA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Aprendizaje por refuerzo:</a:t>
            </a:r>
          </a:p>
          <a:p>
            <a:pPr lvl="1">
              <a:buFontTx/>
              <a:buChar char="•"/>
            </a:pPr>
            <a:r>
              <a:rPr lang="es-ES" altLang="es-ES" sz="2400"/>
              <a:t> Es más lento que el aprendizaje por corrección</a:t>
            </a:r>
          </a:p>
          <a:p>
            <a:pPr lvl="1">
              <a:buFontTx/>
              <a:buChar char="•"/>
            </a:pPr>
            <a:r>
              <a:rPr lang="es-ES" altLang="es-ES" sz="2400"/>
              <a:t> No se dispone de un ejemplo completo de comportamiento</a:t>
            </a:r>
          </a:p>
          <a:p>
            <a:pPr lvl="1">
              <a:buFontTx/>
              <a:buChar char="•"/>
            </a:pPr>
            <a:r>
              <a:rPr lang="es-ES" altLang="es-ES" sz="2400"/>
              <a:t> Se produce una señal de refuerzo que mide el buen comportamiento del sistema</a:t>
            </a:r>
          </a:p>
          <a:p>
            <a:pPr lvl="1">
              <a:buFontTx/>
              <a:buChar char="•"/>
            </a:pPr>
            <a:r>
              <a:rPr lang="es-ES" altLang="es-ES" sz="2400"/>
              <a:t> Esta señal se emplea como realimentación para modificar los pesos de la red</a:t>
            </a:r>
          </a:p>
          <a:p>
            <a:pPr lvl="1"/>
            <a:endParaRPr lang="es-ES" altLang="es-ES" sz="2400"/>
          </a:p>
          <a:p>
            <a:pPr>
              <a:buFontTx/>
              <a:buChar char="•"/>
            </a:pPr>
            <a:endParaRPr lang="es-ES" altLang="es-E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3DEA418F-B58D-4953-9A91-98D90A7DA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303213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4E778941-0333-4D34-BB72-66A58685F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buFontTx/>
              <a:buChar char="•"/>
            </a:pPr>
            <a:r>
              <a:rPr lang="es-ES" altLang="es-ES" sz="2400"/>
              <a:t> Aprendizaje estocástico:</a:t>
            </a:r>
          </a:p>
          <a:p>
            <a:pPr lvl="1" eaLnBrk="0" hangingPunct="0">
              <a:buFontTx/>
              <a:buChar char="•"/>
            </a:pPr>
            <a:r>
              <a:rPr lang="es-ES" altLang="es-ES" sz="2400"/>
              <a:t> Se realizan cambios aleatorios sobre los pesos empleando para ello distribuciones de probabilidad</a:t>
            </a:r>
          </a:p>
          <a:p>
            <a:pPr lvl="1" eaLnBrk="0" hangingPunct="0">
              <a:buFontTx/>
              <a:buChar char="•"/>
            </a:pPr>
            <a:r>
              <a:rPr lang="es-ES" altLang="es-ES" sz="2400"/>
              <a:t> Se evalúa el efecto de los cambios hasta conseguir llegar al estado deseado. </a:t>
            </a:r>
          </a:p>
          <a:p>
            <a:pPr lvl="1" eaLnBrk="0" hangingPunct="0">
              <a:buFontTx/>
              <a:buChar char="•"/>
            </a:pPr>
            <a:endParaRPr lang="es-ES" altLang="es-ES" sz="2400"/>
          </a:p>
          <a:p>
            <a:pPr lvl="1" eaLnBrk="0" hangingPunct="0">
              <a:buFontTx/>
              <a:buChar char="•"/>
            </a:pPr>
            <a:r>
              <a:rPr lang="es-ES" altLang="es-ES" sz="2400"/>
              <a:t> Procedimiento:</a:t>
            </a:r>
          </a:p>
          <a:p>
            <a:pPr lvl="2" eaLnBrk="0" hangingPunct="0">
              <a:buFontTx/>
              <a:buChar char="•"/>
            </a:pPr>
            <a:r>
              <a:rPr lang="es-ES" altLang="es-ES" sz="2400"/>
              <a:t> Realizar un cambio aleatorio en los pesos</a:t>
            </a:r>
          </a:p>
          <a:p>
            <a:pPr lvl="2" eaLnBrk="0" hangingPunct="0">
              <a:buFontTx/>
              <a:buChar char="•"/>
            </a:pPr>
            <a:r>
              <a:rPr lang="es-ES" altLang="es-ES" sz="2400"/>
              <a:t> Determinar la energía de la red</a:t>
            </a:r>
          </a:p>
          <a:p>
            <a:pPr lvl="3" eaLnBrk="0" hangingPunct="0">
              <a:buFontTx/>
              <a:buChar char="•"/>
            </a:pPr>
            <a:r>
              <a:rPr lang="es-ES" altLang="es-ES" sz="2400"/>
              <a:t> Si la energía decrece: aceptar el cambio</a:t>
            </a:r>
          </a:p>
          <a:p>
            <a:pPr lvl="3" eaLnBrk="0" hangingPunct="0">
              <a:buFontTx/>
              <a:buChar char="•"/>
            </a:pPr>
            <a:r>
              <a:rPr lang="es-ES" altLang="es-ES" sz="2400"/>
              <a:t> Si la energía no decrece:</a:t>
            </a:r>
          </a:p>
          <a:p>
            <a:pPr lvl="4" eaLnBrk="0" hangingPunct="0">
              <a:buFontTx/>
              <a:buChar char="•"/>
            </a:pPr>
            <a:r>
              <a:rPr lang="es-ES" altLang="es-ES" sz="2400"/>
              <a:t> Se acepta o no el cambio en función de las probabilidades.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>
            <a:extLst>
              <a:ext uri="{FF2B5EF4-FFF2-40B4-BE49-F238E27FC236}">
                <a16:creationId xmlns:a16="http://schemas.microsoft.com/office/drawing/2014/main" id="{33333A7A-BCD7-44B4-9AB8-322ECD7F3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388938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517A44F3-5A6B-47DF-987A-6D734118E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Aprendizaje sin supervisión:</a:t>
            </a:r>
          </a:p>
          <a:p>
            <a:pPr lvl="1">
              <a:buFontTx/>
              <a:buChar char="•"/>
            </a:pPr>
            <a:r>
              <a:rPr lang="es-ES" altLang="es-ES" sz="2400"/>
              <a:t> También llamado auto-supervisado</a:t>
            </a:r>
          </a:p>
          <a:p>
            <a:pPr lvl="1">
              <a:buFontTx/>
              <a:buChar char="•"/>
            </a:pPr>
            <a:r>
              <a:rPr lang="es-ES" altLang="es-ES" sz="2400"/>
              <a:t> La red no recibe ninguna influencia externa. Nadie le indica si la salida es correcta o no</a:t>
            </a:r>
          </a:p>
          <a:p>
            <a:pPr lvl="1">
              <a:buFontTx/>
              <a:buChar char="•"/>
            </a:pPr>
            <a:endParaRPr lang="es-ES" altLang="es-ES" sz="2400"/>
          </a:p>
          <a:p>
            <a:pPr lvl="1">
              <a:buFontTx/>
              <a:buChar char="•"/>
            </a:pPr>
            <a:r>
              <a:rPr lang="es-ES" altLang="es-ES" sz="2400"/>
              <a:t> Estas redes sirven para buscar en los datos de entrada:</a:t>
            </a:r>
          </a:p>
          <a:p>
            <a:pPr lvl="2">
              <a:buFontTx/>
              <a:buChar char="•"/>
            </a:pPr>
            <a:r>
              <a:rPr lang="es-ES" altLang="es-ES" sz="2400"/>
              <a:t> Características</a:t>
            </a:r>
          </a:p>
          <a:p>
            <a:pPr lvl="2">
              <a:buFontTx/>
              <a:buChar char="•"/>
            </a:pPr>
            <a:r>
              <a:rPr lang="es-ES" altLang="es-ES" sz="2400"/>
              <a:t> Regularidades</a:t>
            </a:r>
          </a:p>
          <a:p>
            <a:pPr lvl="2">
              <a:buFontTx/>
              <a:buChar char="•"/>
            </a:pPr>
            <a:r>
              <a:rPr lang="es-ES" altLang="es-ES" sz="2400"/>
              <a:t> Correlaciones</a:t>
            </a:r>
          </a:p>
          <a:p>
            <a:pPr lvl="2">
              <a:buFontTx/>
              <a:buChar char="•"/>
            </a:pPr>
            <a:r>
              <a:rPr lang="es-ES" altLang="es-ES" sz="2400"/>
              <a:t> Categorías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Text Box 2">
            <a:extLst>
              <a:ext uri="{FF2B5EF4-FFF2-40B4-BE49-F238E27FC236}">
                <a16:creationId xmlns:a16="http://schemas.microsoft.com/office/drawing/2014/main" id="{78014A5B-5FF9-474A-9A70-9CE8E3CE7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560" y="309890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5127" name="Text Box 3">
            <a:extLst>
              <a:ext uri="{FF2B5EF4-FFF2-40B4-BE49-F238E27FC236}">
                <a16:creationId xmlns:a16="http://schemas.microsoft.com/office/drawing/2014/main" id="{074E44FD-42EA-4C29-92A9-FB2492572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Perceptrón:</a:t>
            </a:r>
          </a:p>
          <a:p>
            <a:pPr lvl="1">
              <a:buFontTx/>
              <a:buChar char="•"/>
            </a:pPr>
            <a:r>
              <a:rPr lang="es-ES" altLang="es-ES" sz="2400"/>
              <a:t> Es una red que dispone de una única neurona</a:t>
            </a:r>
          </a:p>
          <a:p>
            <a:pPr lvl="1">
              <a:buFontTx/>
              <a:buChar char="•"/>
            </a:pPr>
            <a:r>
              <a:rPr lang="es-ES" altLang="es-ES" sz="2400"/>
              <a:t> Es capaz de resolver problemas linealmente separables</a:t>
            </a:r>
          </a:p>
        </p:txBody>
      </p:sp>
      <p:graphicFrame>
        <p:nvGraphicFramePr>
          <p:cNvPr id="5122" name="Object 16">
            <a:extLst>
              <a:ext uri="{FF2B5EF4-FFF2-40B4-BE49-F238E27FC236}">
                <a16:creationId xmlns:a16="http://schemas.microsoft.com/office/drawing/2014/main" id="{86DD5BB7-919B-4190-A3FF-FB015689A792}"/>
              </a:ext>
            </a:extLst>
          </p:cNvPr>
          <p:cNvGraphicFramePr>
            <a:graphicFrameLocks/>
          </p:cNvGraphicFramePr>
          <p:nvPr/>
        </p:nvGraphicFramePr>
        <p:xfrm>
          <a:off x="6394450" y="3681413"/>
          <a:ext cx="20796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863280" imgH="431640" progId="Equation.3">
                  <p:embed/>
                </p:oleObj>
              </mc:Choice>
              <mc:Fallback>
                <p:oleObj name="Ecuación" r:id="rId3" imgW="863280" imgH="431640" progId="Equation.3">
                  <p:embed/>
                  <p:pic>
                    <p:nvPicPr>
                      <p:cNvPr id="5122" name="Object 16">
                        <a:extLst>
                          <a:ext uri="{FF2B5EF4-FFF2-40B4-BE49-F238E27FC236}">
                            <a16:creationId xmlns:a16="http://schemas.microsoft.com/office/drawing/2014/main" id="{86DD5BB7-919B-4190-A3FF-FB015689A79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4450" y="3681413"/>
                        <a:ext cx="207962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17">
            <a:extLst>
              <a:ext uri="{FF2B5EF4-FFF2-40B4-BE49-F238E27FC236}">
                <a16:creationId xmlns:a16="http://schemas.microsoft.com/office/drawing/2014/main" id="{A908CCFB-D882-49B1-B6A3-27E3557BA38F}"/>
              </a:ext>
            </a:extLst>
          </p:cNvPr>
          <p:cNvGraphicFramePr>
            <a:graphicFrameLocks/>
          </p:cNvGraphicFramePr>
          <p:nvPr/>
        </p:nvGraphicFramePr>
        <p:xfrm>
          <a:off x="5900738" y="4895850"/>
          <a:ext cx="3968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64880" imgH="177480" progId="Equation.3">
                  <p:embed/>
                </p:oleObj>
              </mc:Choice>
              <mc:Fallback>
                <p:oleObj name="Ecuación" r:id="rId5" imgW="164880" imgH="177480" progId="Equation.3">
                  <p:embed/>
                  <p:pic>
                    <p:nvPicPr>
                      <p:cNvPr id="5123" name="Object 17">
                        <a:extLst>
                          <a:ext uri="{FF2B5EF4-FFF2-40B4-BE49-F238E27FC236}">
                            <a16:creationId xmlns:a16="http://schemas.microsoft.com/office/drawing/2014/main" id="{A908CCFB-D882-49B1-B6A3-27E3557BA38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4895850"/>
                        <a:ext cx="3968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Text Box 19">
            <a:extLst>
              <a:ext uri="{FF2B5EF4-FFF2-40B4-BE49-F238E27FC236}">
                <a16:creationId xmlns:a16="http://schemas.microsoft.com/office/drawing/2014/main" id="{EA5A9F7A-AAD2-454F-AD3B-F531BB788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100" y="4924425"/>
            <a:ext cx="2746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 b="1"/>
              <a:t>: Umbral de activación</a:t>
            </a:r>
          </a:p>
        </p:txBody>
      </p:sp>
      <p:sp>
        <p:nvSpPr>
          <p:cNvPr id="5129" name="Text Box 20">
            <a:extLst>
              <a:ext uri="{FF2B5EF4-FFF2-40B4-BE49-F238E27FC236}">
                <a16:creationId xmlns:a16="http://schemas.microsoft.com/office/drawing/2014/main" id="{99407AFD-7954-4485-AC6B-F3AF60770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6288" y="3282950"/>
            <a:ext cx="2173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 b="1"/>
              <a:t>Valor de entrada:</a:t>
            </a:r>
          </a:p>
        </p:txBody>
      </p:sp>
      <p:graphicFrame>
        <p:nvGraphicFramePr>
          <p:cNvPr id="5124" name="Object 21">
            <a:extLst>
              <a:ext uri="{FF2B5EF4-FFF2-40B4-BE49-F238E27FC236}">
                <a16:creationId xmlns:a16="http://schemas.microsoft.com/office/drawing/2014/main" id="{EEC0F49B-05E9-4F4E-B7D8-8A2E35DB62EF}"/>
              </a:ext>
            </a:extLst>
          </p:cNvPr>
          <p:cNvGraphicFramePr>
            <a:graphicFrameLocks/>
          </p:cNvGraphicFramePr>
          <p:nvPr/>
        </p:nvGraphicFramePr>
        <p:xfrm>
          <a:off x="6259513" y="5781675"/>
          <a:ext cx="219868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914400" imgH="457200" progId="Equation.3">
                  <p:embed/>
                </p:oleObj>
              </mc:Choice>
              <mc:Fallback>
                <p:oleObj name="Ecuación" r:id="rId7" imgW="914400" imgH="457200" progId="Equation.3">
                  <p:embed/>
                  <p:pic>
                    <p:nvPicPr>
                      <p:cNvPr id="5124" name="Object 21">
                        <a:extLst>
                          <a:ext uri="{FF2B5EF4-FFF2-40B4-BE49-F238E27FC236}">
                            <a16:creationId xmlns:a16="http://schemas.microsoft.com/office/drawing/2014/main" id="{EEC0F49B-05E9-4F4E-B7D8-8A2E35DB62E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9513" y="5781675"/>
                        <a:ext cx="219868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Text Box 22">
            <a:extLst>
              <a:ext uri="{FF2B5EF4-FFF2-40B4-BE49-F238E27FC236}">
                <a16:creationId xmlns:a16="http://schemas.microsoft.com/office/drawing/2014/main" id="{F3D006BF-9A86-44C0-BBB7-922479588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0738" y="5456238"/>
            <a:ext cx="965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 b="1"/>
              <a:t>Salida:</a:t>
            </a:r>
          </a:p>
        </p:txBody>
      </p:sp>
      <p:grpSp>
        <p:nvGrpSpPr>
          <p:cNvPr id="5131" name="Group 24">
            <a:extLst>
              <a:ext uri="{FF2B5EF4-FFF2-40B4-BE49-F238E27FC236}">
                <a16:creationId xmlns:a16="http://schemas.microsoft.com/office/drawing/2014/main" id="{1019AE1A-FA86-4467-BABA-47202C6AAEFA}"/>
              </a:ext>
            </a:extLst>
          </p:cNvPr>
          <p:cNvGrpSpPr>
            <a:grpSpLocks/>
          </p:cNvGrpSpPr>
          <p:nvPr/>
        </p:nvGrpSpPr>
        <p:grpSpPr bwMode="auto">
          <a:xfrm>
            <a:off x="1778000" y="3983038"/>
            <a:ext cx="3201988" cy="2281237"/>
            <a:chOff x="1120" y="2509"/>
            <a:chExt cx="2017" cy="1437"/>
          </a:xfrm>
        </p:grpSpPr>
        <p:sp>
          <p:nvSpPr>
            <p:cNvPr id="5132" name="Oval 4">
              <a:extLst>
                <a:ext uri="{FF2B5EF4-FFF2-40B4-BE49-F238E27FC236}">
                  <a16:creationId xmlns:a16="http://schemas.microsoft.com/office/drawing/2014/main" id="{A6889921-77EE-4F45-8A89-9870BB845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" y="2964"/>
              <a:ext cx="649" cy="64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133" name="Line 5">
              <a:extLst>
                <a:ext uri="{FF2B5EF4-FFF2-40B4-BE49-F238E27FC236}">
                  <a16:creationId xmlns:a16="http://schemas.microsoft.com/office/drawing/2014/main" id="{14654BAF-CC2F-4C27-8B35-77647B7E5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9" y="3301"/>
              <a:ext cx="4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134" name="Line 6">
              <a:extLst>
                <a:ext uri="{FF2B5EF4-FFF2-40B4-BE49-F238E27FC236}">
                  <a16:creationId xmlns:a16="http://schemas.microsoft.com/office/drawing/2014/main" id="{3E53287E-25BE-440B-8AEB-56A37B789A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5" y="3483"/>
              <a:ext cx="448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135" name="Line 7">
              <a:extLst>
                <a:ext uri="{FF2B5EF4-FFF2-40B4-BE49-F238E27FC236}">
                  <a16:creationId xmlns:a16="http://schemas.microsoft.com/office/drawing/2014/main" id="{56C30CD2-FF85-47AF-AAC8-AED5E4C50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4" y="2697"/>
              <a:ext cx="439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136" name="Text Box 8">
              <a:extLst>
                <a:ext uri="{FF2B5EF4-FFF2-40B4-BE49-F238E27FC236}">
                  <a16:creationId xmlns:a16="http://schemas.microsoft.com/office/drawing/2014/main" id="{3AE564EE-E1C4-4604-9B86-60E9AA8FC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8" y="2509"/>
              <a:ext cx="2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s-ES" altLang="es-ES" sz="2000"/>
                <a:t>x</a:t>
              </a:r>
              <a:r>
                <a:rPr lang="es-ES" altLang="es-ES" sz="2000" baseline="-25000"/>
                <a:t>1</a:t>
              </a:r>
            </a:p>
          </p:txBody>
        </p:sp>
        <p:sp>
          <p:nvSpPr>
            <p:cNvPr id="5137" name="Text Box 9">
              <a:extLst>
                <a:ext uri="{FF2B5EF4-FFF2-40B4-BE49-F238E27FC236}">
                  <a16:creationId xmlns:a16="http://schemas.microsoft.com/office/drawing/2014/main" id="{331FA2D4-E5AE-4F4C-A4F1-ABE3DEA19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0" y="3696"/>
              <a:ext cx="2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s-ES" altLang="es-ES" sz="2000"/>
                <a:t>x</a:t>
              </a:r>
              <a:r>
                <a:rPr lang="es-ES" altLang="es-ES" sz="2000" baseline="-25000"/>
                <a:t>N</a:t>
              </a:r>
            </a:p>
          </p:txBody>
        </p:sp>
        <p:sp>
          <p:nvSpPr>
            <p:cNvPr id="5138" name="Text Box 10">
              <a:extLst>
                <a:ext uri="{FF2B5EF4-FFF2-40B4-BE49-F238E27FC236}">
                  <a16:creationId xmlns:a16="http://schemas.microsoft.com/office/drawing/2014/main" id="{29181E9C-B219-43F2-9BE1-AC249FD35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6" y="2683"/>
              <a:ext cx="2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s-ES" altLang="es-ES" sz="2000"/>
                <a:t>w</a:t>
              </a:r>
              <a:r>
                <a:rPr lang="es-ES" altLang="es-ES" sz="2000" baseline="-25000"/>
                <a:t>1</a:t>
              </a:r>
            </a:p>
          </p:txBody>
        </p:sp>
        <p:sp>
          <p:nvSpPr>
            <p:cNvPr id="5139" name="Text Box 11">
              <a:extLst>
                <a:ext uri="{FF2B5EF4-FFF2-40B4-BE49-F238E27FC236}">
                  <a16:creationId xmlns:a16="http://schemas.microsoft.com/office/drawing/2014/main" id="{C8DA5544-5C83-44D4-BC70-E772BFCFD2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6" y="3570"/>
              <a:ext cx="3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s-ES" altLang="es-ES" sz="2000"/>
                <a:t>w</a:t>
              </a:r>
              <a:r>
                <a:rPr lang="es-ES" altLang="es-ES" sz="2000" baseline="-25000"/>
                <a:t>N</a:t>
              </a:r>
            </a:p>
          </p:txBody>
        </p:sp>
        <p:sp>
          <p:nvSpPr>
            <p:cNvPr id="5140" name="Text Box 12">
              <a:extLst>
                <a:ext uri="{FF2B5EF4-FFF2-40B4-BE49-F238E27FC236}">
                  <a16:creationId xmlns:a16="http://schemas.microsoft.com/office/drawing/2014/main" id="{F6F44DE7-051E-403F-98DA-0D75280C1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316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s-ES" altLang="es-ES" sz="2000"/>
                <a:t>y</a:t>
              </a:r>
              <a:endParaRPr lang="es-ES" altLang="es-ES" sz="2000" baseline="-25000"/>
            </a:p>
          </p:txBody>
        </p:sp>
        <p:sp>
          <p:nvSpPr>
            <p:cNvPr id="5141" name="Line 13">
              <a:extLst>
                <a:ext uri="{FF2B5EF4-FFF2-40B4-BE49-F238E27FC236}">
                  <a16:creationId xmlns:a16="http://schemas.microsoft.com/office/drawing/2014/main" id="{5C6BA3E7-4295-4E71-B6E1-8A8B9D3B2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1" y="2907"/>
              <a:ext cx="0" cy="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graphicFrame>
          <p:nvGraphicFramePr>
            <p:cNvPr id="5125" name="Object 14">
              <a:extLst>
                <a:ext uri="{FF2B5EF4-FFF2-40B4-BE49-F238E27FC236}">
                  <a16:creationId xmlns:a16="http://schemas.microsoft.com/office/drawing/2014/main" id="{A8E6FF67-B4F2-48E8-8660-6AF431227BB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922" y="3091"/>
            <a:ext cx="443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291960" imgH="253800" progId="Equation.3">
                    <p:embed/>
                  </p:oleObj>
                </mc:Choice>
                <mc:Fallback>
                  <p:oleObj name="Ecuación" r:id="rId9" imgW="291960" imgH="253800" progId="Equation.3">
                    <p:embed/>
                    <p:pic>
                      <p:nvPicPr>
                        <p:cNvPr id="5125" name="Object 14">
                          <a:extLst>
                            <a:ext uri="{FF2B5EF4-FFF2-40B4-BE49-F238E27FC236}">
                              <a16:creationId xmlns:a16="http://schemas.microsoft.com/office/drawing/2014/main" id="{A8E6FF67-B4F2-48E8-8660-6AF431227BB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2" y="3091"/>
                          <a:ext cx="443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2" name="Line 23">
              <a:extLst>
                <a:ext uri="{FF2B5EF4-FFF2-40B4-BE49-F238E27FC236}">
                  <a16:creationId xmlns:a16="http://schemas.microsoft.com/office/drawing/2014/main" id="{1D9DB299-CDFB-4DD3-A359-F853F4826A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3035"/>
              <a:ext cx="0" cy="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Text Box 2">
            <a:extLst>
              <a:ext uri="{FF2B5EF4-FFF2-40B4-BE49-F238E27FC236}">
                <a16:creationId xmlns:a16="http://schemas.microsoft.com/office/drawing/2014/main" id="{A116AB93-C977-4842-A0F1-7638CDF71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331788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6151" name="Text Box 3">
            <a:extLst>
              <a:ext uri="{FF2B5EF4-FFF2-40B4-BE49-F238E27FC236}">
                <a16:creationId xmlns:a16="http://schemas.microsoft.com/office/drawing/2014/main" id="{1B599C1A-8BBC-4194-9526-DF74BD8D3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Actualización de los pesos:</a:t>
            </a:r>
          </a:p>
          <a:p>
            <a:pPr lvl="1">
              <a:buFontTx/>
              <a:buChar char="•"/>
            </a:pPr>
            <a:r>
              <a:rPr lang="es-ES" altLang="es-ES" sz="2400"/>
              <a:t> Regla de la delta</a:t>
            </a:r>
          </a:p>
          <a:p>
            <a:pPr lvl="2">
              <a:buFontTx/>
              <a:buChar char="•"/>
            </a:pPr>
            <a:r>
              <a:rPr lang="es-ES" altLang="es-ES" sz="2400"/>
              <a:t> Donde d(t) es la salida deseada (instante t)</a:t>
            </a:r>
          </a:p>
          <a:p>
            <a:pPr lvl="2">
              <a:buFontTx/>
              <a:buChar char="•"/>
            </a:pPr>
            <a:r>
              <a:rPr lang="es-ES" altLang="es-ES" sz="2400"/>
              <a:t>    es la tasa de aprendizaje (cte)</a:t>
            </a:r>
          </a:p>
          <a:p>
            <a:pPr lvl="1"/>
            <a:endParaRPr lang="es-ES" altLang="es-ES" sz="2400"/>
          </a:p>
        </p:txBody>
      </p:sp>
      <p:graphicFrame>
        <p:nvGraphicFramePr>
          <p:cNvPr id="6146" name="Object 23">
            <a:extLst>
              <a:ext uri="{FF2B5EF4-FFF2-40B4-BE49-F238E27FC236}">
                <a16:creationId xmlns:a16="http://schemas.microsoft.com/office/drawing/2014/main" id="{D94159C1-E2B4-414E-A4E6-0B4C1AEB0140}"/>
              </a:ext>
            </a:extLst>
          </p:cNvPr>
          <p:cNvGraphicFramePr>
            <a:graphicFrameLocks/>
          </p:cNvGraphicFramePr>
          <p:nvPr/>
        </p:nvGraphicFramePr>
        <p:xfrm>
          <a:off x="3257550" y="3890963"/>
          <a:ext cx="256857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066680" imgH="203040" progId="Equation.3">
                  <p:embed/>
                </p:oleObj>
              </mc:Choice>
              <mc:Fallback>
                <p:oleObj name="Ecuación" r:id="rId3" imgW="1066680" imgH="203040" progId="Equation.3">
                  <p:embed/>
                  <p:pic>
                    <p:nvPicPr>
                      <p:cNvPr id="6146" name="Object 23">
                        <a:extLst>
                          <a:ext uri="{FF2B5EF4-FFF2-40B4-BE49-F238E27FC236}">
                            <a16:creationId xmlns:a16="http://schemas.microsoft.com/office/drawing/2014/main" id="{D94159C1-E2B4-414E-A4E6-0B4C1AEB014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550" y="3890963"/>
                        <a:ext cx="256857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24">
            <a:extLst>
              <a:ext uri="{FF2B5EF4-FFF2-40B4-BE49-F238E27FC236}">
                <a16:creationId xmlns:a16="http://schemas.microsoft.com/office/drawing/2014/main" id="{9CE96FF6-BA13-4C52-9FBB-2B53C510C2B2}"/>
              </a:ext>
            </a:extLst>
          </p:cNvPr>
          <p:cNvGraphicFramePr>
            <a:graphicFrameLocks/>
          </p:cNvGraphicFramePr>
          <p:nvPr/>
        </p:nvGraphicFramePr>
        <p:xfrm>
          <a:off x="3216275" y="4441825"/>
          <a:ext cx="36068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498320" imgH="228600" progId="Equation.3">
                  <p:embed/>
                </p:oleObj>
              </mc:Choice>
              <mc:Fallback>
                <p:oleObj name="Ecuación" r:id="rId5" imgW="1498320" imgH="228600" progId="Equation.3">
                  <p:embed/>
                  <p:pic>
                    <p:nvPicPr>
                      <p:cNvPr id="6147" name="Object 24">
                        <a:extLst>
                          <a:ext uri="{FF2B5EF4-FFF2-40B4-BE49-F238E27FC236}">
                            <a16:creationId xmlns:a16="http://schemas.microsoft.com/office/drawing/2014/main" id="{9CE96FF6-BA13-4C52-9FBB-2B53C510C2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441825"/>
                        <a:ext cx="36068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25">
            <a:extLst>
              <a:ext uri="{FF2B5EF4-FFF2-40B4-BE49-F238E27FC236}">
                <a16:creationId xmlns:a16="http://schemas.microsoft.com/office/drawing/2014/main" id="{80FB50C4-C3D8-4DD9-B0EE-5056F6DEA80D}"/>
              </a:ext>
            </a:extLst>
          </p:cNvPr>
          <p:cNvGraphicFramePr>
            <a:graphicFrameLocks/>
          </p:cNvGraphicFramePr>
          <p:nvPr/>
        </p:nvGraphicFramePr>
        <p:xfrm>
          <a:off x="3235325" y="5064125"/>
          <a:ext cx="28130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1168200" imgH="228600" progId="Equation.3">
                  <p:embed/>
                </p:oleObj>
              </mc:Choice>
              <mc:Fallback>
                <p:oleObj name="Ecuación" r:id="rId7" imgW="1168200" imgH="228600" progId="Equation.3">
                  <p:embed/>
                  <p:pic>
                    <p:nvPicPr>
                      <p:cNvPr id="6148" name="Object 25">
                        <a:extLst>
                          <a:ext uri="{FF2B5EF4-FFF2-40B4-BE49-F238E27FC236}">
                            <a16:creationId xmlns:a16="http://schemas.microsoft.com/office/drawing/2014/main" id="{80FB50C4-C3D8-4DD9-B0EE-5056F6DEA8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5" y="5064125"/>
                        <a:ext cx="28130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26">
            <a:extLst>
              <a:ext uri="{FF2B5EF4-FFF2-40B4-BE49-F238E27FC236}">
                <a16:creationId xmlns:a16="http://schemas.microsoft.com/office/drawing/2014/main" id="{20084F31-31D4-4B35-A614-A2B34B1AB332}"/>
              </a:ext>
            </a:extLst>
          </p:cNvPr>
          <p:cNvGraphicFramePr>
            <a:graphicFrameLocks/>
          </p:cNvGraphicFramePr>
          <p:nvPr/>
        </p:nvGraphicFramePr>
        <p:xfrm>
          <a:off x="2092325" y="3121025"/>
          <a:ext cx="3048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126720" imgH="164880" progId="Equation.3">
                  <p:embed/>
                </p:oleObj>
              </mc:Choice>
              <mc:Fallback>
                <p:oleObj name="Ecuación" r:id="rId9" imgW="126720" imgH="164880" progId="Equation.3">
                  <p:embed/>
                  <p:pic>
                    <p:nvPicPr>
                      <p:cNvPr id="6149" name="Object 26">
                        <a:extLst>
                          <a:ext uri="{FF2B5EF4-FFF2-40B4-BE49-F238E27FC236}">
                            <a16:creationId xmlns:a16="http://schemas.microsoft.com/office/drawing/2014/main" id="{20084F31-31D4-4B35-A614-A2B34B1AB3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325" y="3121025"/>
                        <a:ext cx="30480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Text Box 27">
            <a:extLst>
              <a:ext uri="{FF2B5EF4-FFF2-40B4-BE49-F238E27FC236}">
                <a16:creationId xmlns:a16="http://schemas.microsoft.com/office/drawing/2014/main" id="{AB9539C3-3B59-447A-A720-8C6B5A44C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949700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/>
              <a:t>Error cometido</a:t>
            </a:r>
          </a:p>
        </p:txBody>
      </p:sp>
      <p:sp>
        <p:nvSpPr>
          <p:cNvPr id="6153" name="Line 28">
            <a:extLst>
              <a:ext uri="{FF2B5EF4-FFF2-40B4-BE49-F238E27FC236}">
                <a16:creationId xmlns:a16="http://schemas.microsoft.com/office/drawing/2014/main" id="{6E65EDCD-25CE-4220-A3B7-DF28850022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2338" y="4151313"/>
            <a:ext cx="827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s-ES"/>
          </a:p>
        </p:txBody>
      </p:sp>
      <p:sp>
        <p:nvSpPr>
          <p:cNvPr id="6154" name="Text Box 29">
            <a:extLst>
              <a:ext uri="{FF2B5EF4-FFF2-40B4-BE49-F238E27FC236}">
                <a16:creationId xmlns:a16="http://schemas.microsoft.com/office/drawing/2014/main" id="{CA9959EE-9262-4094-8C73-497DC71A5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88" y="4718050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s-ES" altLang="es-ES"/>
              <a:t>Actualización </a:t>
            </a:r>
          </a:p>
          <a:p>
            <a:pPr eaLnBrk="1" hangingPunct="1"/>
            <a:r>
              <a:rPr lang="es-ES" altLang="es-ES"/>
              <a:t>de  los pesos</a:t>
            </a:r>
          </a:p>
        </p:txBody>
      </p:sp>
      <p:sp>
        <p:nvSpPr>
          <p:cNvPr id="6155" name="AutoShape 30">
            <a:extLst>
              <a:ext uri="{FF2B5EF4-FFF2-40B4-BE49-F238E27FC236}">
                <a16:creationId xmlns:a16="http://schemas.microsoft.com/office/drawing/2014/main" id="{5E0F74EE-E660-4615-B347-B81E325C9FD5}"/>
              </a:ext>
            </a:extLst>
          </p:cNvPr>
          <p:cNvSpPr>
            <a:spLocks/>
          </p:cNvSpPr>
          <p:nvPr/>
        </p:nvSpPr>
        <p:spPr bwMode="auto">
          <a:xfrm>
            <a:off x="2976563" y="4543425"/>
            <a:ext cx="88900" cy="987425"/>
          </a:xfrm>
          <a:prstGeom prst="leftBrace">
            <a:avLst>
              <a:gd name="adj1" fmla="val 9256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sp>
        <p:nvSpPr>
          <p:cNvPr id="6156" name="Line 31">
            <a:extLst>
              <a:ext uri="{FF2B5EF4-FFF2-40B4-BE49-F238E27FC236}">
                <a16:creationId xmlns:a16="http://schemas.microsoft.com/office/drawing/2014/main" id="{F18F0D8F-48A8-4ABA-A66B-B0E58AB669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6625" y="50212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s-E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FDE65817-B028-43BD-BB38-CB9BEA6BA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72" y="230693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52227" name="Text Box 3">
            <a:extLst>
              <a:ext uri="{FF2B5EF4-FFF2-40B4-BE49-F238E27FC236}">
                <a16:creationId xmlns:a16="http://schemas.microsoft.com/office/drawing/2014/main" id="{814499B0-AE2C-40C3-802C-674B0BFC9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Un perpectrón solo es capaz de resolver problemas linealmente separables</a:t>
            </a:r>
          </a:p>
          <a:p>
            <a:pPr>
              <a:buFontTx/>
              <a:buChar char="•"/>
            </a:pPr>
            <a:endParaRPr lang="es-ES" altLang="es-ES" sz="2400"/>
          </a:p>
          <a:p>
            <a:pPr>
              <a:buFontTx/>
              <a:buChar char="•"/>
            </a:pPr>
            <a:endParaRPr lang="es-ES" altLang="es-ES" sz="2400"/>
          </a:p>
          <a:p>
            <a:pPr>
              <a:buFontTx/>
              <a:buChar char="•"/>
            </a:pPr>
            <a:endParaRPr lang="es-ES" altLang="es-ES" sz="2400"/>
          </a:p>
          <a:p>
            <a:pPr>
              <a:buFontTx/>
              <a:buChar char="•"/>
            </a:pPr>
            <a:endParaRPr lang="es-ES" altLang="es-ES" sz="2400"/>
          </a:p>
          <a:p>
            <a:pPr>
              <a:buFontTx/>
              <a:buChar char="•"/>
            </a:pPr>
            <a:endParaRPr lang="es-ES" altLang="es-ES" sz="2400"/>
          </a:p>
          <a:p>
            <a:pPr>
              <a:buFontTx/>
              <a:buChar char="•"/>
            </a:pPr>
            <a:endParaRPr lang="es-ES" altLang="es-ES" sz="2400"/>
          </a:p>
          <a:p>
            <a:pPr>
              <a:buFontTx/>
              <a:buChar char="•"/>
            </a:pPr>
            <a:endParaRPr lang="es-ES" altLang="es-ES" sz="2400"/>
          </a:p>
          <a:p>
            <a:pPr>
              <a:buFontTx/>
              <a:buChar char="•"/>
            </a:pPr>
            <a:endParaRPr lang="es-ES" altLang="es-ES" sz="2400"/>
          </a:p>
          <a:p>
            <a:pPr>
              <a:buFontTx/>
              <a:buChar char="•"/>
            </a:pPr>
            <a:r>
              <a:rPr lang="es-ES" altLang="es-ES" sz="2400"/>
              <a:t> Para sistemas más complejos:</a:t>
            </a:r>
          </a:p>
          <a:p>
            <a:pPr lvl="1">
              <a:buFontTx/>
              <a:buChar char="•"/>
            </a:pPr>
            <a:r>
              <a:rPr lang="es-ES" altLang="es-ES" sz="2400"/>
              <a:t> Perceptrón multicapa</a:t>
            </a:r>
          </a:p>
        </p:txBody>
      </p:sp>
      <p:grpSp>
        <p:nvGrpSpPr>
          <p:cNvPr id="52228" name="19 Grupo">
            <a:extLst>
              <a:ext uri="{FF2B5EF4-FFF2-40B4-BE49-F238E27FC236}">
                <a16:creationId xmlns:a16="http://schemas.microsoft.com/office/drawing/2014/main" id="{C684AC66-C4AB-4033-AB54-3F36E1A992CB}"/>
              </a:ext>
            </a:extLst>
          </p:cNvPr>
          <p:cNvGrpSpPr>
            <a:grpSpLocks/>
          </p:cNvGrpSpPr>
          <p:nvPr/>
        </p:nvGrpSpPr>
        <p:grpSpPr bwMode="auto">
          <a:xfrm>
            <a:off x="2641600" y="2933700"/>
            <a:ext cx="3527425" cy="2452688"/>
            <a:chOff x="2641600" y="2933474"/>
            <a:chExt cx="3526971" cy="2452120"/>
          </a:xfrm>
        </p:grpSpPr>
        <p:cxnSp>
          <p:nvCxnSpPr>
            <p:cNvPr id="52229" name="5 Conector recto de flecha">
              <a:extLst>
                <a:ext uri="{FF2B5EF4-FFF2-40B4-BE49-F238E27FC236}">
                  <a16:creationId xmlns:a16="http://schemas.microsoft.com/office/drawing/2014/main" id="{B4D6E791-0CF7-47B7-9CDC-9A6B89B538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1619534" y="4158740"/>
              <a:ext cx="245212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52230" name="7 Conector recto de flecha">
              <a:extLst>
                <a:ext uri="{FF2B5EF4-FFF2-40B4-BE49-F238E27FC236}">
                  <a16:creationId xmlns:a16="http://schemas.microsoft.com/office/drawing/2014/main" id="{6F528F14-A06A-4380-B0E2-901ED491CA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41600" y="5225143"/>
              <a:ext cx="3410857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52231" name="9 Conector recto">
              <a:extLst>
                <a:ext uri="{FF2B5EF4-FFF2-40B4-BE49-F238E27FC236}">
                  <a16:creationId xmlns:a16="http://schemas.microsoft.com/office/drawing/2014/main" id="{C9EBC230-C3C3-4BA8-A5DE-EB1D30D0DF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077029" y="3483429"/>
              <a:ext cx="3091542" cy="1045028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52232" name="10 Elipse">
              <a:extLst>
                <a:ext uri="{FF2B5EF4-FFF2-40B4-BE49-F238E27FC236}">
                  <a16:creationId xmlns:a16="http://schemas.microsoft.com/office/drawing/2014/main" id="{84DC9CA7-5037-4B93-B62F-273AF179F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885" y="3599543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2233" name="11 Elipse">
              <a:extLst>
                <a:ext uri="{FF2B5EF4-FFF2-40B4-BE49-F238E27FC236}">
                  <a16:creationId xmlns:a16="http://schemas.microsoft.com/office/drawing/2014/main" id="{32FBC683-5584-4DF1-9478-0C02A9171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256" y="3505200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2234" name="12 Elipse">
              <a:extLst>
                <a:ext uri="{FF2B5EF4-FFF2-40B4-BE49-F238E27FC236}">
                  <a16:creationId xmlns:a16="http://schemas.microsoft.com/office/drawing/2014/main" id="{0EBFC699-3FDE-4645-B64E-627F8F92E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571" y="4049486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2235" name="13 Elipse">
              <a:extLst>
                <a:ext uri="{FF2B5EF4-FFF2-40B4-BE49-F238E27FC236}">
                  <a16:creationId xmlns:a16="http://schemas.microsoft.com/office/drawing/2014/main" id="{4B2E871E-9FAE-4587-BE1F-5211F9763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599" y="3766458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2236" name="14 Elipse">
              <a:extLst>
                <a:ext uri="{FF2B5EF4-FFF2-40B4-BE49-F238E27FC236}">
                  <a16:creationId xmlns:a16="http://schemas.microsoft.com/office/drawing/2014/main" id="{FA291957-266F-4980-82C7-0B2493089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079" y="3955139"/>
              <a:ext cx="145143" cy="14514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2237" name="15 Elipse">
              <a:extLst>
                <a:ext uri="{FF2B5EF4-FFF2-40B4-BE49-F238E27FC236}">
                  <a16:creationId xmlns:a16="http://schemas.microsoft.com/office/drawing/2014/main" id="{869FC967-3CE2-4CCA-9784-7FF415412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198" y="4151076"/>
              <a:ext cx="145143" cy="14514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2238" name="16 Elipse">
              <a:extLst>
                <a:ext uri="{FF2B5EF4-FFF2-40B4-BE49-F238E27FC236}">
                  <a16:creationId xmlns:a16="http://schemas.microsoft.com/office/drawing/2014/main" id="{51D769CB-6429-4953-AB14-206A74F8D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765" y="4666334"/>
              <a:ext cx="145143" cy="14514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2239" name="17 Elipse">
              <a:extLst>
                <a:ext uri="{FF2B5EF4-FFF2-40B4-BE49-F238E27FC236}">
                  <a16:creationId xmlns:a16="http://schemas.microsoft.com/office/drawing/2014/main" id="{6263AA23-2A41-4FBC-898B-B36E844C7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793" y="4383306"/>
              <a:ext cx="145143" cy="14514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484CACC6-C6AC-494E-B07D-92E0C8C8D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276879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0BBE895E-4880-4336-961E-3869A3FB5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Perceptrón multicapa</a:t>
            </a:r>
          </a:p>
          <a:p>
            <a:pPr lvl="1">
              <a:buFontTx/>
              <a:buChar char="•"/>
            </a:pPr>
            <a:r>
              <a:rPr lang="es-ES" altLang="es-ES" sz="2400"/>
              <a:t> Red </a:t>
            </a:r>
            <a:r>
              <a:rPr lang="es-ES" altLang="es-ES" sz="2400" i="1"/>
              <a:t>feedforward</a:t>
            </a:r>
          </a:p>
          <a:p>
            <a:pPr lvl="1">
              <a:buFontTx/>
              <a:buChar char="•"/>
            </a:pPr>
            <a:r>
              <a:rPr lang="es-ES" altLang="es-ES" sz="2400"/>
              <a:t> Entrenamiento:</a:t>
            </a:r>
          </a:p>
          <a:p>
            <a:pPr lvl="2">
              <a:buFontTx/>
              <a:buChar char="•"/>
            </a:pPr>
            <a:r>
              <a:rPr lang="es-ES" altLang="es-ES" sz="2400"/>
              <a:t> Generalización regla delta</a:t>
            </a:r>
          </a:p>
          <a:p>
            <a:pPr lvl="2">
              <a:buFontTx/>
              <a:buChar char="•"/>
            </a:pPr>
            <a:r>
              <a:rPr lang="es-ES" altLang="es-ES" sz="2400"/>
              <a:t> Algoritmo </a:t>
            </a:r>
            <a:r>
              <a:rPr lang="es-ES" altLang="es-ES" sz="2400" i="1"/>
              <a:t>backpropagation</a:t>
            </a:r>
          </a:p>
        </p:txBody>
      </p:sp>
      <p:grpSp>
        <p:nvGrpSpPr>
          <p:cNvPr id="53252" name="Group 6">
            <a:extLst>
              <a:ext uri="{FF2B5EF4-FFF2-40B4-BE49-F238E27FC236}">
                <a16:creationId xmlns:a16="http://schemas.microsoft.com/office/drawing/2014/main" id="{CE06FD8A-1702-46BD-9077-7E8281A31EE0}"/>
              </a:ext>
            </a:extLst>
          </p:cNvPr>
          <p:cNvGrpSpPr>
            <a:grpSpLocks/>
          </p:cNvGrpSpPr>
          <p:nvPr/>
        </p:nvGrpSpPr>
        <p:grpSpPr bwMode="auto">
          <a:xfrm>
            <a:off x="3113088" y="4389438"/>
            <a:ext cx="2784475" cy="1974850"/>
            <a:chOff x="1307" y="2240"/>
            <a:chExt cx="1754" cy="1244"/>
          </a:xfrm>
        </p:grpSpPr>
        <p:sp>
          <p:nvSpPr>
            <p:cNvPr id="53253" name="Oval 7">
              <a:extLst>
                <a:ext uri="{FF2B5EF4-FFF2-40B4-BE49-F238E27FC236}">
                  <a16:creationId xmlns:a16="http://schemas.microsoft.com/office/drawing/2014/main" id="{1E890D99-79A4-4C86-B206-AC03C42CA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" y="2587"/>
              <a:ext cx="229" cy="22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3254" name="Oval 8">
              <a:extLst>
                <a:ext uri="{FF2B5EF4-FFF2-40B4-BE49-F238E27FC236}">
                  <a16:creationId xmlns:a16="http://schemas.microsoft.com/office/drawing/2014/main" id="{8CB1944A-5083-4337-A2DF-7FA6DDEA5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5" y="2925"/>
              <a:ext cx="229" cy="22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grpSp>
          <p:nvGrpSpPr>
            <p:cNvPr id="53255" name="Group 9">
              <a:extLst>
                <a:ext uri="{FF2B5EF4-FFF2-40B4-BE49-F238E27FC236}">
                  <a16:creationId xmlns:a16="http://schemas.microsoft.com/office/drawing/2014/main" id="{D2DE5566-84C0-4584-B15C-31433BF5E0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0" y="2240"/>
              <a:ext cx="238" cy="1244"/>
              <a:chOff x="1882" y="2339"/>
              <a:chExt cx="238" cy="1244"/>
            </a:xfrm>
          </p:grpSpPr>
          <p:sp>
            <p:nvSpPr>
              <p:cNvPr id="53290" name="Oval 10">
                <a:extLst>
                  <a:ext uri="{FF2B5EF4-FFF2-40B4-BE49-F238E27FC236}">
                    <a16:creationId xmlns:a16="http://schemas.microsoft.com/office/drawing/2014/main" id="{666639B6-D6C8-4D08-AE8D-6404193D71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2" y="2339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53291" name="Oval 11">
                <a:extLst>
                  <a:ext uri="{FF2B5EF4-FFF2-40B4-BE49-F238E27FC236}">
                    <a16:creationId xmlns:a16="http://schemas.microsoft.com/office/drawing/2014/main" id="{B05DD903-49C1-4038-A63B-C0648515C0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2677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53292" name="Oval 12">
                <a:extLst>
                  <a:ext uri="{FF2B5EF4-FFF2-40B4-BE49-F238E27FC236}">
                    <a16:creationId xmlns:a16="http://schemas.microsoft.com/office/drawing/2014/main" id="{F391DC7E-C5D6-4FBF-AF69-775AED40EF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3015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53293" name="Oval 13">
                <a:extLst>
                  <a:ext uri="{FF2B5EF4-FFF2-40B4-BE49-F238E27FC236}">
                    <a16:creationId xmlns:a16="http://schemas.microsoft.com/office/drawing/2014/main" id="{95F5CB18-3F62-43E3-B6C0-EF2E1C3B2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1" y="3354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</p:grpSp>
        <p:grpSp>
          <p:nvGrpSpPr>
            <p:cNvPr id="53256" name="Group 14">
              <a:extLst>
                <a:ext uri="{FF2B5EF4-FFF2-40B4-BE49-F238E27FC236}">
                  <a16:creationId xmlns:a16="http://schemas.microsoft.com/office/drawing/2014/main" id="{91F15A25-EF5F-482B-ACDB-1643B7D248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3" y="2240"/>
              <a:ext cx="238" cy="1244"/>
              <a:chOff x="2558" y="2393"/>
              <a:chExt cx="238" cy="1244"/>
            </a:xfrm>
          </p:grpSpPr>
          <p:sp>
            <p:nvSpPr>
              <p:cNvPr id="53286" name="Oval 15">
                <a:extLst>
                  <a:ext uri="{FF2B5EF4-FFF2-40B4-BE49-F238E27FC236}">
                    <a16:creationId xmlns:a16="http://schemas.microsoft.com/office/drawing/2014/main" id="{2DE72F27-AE65-4E88-895C-DAE33FE6CE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8" y="2393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53287" name="Oval 16">
                <a:extLst>
                  <a:ext uri="{FF2B5EF4-FFF2-40B4-BE49-F238E27FC236}">
                    <a16:creationId xmlns:a16="http://schemas.microsoft.com/office/drawing/2014/main" id="{12F25FF4-5C56-48C3-8E5A-4228310D0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6" y="2731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53288" name="Oval 17">
                <a:extLst>
                  <a:ext uri="{FF2B5EF4-FFF2-40B4-BE49-F238E27FC236}">
                    <a16:creationId xmlns:a16="http://schemas.microsoft.com/office/drawing/2014/main" id="{617ECFC6-8AD4-4CBC-848B-AB719C366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6" y="3069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  <p:sp>
            <p:nvSpPr>
              <p:cNvPr id="53289" name="Oval 18">
                <a:extLst>
                  <a:ext uri="{FF2B5EF4-FFF2-40B4-BE49-F238E27FC236}">
                    <a16:creationId xmlns:a16="http://schemas.microsoft.com/office/drawing/2014/main" id="{627FBE32-650F-457D-A237-DB5AB5B10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" y="3408"/>
                <a:ext cx="229" cy="22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s-ES" altLang="es-ES"/>
              </a:p>
            </p:txBody>
          </p:sp>
        </p:grpSp>
        <p:sp>
          <p:nvSpPr>
            <p:cNvPr id="53257" name="Oval 19">
              <a:extLst>
                <a:ext uri="{FF2B5EF4-FFF2-40B4-BE49-F238E27FC236}">
                  <a16:creationId xmlns:a16="http://schemas.microsoft.com/office/drawing/2014/main" id="{6ADF352B-5728-48FC-99E5-3DABCD2B3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751"/>
              <a:ext cx="229" cy="22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3258" name="Line 20">
              <a:extLst>
                <a:ext uri="{FF2B5EF4-FFF2-40B4-BE49-F238E27FC236}">
                  <a16:creationId xmlns:a16="http://schemas.microsoft.com/office/drawing/2014/main" id="{C2CCBE20-1750-4477-BB4F-42B9BFB051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8" y="2414"/>
              <a:ext cx="292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59" name="Line 21">
              <a:extLst>
                <a:ext uri="{FF2B5EF4-FFF2-40B4-BE49-F238E27FC236}">
                  <a16:creationId xmlns:a16="http://schemas.microsoft.com/office/drawing/2014/main" id="{C4D234DC-9665-464D-A10B-A4F4D9ABA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97"/>
              <a:ext cx="2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60" name="Line 22">
              <a:extLst>
                <a:ext uri="{FF2B5EF4-FFF2-40B4-BE49-F238E27FC236}">
                  <a16:creationId xmlns:a16="http://schemas.microsoft.com/office/drawing/2014/main" id="{2B6FA6F2-C49D-4144-A91D-34413707A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97"/>
              <a:ext cx="283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61" name="Line 23">
              <a:extLst>
                <a:ext uri="{FF2B5EF4-FFF2-40B4-BE49-F238E27FC236}">
                  <a16:creationId xmlns:a16="http://schemas.microsoft.com/office/drawing/2014/main" id="{FA5DF2FA-B7AA-45AC-86FD-4B9BC6BEF9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5" y="2725"/>
              <a:ext cx="293" cy="5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62" name="Line 24">
              <a:extLst>
                <a:ext uri="{FF2B5EF4-FFF2-40B4-BE49-F238E27FC236}">
                  <a16:creationId xmlns:a16="http://schemas.microsoft.com/office/drawing/2014/main" id="{7165FD88-31B5-453E-B5C5-15F184E29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5" y="3045"/>
              <a:ext cx="284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63" name="Line 25">
              <a:extLst>
                <a:ext uri="{FF2B5EF4-FFF2-40B4-BE49-F238E27FC236}">
                  <a16:creationId xmlns:a16="http://schemas.microsoft.com/office/drawing/2014/main" id="{880ED3A2-3544-4DB4-A4C9-684A3DF5F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5" y="3045"/>
              <a:ext cx="2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64" name="Line 26">
              <a:extLst>
                <a:ext uri="{FF2B5EF4-FFF2-40B4-BE49-F238E27FC236}">
                  <a16:creationId xmlns:a16="http://schemas.microsoft.com/office/drawing/2014/main" id="{2235A3EE-B360-453E-8882-D388725146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5" y="2761"/>
              <a:ext cx="293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65" name="Line 27">
              <a:extLst>
                <a:ext uri="{FF2B5EF4-FFF2-40B4-BE49-F238E27FC236}">
                  <a16:creationId xmlns:a16="http://schemas.microsoft.com/office/drawing/2014/main" id="{C9A59C99-C691-4E6A-8AC3-55386DE185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4" y="2450"/>
              <a:ext cx="293" cy="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66" name="Line 28">
              <a:extLst>
                <a:ext uri="{FF2B5EF4-FFF2-40B4-BE49-F238E27FC236}">
                  <a16:creationId xmlns:a16="http://schemas.microsoft.com/office/drawing/2014/main" id="{5D54FE02-1B6E-4393-8086-7A30E330E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9" y="2368"/>
              <a:ext cx="2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67" name="Line 29">
              <a:extLst>
                <a:ext uri="{FF2B5EF4-FFF2-40B4-BE49-F238E27FC236}">
                  <a16:creationId xmlns:a16="http://schemas.microsoft.com/office/drawing/2014/main" id="{491597FF-9884-4C6A-91BE-1503398B2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377"/>
              <a:ext cx="283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68" name="Line 30">
              <a:extLst>
                <a:ext uri="{FF2B5EF4-FFF2-40B4-BE49-F238E27FC236}">
                  <a16:creationId xmlns:a16="http://schemas.microsoft.com/office/drawing/2014/main" id="{A50C52E1-8A3D-4428-B309-B10FC5355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386"/>
              <a:ext cx="293" cy="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69" name="Line 31">
              <a:extLst>
                <a:ext uri="{FF2B5EF4-FFF2-40B4-BE49-F238E27FC236}">
                  <a16:creationId xmlns:a16="http://schemas.microsoft.com/office/drawing/2014/main" id="{587AB5EA-9445-4829-AFB2-EDD64EA43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386"/>
              <a:ext cx="293" cy="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70" name="Line 32">
              <a:extLst>
                <a:ext uri="{FF2B5EF4-FFF2-40B4-BE49-F238E27FC236}">
                  <a16:creationId xmlns:a16="http://schemas.microsoft.com/office/drawing/2014/main" id="{9D39BC8E-7F25-4DDE-B574-E94688A16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9" y="3374"/>
              <a:ext cx="2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71" name="Line 33">
              <a:extLst>
                <a:ext uri="{FF2B5EF4-FFF2-40B4-BE49-F238E27FC236}">
                  <a16:creationId xmlns:a16="http://schemas.microsoft.com/office/drawing/2014/main" id="{66FF7FB2-C5EA-4FF3-AC67-9A8A1F397A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9" y="3109"/>
              <a:ext cx="311" cy="2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72" name="Line 34">
              <a:extLst>
                <a:ext uri="{FF2B5EF4-FFF2-40B4-BE49-F238E27FC236}">
                  <a16:creationId xmlns:a16="http://schemas.microsoft.com/office/drawing/2014/main" id="{BF97863E-0720-4FC7-A597-7B0327E269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8" y="2779"/>
              <a:ext cx="320" cy="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73" name="Line 35">
              <a:extLst>
                <a:ext uri="{FF2B5EF4-FFF2-40B4-BE49-F238E27FC236}">
                  <a16:creationId xmlns:a16="http://schemas.microsoft.com/office/drawing/2014/main" id="{F43467F4-F797-4750-8614-110523C0D6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7" y="2441"/>
              <a:ext cx="302" cy="9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74" name="Line 36">
              <a:extLst>
                <a:ext uri="{FF2B5EF4-FFF2-40B4-BE49-F238E27FC236}">
                  <a16:creationId xmlns:a16="http://schemas.microsoft.com/office/drawing/2014/main" id="{76C69E0D-13E5-4CBB-94A6-1DB28ED8B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3054"/>
              <a:ext cx="302" cy="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75" name="Line 37">
              <a:extLst>
                <a:ext uri="{FF2B5EF4-FFF2-40B4-BE49-F238E27FC236}">
                  <a16:creationId xmlns:a16="http://schemas.microsoft.com/office/drawing/2014/main" id="{37A32E90-FA6A-4CD2-BBEE-AA9443440D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7" y="3054"/>
              <a:ext cx="284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76" name="Line 38">
              <a:extLst>
                <a:ext uri="{FF2B5EF4-FFF2-40B4-BE49-F238E27FC236}">
                  <a16:creationId xmlns:a16="http://schemas.microsoft.com/office/drawing/2014/main" id="{AC935F0F-E9E4-4422-AD0D-A6D16E6852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7" y="2743"/>
              <a:ext cx="284" cy="3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77" name="Line 39">
              <a:extLst>
                <a:ext uri="{FF2B5EF4-FFF2-40B4-BE49-F238E27FC236}">
                  <a16:creationId xmlns:a16="http://schemas.microsoft.com/office/drawing/2014/main" id="{A3621A58-A2C6-4A2D-8344-B9E8DF9CF0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7" y="2441"/>
              <a:ext cx="293" cy="6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78" name="Line 40">
              <a:extLst>
                <a:ext uri="{FF2B5EF4-FFF2-40B4-BE49-F238E27FC236}">
                  <a16:creationId xmlns:a16="http://schemas.microsoft.com/office/drawing/2014/main" id="{7309C545-BEDF-4D92-B298-86C1A7ABA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9" y="2688"/>
              <a:ext cx="320" cy="6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79" name="Line 41">
              <a:extLst>
                <a:ext uri="{FF2B5EF4-FFF2-40B4-BE49-F238E27FC236}">
                  <a16:creationId xmlns:a16="http://schemas.microsoft.com/office/drawing/2014/main" id="{99B222DB-5F13-4D54-ACBA-BF4C05BDA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688"/>
              <a:ext cx="283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80" name="Line 42">
              <a:extLst>
                <a:ext uri="{FF2B5EF4-FFF2-40B4-BE49-F238E27FC236}">
                  <a16:creationId xmlns:a16="http://schemas.microsoft.com/office/drawing/2014/main" id="{73BD67E9-3A7B-47E8-B05A-3EA7C544EB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688"/>
              <a:ext cx="283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81" name="Line 43">
              <a:extLst>
                <a:ext uri="{FF2B5EF4-FFF2-40B4-BE49-F238E27FC236}">
                  <a16:creationId xmlns:a16="http://schemas.microsoft.com/office/drawing/2014/main" id="{81A7D5E4-87EF-4261-A231-67F7E0220D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8" y="2405"/>
              <a:ext cx="293" cy="2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82" name="Line 44">
              <a:extLst>
                <a:ext uri="{FF2B5EF4-FFF2-40B4-BE49-F238E27FC236}">
                  <a16:creationId xmlns:a16="http://schemas.microsoft.com/office/drawing/2014/main" id="{97ABC602-1D56-45B6-AC79-7CE95C88B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" y="2395"/>
              <a:ext cx="293" cy="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83" name="Line 45">
              <a:extLst>
                <a:ext uri="{FF2B5EF4-FFF2-40B4-BE49-F238E27FC236}">
                  <a16:creationId xmlns:a16="http://schemas.microsoft.com/office/drawing/2014/main" id="{08BF9345-233A-4089-95BA-91572F6742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9" y="2953"/>
              <a:ext cx="284" cy="4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84" name="Line 46">
              <a:extLst>
                <a:ext uri="{FF2B5EF4-FFF2-40B4-BE49-F238E27FC236}">
                  <a16:creationId xmlns:a16="http://schemas.microsoft.com/office/drawing/2014/main" id="{BB4B7FC0-24E2-44CD-9A39-DB6E8792D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0" y="2907"/>
              <a:ext cx="274" cy="1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53285" name="Line 47">
              <a:extLst>
                <a:ext uri="{FF2B5EF4-FFF2-40B4-BE49-F238E27FC236}">
                  <a16:creationId xmlns:a16="http://schemas.microsoft.com/office/drawing/2014/main" id="{9F8A8DBE-0108-4A9B-A113-7FBB8D72B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9" y="2715"/>
              <a:ext cx="265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D7EA3272-C09A-4CB8-A01A-1BAD54181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549" y="340052"/>
            <a:ext cx="34355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_tradnl" altLang="es-ES" sz="2800" b="1" dirty="0"/>
              <a:t>Redes Neuronales</a:t>
            </a:r>
          </a:p>
        </p:txBody>
      </p:sp>
      <p:sp>
        <p:nvSpPr>
          <p:cNvPr id="54275" name="Text Box 3">
            <a:extLst>
              <a:ext uri="{FF2B5EF4-FFF2-40B4-BE49-F238E27FC236}">
                <a16:creationId xmlns:a16="http://schemas.microsoft.com/office/drawing/2014/main" id="{80656946-7DBE-41AF-80A2-A757BEA57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1971675"/>
            <a:ext cx="80613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s-ES" altLang="es-ES" sz="2400"/>
              <a:t> Perceptrón multicapa</a:t>
            </a:r>
          </a:p>
          <a:p>
            <a:pPr lvl="1">
              <a:buFontTx/>
              <a:buChar char="•"/>
            </a:pPr>
            <a:r>
              <a:rPr lang="es-ES" altLang="es-ES" sz="2400"/>
              <a:t> Ejemplos de sistemas no linealmente separables que se pueden resolver</a:t>
            </a:r>
            <a:endParaRPr lang="es-ES" altLang="es-ES" sz="2400" i="1"/>
          </a:p>
        </p:txBody>
      </p:sp>
      <p:grpSp>
        <p:nvGrpSpPr>
          <p:cNvPr id="54276" name="45 Grupo">
            <a:extLst>
              <a:ext uri="{FF2B5EF4-FFF2-40B4-BE49-F238E27FC236}">
                <a16:creationId xmlns:a16="http://schemas.microsoft.com/office/drawing/2014/main" id="{1C64CF3C-6A3A-42AA-AB0C-EBCE0D9C7D8D}"/>
              </a:ext>
            </a:extLst>
          </p:cNvPr>
          <p:cNvGrpSpPr>
            <a:grpSpLocks/>
          </p:cNvGrpSpPr>
          <p:nvPr/>
        </p:nvGrpSpPr>
        <p:grpSpPr bwMode="auto">
          <a:xfrm>
            <a:off x="1030288" y="3643313"/>
            <a:ext cx="3411537" cy="2613025"/>
            <a:chOff x="1030514" y="3643092"/>
            <a:chExt cx="3410857" cy="2613365"/>
          </a:xfrm>
        </p:grpSpPr>
        <p:cxnSp>
          <p:nvCxnSpPr>
            <p:cNvPr id="54293" name="15 Conector recto de flecha">
              <a:extLst>
                <a:ext uri="{FF2B5EF4-FFF2-40B4-BE49-F238E27FC236}">
                  <a16:creationId xmlns:a16="http://schemas.microsoft.com/office/drawing/2014/main" id="{DCB8DA6C-274B-4ADE-A179-43DD514DA9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8448" y="5029603"/>
              <a:ext cx="245212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54294" name="16 Conector recto de flecha">
              <a:extLst>
                <a:ext uri="{FF2B5EF4-FFF2-40B4-BE49-F238E27FC236}">
                  <a16:creationId xmlns:a16="http://schemas.microsoft.com/office/drawing/2014/main" id="{BC59DB21-BADF-4B5C-B081-BDBA480F22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30514" y="6096006"/>
              <a:ext cx="3410857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54295" name="17 Conector recto">
              <a:extLst>
                <a:ext uri="{FF2B5EF4-FFF2-40B4-BE49-F238E27FC236}">
                  <a16:creationId xmlns:a16="http://schemas.microsoft.com/office/drawing/2014/main" id="{57D36A74-C751-4CE0-BD2A-DC11B3A275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80343" y="4093034"/>
              <a:ext cx="1625600" cy="60960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54296" name="18 Elipse">
              <a:extLst>
                <a:ext uri="{FF2B5EF4-FFF2-40B4-BE49-F238E27FC236}">
                  <a16:creationId xmlns:a16="http://schemas.microsoft.com/office/drawing/2014/main" id="{16FC6C06-E6EF-4F00-9826-CC5E7A91B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799" y="4470406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97" name="19 Elipse">
              <a:extLst>
                <a:ext uri="{FF2B5EF4-FFF2-40B4-BE49-F238E27FC236}">
                  <a16:creationId xmlns:a16="http://schemas.microsoft.com/office/drawing/2014/main" id="{5E04DC71-A0CC-43B4-A508-E746BF80C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1885" y="4172863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98" name="20 Elipse">
              <a:extLst>
                <a:ext uri="{FF2B5EF4-FFF2-40B4-BE49-F238E27FC236}">
                  <a16:creationId xmlns:a16="http://schemas.microsoft.com/office/drawing/2014/main" id="{278630FD-B7B2-48B1-ACE2-305AA6144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0742" y="4601034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99" name="21 Elipse">
              <a:extLst>
                <a:ext uri="{FF2B5EF4-FFF2-40B4-BE49-F238E27FC236}">
                  <a16:creationId xmlns:a16="http://schemas.microsoft.com/office/drawing/2014/main" id="{6C7D2F3B-1EFF-496F-A1C0-E85D043F1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027" y="4085778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300" name="22 Elipse">
              <a:extLst>
                <a:ext uri="{FF2B5EF4-FFF2-40B4-BE49-F238E27FC236}">
                  <a16:creationId xmlns:a16="http://schemas.microsoft.com/office/drawing/2014/main" id="{B5D4A255-7471-41C3-8241-F791A4E15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8279" y="4942117"/>
              <a:ext cx="145143" cy="14514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301" name="23 Elipse">
              <a:extLst>
                <a:ext uri="{FF2B5EF4-FFF2-40B4-BE49-F238E27FC236}">
                  <a16:creationId xmlns:a16="http://schemas.microsoft.com/office/drawing/2014/main" id="{6DCCA0D7-96E4-4EA9-A622-1EA71951E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1427" y="5167081"/>
              <a:ext cx="145143" cy="14514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302" name="24 Elipse">
              <a:extLst>
                <a:ext uri="{FF2B5EF4-FFF2-40B4-BE49-F238E27FC236}">
                  <a16:creationId xmlns:a16="http://schemas.microsoft.com/office/drawing/2014/main" id="{B42CC12B-8E38-4EBA-B435-9430E7892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4679" y="5537197"/>
              <a:ext cx="145143" cy="14514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303" name="25 Elipse">
              <a:extLst>
                <a:ext uri="{FF2B5EF4-FFF2-40B4-BE49-F238E27FC236}">
                  <a16:creationId xmlns:a16="http://schemas.microsoft.com/office/drawing/2014/main" id="{37C2AFE6-B154-4F31-B4F2-DCD6CF9A0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907" y="5529940"/>
              <a:ext cx="145143" cy="14514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304" name="26 Elipse">
              <a:extLst>
                <a:ext uri="{FF2B5EF4-FFF2-40B4-BE49-F238E27FC236}">
                  <a16:creationId xmlns:a16="http://schemas.microsoft.com/office/drawing/2014/main" id="{1B8A748F-384D-4A1E-AF97-46CD50394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9999" y="4426863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305" name="27 Elipse">
              <a:extLst>
                <a:ext uri="{FF2B5EF4-FFF2-40B4-BE49-F238E27FC236}">
                  <a16:creationId xmlns:a16="http://schemas.microsoft.com/office/drawing/2014/main" id="{06955B4B-F4D6-4680-83C9-332913274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628" y="4811491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306" name="28 Elipse">
              <a:extLst>
                <a:ext uri="{FF2B5EF4-FFF2-40B4-BE49-F238E27FC236}">
                  <a16:creationId xmlns:a16="http://schemas.microsoft.com/office/drawing/2014/main" id="{9E2FEC37-3711-4E94-BA46-8DF7B77FC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8741" y="4339777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307" name="29 Elipse">
              <a:extLst>
                <a:ext uri="{FF2B5EF4-FFF2-40B4-BE49-F238E27FC236}">
                  <a16:creationId xmlns:a16="http://schemas.microsoft.com/office/drawing/2014/main" id="{DB502643-F81A-4835-9099-F5F04434B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9770" y="4985663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cxnSp>
          <p:nvCxnSpPr>
            <p:cNvPr id="54308" name="34 Conector recto">
              <a:extLst>
                <a:ext uri="{FF2B5EF4-FFF2-40B4-BE49-F238E27FC236}">
                  <a16:creationId xmlns:a16="http://schemas.microsoft.com/office/drawing/2014/main" id="{FBE3A2D9-B58F-494B-962F-EAA6AFBF4A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1371600" y="3650349"/>
              <a:ext cx="1030514" cy="10160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54309" name="36 Conector recto">
              <a:extLst>
                <a:ext uri="{FF2B5EF4-FFF2-40B4-BE49-F238E27FC236}">
                  <a16:creationId xmlns:a16="http://schemas.microsoft.com/office/drawing/2014/main" id="{01C19CA9-0376-40CB-AA76-99F7A2107A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2394857" y="4673606"/>
              <a:ext cx="1030514" cy="103051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4310" name="38 Conector recto">
              <a:extLst>
                <a:ext uri="{FF2B5EF4-FFF2-40B4-BE49-F238E27FC236}">
                  <a16:creationId xmlns:a16="http://schemas.microsoft.com/office/drawing/2014/main" id="{8B8B933A-26F3-4EE5-A67D-FEB1133D54D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1045029" y="4702633"/>
              <a:ext cx="1349829" cy="49348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54277" name="46 Grupo">
            <a:extLst>
              <a:ext uri="{FF2B5EF4-FFF2-40B4-BE49-F238E27FC236}">
                <a16:creationId xmlns:a16="http://schemas.microsoft.com/office/drawing/2014/main" id="{5FE6B4E7-3534-4888-A96E-22CFC2941DF6}"/>
              </a:ext>
            </a:extLst>
          </p:cNvPr>
          <p:cNvGrpSpPr>
            <a:grpSpLocks/>
          </p:cNvGrpSpPr>
          <p:nvPr/>
        </p:nvGrpSpPr>
        <p:grpSpPr bwMode="auto">
          <a:xfrm>
            <a:off x="4818063" y="3722688"/>
            <a:ext cx="3411537" cy="2533650"/>
            <a:chOff x="4818743" y="3722920"/>
            <a:chExt cx="3410857" cy="2533537"/>
          </a:xfrm>
        </p:grpSpPr>
        <p:cxnSp>
          <p:nvCxnSpPr>
            <p:cNvPr id="54278" name="4 Conector recto de flecha">
              <a:extLst>
                <a:ext uri="{FF2B5EF4-FFF2-40B4-BE49-F238E27FC236}">
                  <a16:creationId xmlns:a16="http://schemas.microsoft.com/office/drawing/2014/main" id="{8A942C34-DF95-4A1B-8A1A-BA8C283D9A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796677" y="5029603"/>
              <a:ext cx="245212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54279" name="5 Conector recto de flecha">
              <a:extLst>
                <a:ext uri="{FF2B5EF4-FFF2-40B4-BE49-F238E27FC236}">
                  <a16:creationId xmlns:a16="http://schemas.microsoft.com/office/drawing/2014/main" id="{E3A7A7B1-D3C6-4FA0-A483-4B23257DDA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18743" y="6096006"/>
              <a:ext cx="3410857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54280" name="7 Elipse">
              <a:extLst>
                <a:ext uri="{FF2B5EF4-FFF2-40B4-BE49-F238E27FC236}">
                  <a16:creationId xmlns:a16="http://schemas.microsoft.com/office/drawing/2014/main" id="{1557FAA5-699A-4DF8-A284-ED700D301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3314" y="3831777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81" name="8 Elipse">
              <a:extLst>
                <a:ext uri="{FF2B5EF4-FFF2-40B4-BE49-F238E27FC236}">
                  <a16:creationId xmlns:a16="http://schemas.microsoft.com/office/drawing/2014/main" id="{37167756-2CC7-4B16-9751-83D6987D2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1941" y="3722920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82" name="9 Elipse">
              <a:extLst>
                <a:ext uri="{FF2B5EF4-FFF2-40B4-BE49-F238E27FC236}">
                  <a16:creationId xmlns:a16="http://schemas.microsoft.com/office/drawing/2014/main" id="{88122EB9-52EB-4996-BB36-B39AAC459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4114" y="4862292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83" name="10 Elipse">
              <a:extLst>
                <a:ext uri="{FF2B5EF4-FFF2-40B4-BE49-F238E27FC236}">
                  <a16:creationId xmlns:a16="http://schemas.microsoft.com/office/drawing/2014/main" id="{45A12745-1B99-445C-AECA-3E696565C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599" y="4593778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84" name="11 Elipse">
              <a:extLst>
                <a:ext uri="{FF2B5EF4-FFF2-40B4-BE49-F238E27FC236}">
                  <a16:creationId xmlns:a16="http://schemas.microsoft.com/office/drawing/2014/main" id="{F3CEE32C-16CD-4E82-BD74-29CCC81EE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8050" y="4085773"/>
              <a:ext cx="145143" cy="14514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85" name="12 Elipse">
              <a:extLst>
                <a:ext uri="{FF2B5EF4-FFF2-40B4-BE49-F238E27FC236}">
                  <a16:creationId xmlns:a16="http://schemas.microsoft.com/office/drawing/2014/main" id="{10B60722-DB4B-43BD-9BE7-EF1D941A9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2741" y="4862282"/>
              <a:ext cx="145143" cy="14514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86" name="13 Elipse">
              <a:extLst>
                <a:ext uri="{FF2B5EF4-FFF2-40B4-BE49-F238E27FC236}">
                  <a16:creationId xmlns:a16="http://schemas.microsoft.com/office/drawing/2014/main" id="{37EBDE82-17BD-4D30-AE45-F00CFC483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7765" y="4463140"/>
              <a:ext cx="145143" cy="14514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87" name="14 Elipse">
              <a:extLst>
                <a:ext uri="{FF2B5EF4-FFF2-40B4-BE49-F238E27FC236}">
                  <a16:creationId xmlns:a16="http://schemas.microsoft.com/office/drawing/2014/main" id="{B96F7842-DACF-419C-8076-87A5F6CEF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0108" y="4615540"/>
              <a:ext cx="145143" cy="14514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88" name="39 Elipse">
              <a:extLst>
                <a:ext uri="{FF2B5EF4-FFF2-40B4-BE49-F238E27FC236}">
                  <a16:creationId xmlns:a16="http://schemas.microsoft.com/office/drawing/2014/main" id="{5DB2530F-EE61-49BA-B9F6-8A85E3D5A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5712" y="3875320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89" name="40 Elipse">
              <a:extLst>
                <a:ext uri="{FF2B5EF4-FFF2-40B4-BE49-F238E27FC236}">
                  <a16:creationId xmlns:a16="http://schemas.microsoft.com/office/drawing/2014/main" id="{9F4E045C-3318-412C-8D79-68A3F6426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2055" y="4390577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90" name="41 Elipse">
              <a:extLst>
                <a:ext uri="{FF2B5EF4-FFF2-40B4-BE49-F238E27FC236}">
                  <a16:creationId xmlns:a16="http://schemas.microsoft.com/office/drawing/2014/main" id="{89DF20F5-EE4F-421F-A475-07E451D10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7313" y="5646063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91" name="42 Elipse">
              <a:extLst>
                <a:ext uri="{FF2B5EF4-FFF2-40B4-BE49-F238E27FC236}">
                  <a16:creationId xmlns:a16="http://schemas.microsoft.com/office/drawing/2014/main" id="{14A841ED-6B42-48ED-9026-3CA930782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6398" y="5116292"/>
              <a:ext cx="145143" cy="14514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s-ES" altLang="es-ES"/>
            </a:p>
          </p:txBody>
        </p:sp>
        <p:sp>
          <p:nvSpPr>
            <p:cNvPr id="54292" name="43 Forma libre">
              <a:extLst>
                <a:ext uri="{FF2B5EF4-FFF2-40B4-BE49-F238E27FC236}">
                  <a16:creationId xmlns:a16="http://schemas.microsoft.com/office/drawing/2014/main" id="{386F0B2A-6947-438D-8358-3D8134300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257" y="3976920"/>
              <a:ext cx="1306286" cy="1349829"/>
            </a:xfrm>
            <a:custGeom>
              <a:avLst/>
              <a:gdLst>
                <a:gd name="T0" fmla="*/ 0 w 1306286"/>
                <a:gd name="T1" fmla="*/ 508000 h 1349829"/>
                <a:gd name="T2" fmla="*/ 682172 w 1306286"/>
                <a:gd name="T3" fmla="*/ 0 h 1349829"/>
                <a:gd name="T4" fmla="*/ 1306286 w 1306286"/>
                <a:gd name="T5" fmla="*/ 595086 h 1349829"/>
                <a:gd name="T6" fmla="*/ 464457 w 1306286"/>
                <a:gd name="T7" fmla="*/ 1349829 h 1349829"/>
                <a:gd name="T8" fmla="*/ 0 w 1306286"/>
                <a:gd name="T9" fmla="*/ 508000 h 13498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6286" h="1349829">
                  <a:moveTo>
                    <a:pt x="0" y="508000"/>
                  </a:moveTo>
                  <a:lnTo>
                    <a:pt x="682172" y="0"/>
                  </a:lnTo>
                  <a:lnTo>
                    <a:pt x="1306286" y="595086"/>
                  </a:lnTo>
                  <a:lnTo>
                    <a:pt x="464457" y="1349829"/>
                  </a:lnTo>
                  <a:lnTo>
                    <a:pt x="0" y="508000"/>
                  </a:lnTo>
                  <a:close/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UNEF">
  <a:themeElements>
    <a:clrScheme name="CUNEF">
      <a:dk1>
        <a:srgbClr val="000000"/>
      </a:dk1>
      <a:lt1>
        <a:srgbClr val="FFFFFF"/>
      </a:lt1>
      <a:dk2>
        <a:srgbClr val="666579"/>
      </a:dk2>
      <a:lt2>
        <a:srgbClr val="E7E6E6"/>
      </a:lt2>
      <a:accent1>
        <a:srgbClr val="666579"/>
      </a:accent1>
      <a:accent2>
        <a:srgbClr val="FF5C00"/>
      </a:accent2>
      <a:accent3>
        <a:srgbClr val="B91003"/>
      </a:accent3>
      <a:accent4>
        <a:srgbClr val="D8D8D8"/>
      </a:accent4>
      <a:accent5>
        <a:srgbClr val="A5A5A5"/>
      </a:accent5>
      <a:accent6>
        <a:srgbClr val="7F7F7F"/>
      </a:accent6>
      <a:hlink>
        <a:srgbClr val="ED7D31"/>
      </a:hlink>
      <a:folHlink>
        <a:srgbClr val="FF5C00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UNEF institucional  -  Solo lectura" id="{2EB8A9B3-A3E3-40D3-A703-7F9FE62C1EAF}" vid="{3012FB01-CACB-41DE-AABD-DBFD28A06EC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DE829C97C7884895933471DB612A58" ma:contentTypeVersion="9" ma:contentTypeDescription="Crear nuevo documento." ma:contentTypeScope="" ma:versionID="1cdf6c461462eeb5260c1b46ebacd9ad">
  <xsd:schema xmlns:xsd="http://www.w3.org/2001/XMLSchema" xmlns:xs="http://www.w3.org/2001/XMLSchema" xmlns:p="http://schemas.microsoft.com/office/2006/metadata/properties" xmlns:ns2="043a2861-12f5-42c4-86bb-7c02e7b56615" xmlns:ns3="f1b76412-b559-4b2b-a72a-b9910f7ef396" targetNamespace="http://schemas.microsoft.com/office/2006/metadata/properties" ma:root="true" ma:fieldsID="23f0c6582791c17ad7ee9b3ce1e1f161" ns2:_="" ns3:_="">
    <xsd:import namespace="043a2861-12f5-42c4-86bb-7c02e7b56615"/>
    <xsd:import namespace="f1b76412-b559-4b2b-a72a-b9910f7ef39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3a2861-12f5-42c4-86bb-7c02e7b5661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Última vez que se compartió por usuario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Última vez que se compartió por hora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76412-b559-4b2b-a72a-b9910f7ef3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AFE0FF6-C6F1-4151-B683-4596DCDFA4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3a2861-12f5-42c4-86bb-7c02e7b56615"/>
    <ds:schemaRef ds:uri="f1b76412-b559-4b2b-a72a-b9910f7ef3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01312E3-16C8-45D5-8B77-F4AFCE6FCE3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5168F8-AF4E-4137-8ED7-1449B3E7FBF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1691</TotalTime>
  <Words>1131</Words>
  <Application>Microsoft Office PowerPoint</Application>
  <PresentationFormat>Presentación en pantalla (4:3)</PresentationFormat>
  <Paragraphs>236</Paragraphs>
  <Slides>22</Slides>
  <Notes>21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Calibri</vt:lpstr>
      <vt:lpstr>Courier New</vt:lpstr>
      <vt:lpstr>Times New Roman</vt:lpstr>
      <vt:lpstr>CUNEF</vt:lpstr>
      <vt:lpstr>Ecuación</vt:lpstr>
      <vt:lpstr>2. Perceptrón multicapa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Dañobeitia Canales, Natalia</dc:creator>
  <cp:lastModifiedBy>Guevara Maldonado, César Byron</cp:lastModifiedBy>
  <cp:revision>209</cp:revision>
  <dcterms:created xsi:type="dcterms:W3CDTF">2017-10-05T10:17:36Z</dcterms:created>
  <dcterms:modified xsi:type="dcterms:W3CDTF">2025-03-11T14:55:10Z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0x0101002BDE829C97C7884895933471DB612A58</vt:lpwstr>
  </property>
</Properties>
</file>