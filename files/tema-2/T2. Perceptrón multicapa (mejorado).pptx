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28016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PERCEPTRÓN MULTICAPA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A9A9A"/>
                </a:solidFill>
                <a:latin typeface="Calibri"/>
              </a:rPr>
              <a:t>#1</a:t>
            </a:r>
          </a:p>
        </p:txBody>
      </p:sp>
      <p:pic>
        <p:nvPicPr>
          <p:cNvPr id="7" name="Picture 6" descr="ml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3063240"/>
            <a:ext cx="4754880" cy="32689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1828800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9520E"/>
                </a:solidFill>
                <a:latin typeface="Calibri"/>
              </a:rPr>
              <a:t>APRENDIZAJE PROFUNDO · TEMA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67712"/>
            <a:ext cx="80467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2B2B2B"/>
                </a:solidFill>
                <a:latin typeface="Georgia"/>
              </a:rPr>
              <a:t>2. Perceptrón multicapa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526280"/>
            <a:ext cx="73152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>
                <a:solidFill>
                  <a:srgbClr val="2B2B2B"/>
                </a:solidFill>
                <a:latin typeface="Calibri"/>
              </a:rPr>
              <a:t>Prof. Óscar Sánchez Rueda</a:t>
            </a:r>
          </a:p>
          <a:p>
            <a:r>
              <a:rPr sz="1400" b="0">
                <a:solidFill>
                  <a:srgbClr val="6B6B6B"/>
                </a:solidFill>
                <a:latin typeface="Calibri"/>
              </a:rPr>
              <a:t>CUNEF Universidad · Curso 2026-2027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PERCEPTRÓN MULTICAPA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A9A9A"/>
                </a:solidFill>
                <a:latin typeface="Calibri"/>
              </a:rPr>
              <a:t>#2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2B2B2B"/>
                </a:solidFill>
                <a:latin typeface="Georgia"/>
              </a:rPr>
              <a:t>¿De qué trata este tema?</a:t>
            </a:r>
          </a:p>
        </p:txBody>
      </p:sp>
      <p:pic>
        <p:nvPicPr>
          <p:cNvPr id="7" name="Picture 6" descr="ml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0"/>
            <a:ext cx="5669280" cy="389763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46520" y="1554480"/>
            <a:ext cx="5257800" cy="4526280"/>
          </a:xfrm>
          <a:prstGeom prst="roundRect">
            <a:avLst>
              <a:gd name="adj" fmla="val 4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19456" bIns="182880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E9520E"/>
                </a:solidFill>
                <a:latin typeface="Calibri"/>
              </a:rPr>
              <a:t>De una neurona a una red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Las </a:t>
            </a:r>
            <a:r>
              <a:rPr sz="1350" b="1">
                <a:solidFill>
                  <a:srgbClr val="E9520E"/>
                </a:solidFill>
                <a:latin typeface="Calibri"/>
              </a:rPr>
              <a:t>redes neuronales</a:t>
            </a:r>
            <a:r>
              <a:rPr sz="1350" b="0">
                <a:solidFill>
                  <a:srgbClr val="2B2B2B"/>
                </a:solidFill>
                <a:latin typeface="Calibri"/>
              </a:rPr>
              <a:t> se inspiran en el sistema nervioso para procesar información.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Veremos la </a:t>
            </a:r>
            <a:r>
              <a:rPr sz="1350" b="1">
                <a:solidFill>
                  <a:srgbClr val="E9520E"/>
                </a:solidFill>
                <a:latin typeface="Calibri"/>
              </a:rPr>
              <a:t>neurona artificial</a:t>
            </a:r>
            <a:r>
              <a:rPr sz="1350" b="0">
                <a:solidFill>
                  <a:srgbClr val="2B2B2B"/>
                </a:solidFill>
                <a:latin typeface="Calibri"/>
              </a:rPr>
              <a:t>, cómo se conecta en </a:t>
            </a:r>
            <a:r>
              <a:rPr sz="1350" b="1">
                <a:solidFill>
                  <a:srgbClr val="E9520E"/>
                </a:solidFill>
                <a:latin typeface="Calibri"/>
              </a:rPr>
              <a:t>capas</a:t>
            </a:r>
            <a:r>
              <a:rPr sz="1350" b="0">
                <a:solidFill>
                  <a:srgbClr val="2B2B2B"/>
                </a:solidFill>
                <a:latin typeface="Calibri"/>
              </a:rPr>
              <a:t> y los tipos de red.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Repasaremos los </a:t>
            </a:r>
            <a:r>
              <a:rPr sz="1350" b="1">
                <a:solidFill>
                  <a:srgbClr val="E9520E"/>
                </a:solidFill>
                <a:latin typeface="Calibri"/>
              </a:rPr>
              <a:t>tipos de aprendizaje</a:t>
            </a:r>
            <a:r>
              <a:rPr sz="1350" b="0">
                <a:solidFill>
                  <a:srgbClr val="2B2B2B"/>
                </a:solidFill>
                <a:latin typeface="Calibri"/>
              </a:rPr>
              <a:t>: supervisado y no supervisado.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El </a:t>
            </a:r>
            <a:r>
              <a:rPr sz="1350" b="1">
                <a:solidFill>
                  <a:srgbClr val="E9520E"/>
                </a:solidFill>
                <a:latin typeface="Calibri"/>
              </a:rPr>
              <a:t>perceptrón simple</a:t>
            </a:r>
            <a:r>
              <a:rPr sz="1350" b="0">
                <a:solidFill>
                  <a:srgbClr val="2B2B2B"/>
                </a:solidFill>
                <a:latin typeface="Calibri"/>
              </a:rPr>
              <a:t> solo resuelve problemas </a:t>
            </a:r>
            <a:r>
              <a:rPr sz="1350" b="1">
                <a:solidFill>
                  <a:srgbClr val="E9520E"/>
                </a:solidFill>
                <a:latin typeface="Calibri"/>
              </a:rPr>
              <a:t>linealmente separables</a:t>
            </a:r>
            <a:r>
              <a:rPr sz="1350" b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El </a:t>
            </a:r>
            <a:r>
              <a:rPr sz="1350" b="1">
                <a:solidFill>
                  <a:srgbClr val="E9520E"/>
                </a:solidFill>
                <a:latin typeface="Calibri"/>
              </a:rPr>
              <a:t>perceptrón multicapa</a:t>
            </a:r>
            <a:r>
              <a:rPr sz="1350" b="0">
                <a:solidFill>
                  <a:srgbClr val="2B2B2B"/>
                </a:solidFill>
                <a:latin typeface="Calibri"/>
              </a:rPr>
              <a:t> supera esa limitación con </a:t>
            </a:r>
            <a:r>
              <a:rPr sz="1350" b="1">
                <a:solidFill>
                  <a:srgbClr val="E9520E"/>
                </a:solidFill>
                <a:latin typeface="Calibri"/>
              </a:rPr>
              <a:t>backpropagation</a:t>
            </a:r>
            <a:r>
              <a:rPr sz="1350" b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ÍNDICE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A9A9A"/>
                </a:solidFill>
                <a:latin typeface="Calibri"/>
              </a:rPr>
              <a:t>#3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2B2B2B"/>
                </a:solidFill>
                <a:latin typeface="Georgia"/>
              </a:rPr>
              <a:t>Índice del tema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E9520E"/>
                </a:solidFill>
                <a:latin typeface="Georg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>
                <a:solidFill>
                  <a:srgbClr val="2B2B2B"/>
                </a:solidFill>
                <a:latin typeface="Calibri"/>
              </a:rPr>
              <a:t>Redes neuronales: de la biología a la neurona artificial.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98648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E9520E"/>
                </a:solidFill>
                <a:latin typeface="Georg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16936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>
                <a:solidFill>
                  <a:srgbClr val="2B2B2B"/>
                </a:solidFill>
                <a:latin typeface="Calibri"/>
              </a:rPr>
              <a:t>Topología y clasificación de redes (conexiones, flujo de información).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014215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E9520E"/>
                </a:solidFill>
                <a:latin typeface="Georgi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032503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>
                <a:solidFill>
                  <a:srgbClr val="2B2B2B"/>
                </a:solidFill>
                <a:latin typeface="Calibri"/>
              </a:rPr>
              <a:t>Tipos de aprendizaje: supervisado y no supervisado.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129783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E9520E"/>
                </a:solidFill>
                <a:latin typeface="Georgia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148071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>
                <a:solidFill>
                  <a:srgbClr val="2B2B2B"/>
                </a:solidFill>
                <a:latin typeface="Calibri"/>
              </a:rPr>
              <a:t>Del perceptrón simple al perceptrón multicapa y backpropagation.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28016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BLOQUE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9C9C9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C9C9C9"/>
                </a:solidFill>
                <a:latin typeface="Calibri"/>
              </a:rPr>
              <a:t>#4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1828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>
                <a:solidFill>
                  <a:srgbClr val="E9520E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611880"/>
            <a:ext cx="104241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Georgia"/>
              </a:rPr>
              <a:t>Redes neuronales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PERCEPTRÓN MULTICAPA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A9A9A"/>
                </a:solidFill>
                <a:latin typeface="Calibri"/>
              </a:rPr>
              <a:t>#5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2B2B2B"/>
                </a:solidFill>
                <a:latin typeface="Georgia"/>
              </a:rPr>
              <a:t>Inspiración biológica</a:t>
            </a:r>
          </a:p>
        </p:txBody>
      </p:sp>
      <p:pic>
        <p:nvPicPr>
          <p:cNvPr id="7" name="Picture 6" descr="b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03120"/>
            <a:ext cx="5669280" cy="34747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46520" y="1554480"/>
            <a:ext cx="5257800" cy="4526280"/>
          </a:xfrm>
          <a:prstGeom prst="roundRect">
            <a:avLst>
              <a:gd name="adj" fmla="val 4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19456" bIns="182880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E9520E"/>
                </a:solidFill>
                <a:latin typeface="Calibri"/>
              </a:rPr>
              <a:t>El sistema nervioso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Una red neuronal es una </a:t>
            </a:r>
            <a:r>
              <a:rPr sz="1350" b="1">
                <a:solidFill>
                  <a:srgbClr val="E9520E"/>
                </a:solidFill>
                <a:latin typeface="Calibri"/>
              </a:rPr>
              <a:t>simulación abstracta</a:t>
            </a:r>
            <a:r>
              <a:rPr sz="1350" b="0">
                <a:solidFill>
                  <a:srgbClr val="2B2B2B"/>
                </a:solidFill>
                <a:latin typeface="Calibri"/>
              </a:rPr>
              <a:t> del sistema nervioso.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Las </a:t>
            </a:r>
            <a:r>
              <a:rPr sz="1350" b="1">
                <a:solidFill>
                  <a:srgbClr val="E9520E"/>
                </a:solidFill>
                <a:latin typeface="Calibri"/>
              </a:rPr>
              <a:t>neuronas y sus conexiones</a:t>
            </a:r>
            <a:r>
              <a:rPr sz="1350" b="0">
                <a:solidFill>
                  <a:srgbClr val="2B2B2B"/>
                </a:solidFill>
                <a:latin typeface="Calibri"/>
              </a:rPr>
              <a:t> son la clave del procesado de información.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Las </a:t>
            </a:r>
            <a:r>
              <a:rPr sz="1350" b="1">
                <a:solidFill>
                  <a:srgbClr val="E9520E"/>
                </a:solidFill>
                <a:latin typeface="Calibri"/>
              </a:rPr>
              <a:t>dendritas</a:t>
            </a:r>
            <a:r>
              <a:rPr sz="1350" b="0">
                <a:solidFill>
                  <a:srgbClr val="2B2B2B"/>
                </a:solidFill>
                <a:latin typeface="Calibri"/>
              </a:rPr>
              <a:t> reciben entradas; el </a:t>
            </a:r>
            <a:r>
              <a:rPr sz="1350" b="1">
                <a:solidFill>
                  <a:srgbClr val="E9520E"/>
                </a:solidFill>
                <a:latin typeface="Calibri"/>
              </a:rPr>
              <a:t>cuerpo</a:t>
            </a:r>
            <a:r>
              <a:rPr sz="1350" b="0">
                <a:solidFill>
                  <a:srgbClr val="2B2B2B"/>
                </a:solidFill>
                <a:latin typeface="Calibri"/>
              </a:rPr>
              <a:t> las integra; el </a:t>
            </a:r>
            <a:r>
              <a:rPr sz="1350" b="1">
                <a:solidFill>
                  <a:srgbClr val="E9520E"/>
                </a:solidFill>
                <a:latin typeface="Calibri"/>
              </a:rPr>
              <a:t>axón</a:t>
            </a:r>
            <a:r>
              <a:rPr sz="1350" b="0">
                <a:solidFill>
                  <a:srgbClr val="2B2B2B"/>
                </a:solidFill>
                <a:latin typeface="Calibri"/>
              </a:rPr>
              <a:t> transmite la salida.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La neurona artificial </a:t>
            </a:r>
            <a:r>
              <a:rPr sz="1350" b="1">
                <a:solidFill>
                  <a:srgbClr val="E9520E"/>
                </a:solidFill>
                <a:latin typeface="Calibri"/>
              </a:rPr>
              <a:t>imita</a:t>
            </a:r>
            <a:r>
              <a:rPr sz="1350" b="0">
                <a:solidFill>
                  <a:srgbClr val="2B2B2B"/>
                </a:solidFill>
                <a:latin typeface="Calibri"/>
              </a:rPr>
              <a:t> este esquema de forma matemática.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PERCEPTRÓN MULTICAPA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A9A9A"/>
                </a:solidFill>
                <a:latin typeface="Calibri"/>
              </a:rPr>
              <a:t>#6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2B2B2B"/>
                </a:solidFill>
                <a:latin typeface="Georgia"/>
              </a:rPr>
              <a:t>¿Por qué redes artificiales?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5486400" cy="4526280"/>
          </a:xfrm>
          <a:prstGeom prst="roundRect">
            <a:avLst>
              <a:gd name="adj" fmla="val 4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19456" bIns="182880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E9520E"/>
                </a:solidFill>
                <a:latin typeface="Calibri"/>
              </a:rPr>
              <a:t>Más allá de la biología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Un sistema nervioso no posee </a:t>
            </a:r>
            <a:r>
              <a:rPr sz="1350" b="1">
                <a:solidFill>
                  <a:srgbClr val="E9520E"/>
                </a:solidFill>
                <a:latin typeface="Calibri"/>
              </a:rPr>
              <a:t>todo el conocimiento</a:t>
            </a:r>
            <a:r>
              <a:rPr sz="1350" b="0">
                <a:solidFill>
                  <a:srgbClr val="2B2B2B"/>
                </a:solidFill>
                <a:latin typeface="Calibri"/>
              </a:rPr>
              <a:t>: hay que añadir funciones y conexiones.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Las redes artificiales se </a:t>
            </a:r>
            <a:r>
              <a:rPr sz="1350" b="1">
                <a:solidFill>
                  <a:srgbClr val="E9520E"/>
                </a:solidFill>
                <a:latin typeface="Calibri"/>
              </a:rPr>
              <a:t>diseñan para aplicaciones</a:t>
            </a:r>
            <a:r>
              <a:rPr sz="1350" b="0">
                <a:solidFill>
                  <a:srgbClr val="2B2B2B"/>
                </a:solidFill>
                <a:latin typeface="Calibri"/>
              </a:rPr>
              <a:t> concretas.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440680" cy="1371600"/>
          </a:xfrm>
          <a:prstGeom prst="roundRect">
            <a:avLst>
              <a:gd name="adj" fmla="val 10000"/>
            </a:avLst>
          </a:prstGeom>
          <a:solidFill>
            <a:srgbClr val="FB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182880"/>
          <a:lstStyle/>
          <a:p>
            <a:pPr algn="ctr"/>
            <a:r>
              <a:rPr sz="1600" b="1">
                <a:solidFill>
                  <a:srgbClr val="E9520E"/>
                </a:solidFill>
                <a:latin typeface="Calibri"/>
              </a:rPr>
              <a:t>Auto-organización</a:t>
            </a:r>
          </a:p>
          <a:p>
            <a:r>
              <a:rPr sz="1350" b="0">
                <a:solidFill>
                  <a:srgbClr val="2B2B2B"/>
                </a:solidFill>
                <a:latin typeface="Calibri"/>
              </a:rPr>
              <a:t>y adaptatividad ante nuevos datos.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072384"/>
            <a:ext cx="5440680" cy="1371600"/>
          </a:xfrm>
          <a:prstGeom prst="roundRect">
            <a:avLst>
              <a:gd name="adj" fmla="val 10000"/>
            </a:avLst>
          </a:prstGeom>
          <a:solidFill>
            <a:srgbClr val="FB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182880"/>
          <a:lstStyle/>
          <a:p>
            <a:pPr algn="ctr"/>
            <a:r>
              <a:rPr sz="1600" b="1">
                <a:solidFill>
                  <a:srgbClr val="E9520E"/>
                </a:solidFill>
                <a:latin typeface="Calibri"/>
              </a:rPr>
              <a:t>Procesado no lineal</a:t>
            </a:r>
          </a:p>
          <a:p>
            <a:r>
              <a:rPr sz="1350" b="0">
                <a:solidFill>
                  <a:srgbClr val="2B2B2B"/>
                </a:solidFill>
                <a:latin typeface="Calibri"/>
              </a:rPr>
              <a:t>capturan relaciones complejas.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4590288"/>
            <a:ext cx="5440680" cy="1371600"/>
          </a:xfrm>
          <a:prstGeom prst="roundRect">
            <a:avLst>
              <a:gd name="adj" fmla="val 10000"/>
            </a:avLst>
          </a:prstGeom>
          <a:solidFill>
            <a:srgbClr val="FB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182880"/>
          <a:lstStyle/>
          <a:p>
            <a:pPr algn="ctr"/>
            <a:r>
              <a:rPr sz="1600" b="1">
                <a:solidFill>
                  <a:srgbClr val="E9520E"/>
                </a:solidFill>
                <a:latin typeface="Calibri"/>
              </a:rPr>
              <a:t>Procesado paralelo</a:t>
            </a:r>
          </a:p>
          <a:p>
            <a:r>
              <a:rPr sz="1350" b="0">
                <a:solidFill>
                  <a:srgbClr val="2B2B2B"/>
                </a:solidFill>
                <a:latin typeface="Calibri"/>
              </a:rPr>
              <a:t>muchas unidades operan a la vez.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PERCEPTRÓN MULTICAPA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A9A9A"/>
                </a:solidFill>
                <a:latin typeface="Calibri"/>
              </a:rPr>
              <a:t>#7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2B2B2B"/>
                </a:solidFill>
                <a:latin typeface="Georgia"/>
              </a:rPr>
              <a:t>Modelo de neurona artificial</a:t>
            </a:r>
          </a:p>
        </p:txBody>
      </p:sp>
      <p:pic>
        <p:nvPicPr>
          <p:cNvPr id="7" name="Picture 6" descr="neur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74519"/>
            <a:ext cx="5349240" cy="359402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54480"/>
            <a:ext cx="5577840" cy="4526280"/>
          </a:xfrm>
          <a:prstGeom prst="roundRect">
            <a:avLst>
              <a:gd name="adj" fmla="val 4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19456" bIns="182880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E9520E"/>
                </a:solidFill>
                <a:latin typeface="Calibri"/>
              </a:rPr>
              <a:t>El elemento de procesamiento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Entradas </a:t>
            </a:r>
            <a:r>
              <a:rPr sz="1350" b="1">
                <a:solidFill>
                  <a:srgbClr val="E9520E"/>
                </a:solidFill>
                <a:latin typeface="Calibri"/>
              </a:rPr>
              <a:t>X</a:t>
            </a:r>
            <a:r>
              <a:rPr sz="1350" b="0">
                <a:solidFill>
                  <a:srgbClr val="2B2B2B"/>
                </a:solidFill>
                <a:latin typeface="Calibri"/>
              </a:rPr>
              <a:t> ponderadas por </a:t>
            </a:r>
            <a:r>
              <a:rPr sz="1350" b="1">
                <a:solidFill>
                  <a:srgbClr val="E9520E"/>
                </a:solidFill>
                <a:latin typeface="Calibri"/>
              </a:rPr>
              <a:t>pesos W</a:t>
            </a:r>
            <a:r>
              <a:rPr sz="1350" b="0">
                <a:solidFill>
                  <a:srgbClr val="2B2B2B"/>
                </a:solidFill>
                <a:latin typeface="Calibri"/>
              </a:rPr>
              <a:t> que miden su importancia.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Suma del </a:t>
            </a:r>
            <a:r>
              <a:rPr sz="1350" b="1">
                <a:solidFill>
                  <a:srgbClr val="E9520E"/>
                </a:solidFill>
                <a:latin typeface="Calibri"/>
              </a:rPr>
              <a:t>valor neto</a:t>
            </a:r>
            <a:r>
              <a:rPr sz="1350" b="0">
                <a:solidFill>
                  <a:srgbClr val="2B2B2B"/>
                </a:solidFill>
                <a:latin typeface="Calibri"/>
              </a:rPr>
              <a:t>: z = Σ wⱼᵢ·xᵢ + wⱼ₀ (tendencia/bias).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La </a:t>
            </a:r>
            <a:r>
              <a:rPr sz="1350" b="1">
                <a:solidFill>
                  <a:srgbClr val="E9520E"/>
                </a:solidFill>
                <a:latin typeface="Calibri"/>
              </a:rPr>
              <a:t>función de activación f</a:t>
            </a:r>
            <a:r>
              <a:rPr sz="1350" b="0">
                <a:solidFill>
                  <a:srgbClr val="2B2B2B"/>
                </a:solidFill>
                <a:latin typeface="Calibri"/>
              </a:rPr>
              <a:t> comprime z y produce la salida yⱼ.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Actúa como </a:t>
            </a:r>
            <a:r>
              <a:rPr sz="1350" b="1">
                <a:solidFill>
                  <a:srgbClr val="E9520E"/>
                </a:solidFill>
                <a:latin typeface="Calibri"/>
              </a:rPr>
              <a:t>limitador dinámico</a:t>
            </a:r>
            <a:r>
              <a:rPr sz="1350" b="0">
                <a:solidFill>
                  <a:srgbClr val="2B2B2B"/>
                </a:solidFill>
                <a:latin typeface="Calibri"/>
              </a:rPr>
              <a:t> (compresor) del valor de activación.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PERCEPTRÓN MULTICAPA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A9A9A"/>
                </a:solidFill>
                <a:latin typeface="Calibri"/>
              </a:rPr>
              <a:t>#8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2B2B2B"/>
                </a:solidFill>
                <a:latin typeface="Georgia"/>
              </a:rPr>
              <a:t>Topología: capas</a:t>
            </a:r>
          </a:p>
        </p:txBody>
      </p:sp>
      <p:pic>
        <p:nvPicPr>
          <p:cNvPr id="7" name="Picture 6" descr="ml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920240"/>
            <a:ext cx="5394960" cy="370903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54480"/>
            <a:ext cx="5577840" cy="4526280"/>
          </a:xfrm>
          <a:prstGeom prst="roundRect">
            <a:avLst>
              <a:gd name="adj" fmla="val 4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19456" bIns="182880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E9520E"/>
                </a:solidFill>
                <a:latin typeface="Calibri"/>
              </a:rPr>
              <a:t>Organización en capas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Los elementos de proceso se conectan formando </a:t>
            </a:r>
            <a:r>
              <a:rPr sz="1350" b="1">
                <a:solidFill>
                  <a:srgbClr val="E9520E"/>
                </a:solidFill>
                <a:latin typeface="Calibri"/>
              </a:rPr>
              <a:t>capas</a:t>
            </a:r>
            <a:r>
              <a:rPr sz="1350" b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Cada capa puede tener un </a:t>
            </a:r>
            <a:r>
              <a:rPr sz="1350" b="1">
                <a:solidFill>
                  <a:srgbClr val="E9520E"/>
                </a:solidFill>
                <a:latin typeface="Calibri"/>
              </a:rPr>
              <a:t>número distinto</a:t>
            </a:r>
            <a:r>
              <a:rPr sz="1350" b="0">
                <a:solidFill>
                  <a:srgbClr val="2B2B2B"/>
                </a:solidFill>
                <a:latin typeface="Calibri"/>
              </a:rPr>
              <a:t> de elementos.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Puede haber </a:t>
            </a:r>
            <a:r>
              <a:rPr sz="1350" b="1">
                <a:solidFill>
                  <a:srgbClr val="E9520E"/>
                </a:solidFill>
                <a:latin typeface="Calibri"/>
              </a:rPr>
              <a:t>tantas capas</a:t>
            </a:r>
            <a:r>
              <a:rPr sz="1350" b="0">
                <a:solidFill>
                  <a:srgbClr val="2B2B2B"/>
                </a:solidFill>
                <a:latin typeface="Calibri"/>
              </a:rPr>
              <a:t> como se desee.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A más capas, problemas más complejos, pero </a:t>
            </a:r>
            <a:r>
              <a:rPr sz="1350" b="1">
                <a:solidFill>
                  <a:srgbClr val="E9520E"/>
                </a:solidFill>
                <a:latin typeface="Calibri"/>
              </a:rPr>
              <a:t>no siempre mejora</a:t>
            </a:r>
            <a:r>
              <a:rPr sz="1350" b="0">
                <a:solidFill>
                  <a:srgbClr val="2B2B2B"/>
                </a:solidFill>
                <a:latin typeface="Calibri"/>
              </a:rPr>
              <a:t> el resultado.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PERCEPTRÓN MULTICAPA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A9A9A"/>
                </a:solidFill>
                <a:latin typeface="Calibri"/>
              </a:rPr>
              <a:t>#9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2B2B2B"/>
                </a:solidFill>
                <a:latin typeface="Georgia"/>
              </a:rPr>
              <a:t>Clasificación de las redes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5486400" cy="2148840"/>
          </a:xfrm>
          <a:prstGeom prst="roundRect">
            <a:avLst>
              <a:gd name="adj" fmla="val 4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19456" bIns="182880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E9520E"/>
                </a:solidFill>
                <a:latin typeface="Calibri"/>
              </a:rPr>
              <a:t>Según las conexiones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1">
                <a:solidFill>
                  <a:srgbClr val="E9520E"/>
                </a:solidFill>
                <a:latin typeface="Calibri"/>
              </a:rPr>
              <a:t>•  Totalmente conectadas</a:t>
            </a:r>
            <a:r>
              <a:rPr sz="1350" b="0">
                <a:solidFill>
                  <a:srgbClr val="2B2B2B"/>
                </a:solidFill>
                <a:latin typeface="Calibri"/>
              </a:rPr>
              <a:t>: cada neurona enlaza con todas las de la capa siguiente.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1">
                <a:solidFill>
                  <a:srgbClr val="E9520E"/>
                </a:solidFill>
                <a:latin typeface="Calibri"/>
              </a:rPr>
              <a:t>•  Localmente conectadas</a:t>
            </a:r>
            <a:r>
              <a:rPr sz="1350" b="0">
                <a:solidFill>
                  <a:srgbClr val="2B2B2B"/>
                </a:solidFill>
                <a:latin typeface="Calibri"/>
              </a:rPr>
              <a:t>: cada neurona se conecta solo a una región.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931920"/>
            <a:ext cx="5486400" cy="2148840"/>
          </a:xfrm>
          <a:prstGeom prst="roundRect">
            <a:avLst>
              <a:gd name="adj" fmla="val 4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19456" bIns="182880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E9520E"/>
                </a:solidFill>
                <a:latin typeface="Calibri"/>
              </a:rPr>
              <a:t>Clasificación multiclase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1">
                <a:solidFill>
                  <a:srgbClr val="E9520E"/>
                </a:solidFill>
                <a:latin typeface="Calibri"/>
              </a:rPr>
              <a:t>•  ACON</a:t>
            </a:r>
            <a:r>
              <a:rPr sz="1350" b="0">
                <a:solidFill>
                  <a:srgbClr val="2B2B2B"/>
                </a:solidFill>
                <a:latin typeface="Calibri"/>
              </a:rPr>
              <a:t> — All Class in One Network: todas las clases en una red.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1">
                <a:solidFill>
                  <a:srgbClr val="E9520E"/>
                </a:solidFill>
                <a:latin typeface="Calibri"/>
              </a:rPr>
              <a:t>•  OCON</a:t>
            </a:r>
            <a:r>
              <a:rPr sz="1350" b="0">
                <a:solidFill>
                  <a:srgbClr val="2B2B2B"/>
                </a:solidFill>
                <a:latin typeface="Calibri"/>
              </a:rPr>
              <a:t> — One Class in One Network: una subred por clase.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54480"/>
            <a:ext cx="5440680" cy="4526280"/>
          </a:xfrm>
          <a:prstGeom prst="roundRect">
            <a:avLst>
              <a:gd name="adj" fmla="val 4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19456" bIns="182880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E9520E"/>
                </a:solidFill>
                <a:latin typeface="Calibri"/>
              </a:rPr>
              <a:t>Según el flujo de información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1">
                <a:solidFill>
                  <a:srgbClr val="E9520E"/>
                </a:solidFill>
                <a:latin typeface="Calibri"/>
              </a:rPr>
              <a:t>•  Feedforward</a:t>
            </a:r>
            <a:r>
              <a:rPr sz="1350" b="0">
                <a:solidFill>
                  <a:srgbClr val="2B2B2B"/>
                </a:solidFill>
                <a:latin typeface="Calibri"/>
              </a:rPr>
              <a:t>: la salida de la capa i va solo a la capa i+1.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1">
                <a:solidFill>
                  <a:srgbClr val="E9520E"/>
                </a:solidFill>
                <a:latin typeface="Calibri"/>
              </a:rPr>
              <a:t>•  Feedback</a:t>
            </a:r>
            <a:r>
              <a:rPr sz="1350" b="0">
                <a:solidFill>
                  <a:srgbClr val="2B2B2B"/>
                </a:solidFill>
                <a:latin typeface="Calibri"/>
              </a:rPr>
              <a:t>: salidas que vuelven a capas anteriores.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1">
                <a:solidFill>
                  <a:srgbClr val="E9520E"/>
                </a:solidFill>
                <a:latin typeface="Calibri"/>
              </a:rPr>
              <a:t>•  Recurrentes</a:t>
            </a:r>
            <a:r>
              <a:rPr sz="1350" b="0">
                <a:solidFill>
                  <a:srgbClr val="2B2B2B"/>
                </a:solidFill>
                <a:latin typeface="Calibri"/>
              </a:rPr>
              <a:t>: existen lazos cerrados (memoria).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1">
                <a:solidFill>
                  <a:srgbClr val="E9520E"/>
                </a:solidFill>
                <a:latin typeface="Calibri"/>
              </a:rPr>
              <a:t>•  Feedlateral</a:t>
            </a:r>
            <a:r>
              <a:rPr sz="1350" b="0">
                <a:solidFill>
                  <a:srgbClr val="2B2B2B"/>
                </a:solidFill>
                <a:latin typeface="Calibri"/>
              </a:rPr>
              <a:t>: salidas que entran en la propia capa.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PERCEPTRÓN MULTICAPA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A9A9A"/>
                </a:solidFill>
                <a:latin typeface="Calibri"/>
              </a:rPr>
              <a:t>#10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2B2B2B"/>
                </a:solidFill>
                <a:latin typeface="Georgia"/>
              </a:rPr>
              <a:t>Feedforward vs. recurrente</a:t>
            </a:r>
          </a:p>
        </p:txBody>
      </p:sp>
      <p:pic>
        <p:nvPicPr>
          <p:cNvPr id="7" name="Picture 6" descr="feed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377440"/>
            <a:ext cx="5486400" cy="2286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54480"/>
            <a:ext cx="5577840" cy="4526280"/>
          </a:xfrm>
          <a:prstGeom prst="roundRect">
            <a:avLst>
              <a:gd name="adj" fmla="val 4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19456" bIns="182880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E9520E"/>
                </a:solidFill>
                <a:latin typeface="Calibri"/>
              </a:rPr>
              <a:t>Cómo circula la señal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1">
                <a:solidFill>
                  <a:srgbClr val="E9520E"/>
                </a:solidFill>
                <a:latin typeface="Calibri"/>
              </a:rPr>
              <a:t>•  Feedforward</a:t>
            </a:r>
            <a:r>
              <a:rPr sz="1350" b="0">
                <a:solidFill>
                  <a:srgbClr val="2B2B2B"/>
                </a:solidFill>
                <a:latin typeface="Calibri"/>
              </a:rPr>
              <a:t>: la información avanza en un </a:t>
            </a:r>
            <a:r>
              <a:rPr sz="1350" b="1">
                <a:solidFill>
                  <a:srgbClr val="E9520E"/>
                </a:solidFill>
                <a:latin typeface="Calibri"/>
              </a:rPr>
              <a:t>único sentido</a:t>
            </a:r>
            <a:r>
              <a:rPr sz="1350" b="0">
                <a:solidFill>
                  <a:srgbClr val="2B2B2B"/>
                </a:solidFill>
                <a:latin typeface="Calibri"/>
              </a:rPr>
              <a:t> hacia la salida.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1">
                <a:solidFill>
                  <a:srgbClr val="E9520E"/>
                </a:solidFill>
                <a:latin typeface="Calibri"/>
              </a:rPr>
              <a:t>•  Recurrente</a:t>
            </a:r>
            <a:r>
              <a:rPr sz="1350" b="0">
                <a:solidFill>
                  <a:srgbClr val="2B2B2B"/>
                </a:solidFill>
                <a:latin typeface="Calibri"/>
              </a:rPr>
              <a:t>: hay </a:t>
            </a:r>
            <a:r>
              <a:rPr sz="1350" b="1">
                <a:solidFill>
                  <a:srgbClr val="E9520E"/>
                </a:solidFill>
                <a:latin typeface="Calibri"/>
              </a:rPr>
              <a:t>realimentación</a:t>
            </a:r>
            <a:r>
              <a:rPr sz="1350" b="0">
                <a:solidFill>
                  <a:srgbClr val="2B2B2B"/>
                </a:solidFill>
                <a:latin typeface="Calibri"/>
              </a:rPr>
              <a:t>; la red mantiene un estado interno (memoria).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La mayoría de redes clásicas (perceptrón, MLP) son </a:t>
            </a:r>
            <a:r>
              <a:rPr sz="1350" b="1">
                <a:solidFill>
                  <a:srgbClr val="E9520E"/>
                </a:solidFill>
                <a:latin typeface="Calibri"/>
              </a:rPr>
              <a:t>feedforward</a:t>
            </a:r>
            <a:r>
              <a:rPr sz="1350" b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28016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BLOQUE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9C9C9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C9C9C9"/>
                </a:solidFill>
                <a:latin typeface="Calibri"/>
              </a:rPr>
              <a:t>#11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1828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>
                <a:solidFill>
                  <a:srgbClr val="E9520E"/>
                </a:solidFill>
                <a:latin typeface="Georgia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611880"/>
            <a:ext cx="104241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Georgia"/>
              </a:rPr>
              <a:t>Aprendizaje de la red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PERCEPTRÓN MULTICAPA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A9A9A"/>
                </a:solidFill>
                <a:latin typeface="Calibri"/>
              </a:rPr>
              <a:t>#12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2B2B2B"/>
                </a:solidFill>
                <a:latin typeface="Georgia"/>
              </a:rPr>
              <a:t>Estructura de un sistema de aprendizaje</a:t>
            </a:r>
          </a:p>
        </p:txBody>
      </p:sp>
      <p:pic>
        <p:nvPicPr>
          <p:cNvPr id="7" name="Picture 6" descr="learn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2743200"/>
            <a:ext cx="5669280" cy="223787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54480"/>
            <a:ext cx="5577840" cy="4526280"/>
          </a:xfrm>
          <a:prstGeom prst="roundRect">
            <a:avLst>
              <a:gd name="adj" fmla="val 4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19456" bIns="182880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E9520E"/>
                </a:solidFill>
                <a:latin typeface="Calibri"/>
              </a:rPr>
              <a:t>El ciclo de aprendizaje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Se presenta una </a:t>
            </a:r>
            <a:r>
              <a:rPr sz="1350" b="1">
                <a:solidFill>
                  <a:srgbClr val="E9520E"/>
                </a:solidFill>
                <a:latin typeface="Calibri"/>
              </a:rPr>
              <a:t>entrada</a:t>
            </a:r>
            <a:r>
              <a:rPr sz="1350" b="0">
                <a:solidFill>
                  <a:srgbClr val="2B2B2B"/>
                </a:solidFill>
                <a:latin typeface="Calibri"/>
              </a:rPr>
              <a:t> a la red.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La red produce una </a:t>
            </a:r>
            <a:r>
              <a:rPr sz="1350" b="1">
                <a:solidFill>
                  <a:srgbClr val="E9520E"/>
                </a:solidFill>
                <a:latin typeface="Calibri"/>
              </a:rPr>
              <a:t>salida</a:t>
            </a:r>
            <a:r>
              <a:rPr sz="1350" b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Un </a:t>
            </a:r>
            <a:r>
              <a:rPr sz="1350" b="1">
                <a:solidFill>
                  <a:srgbClr val="E9520E"/>
                </a:solidFill>
                <a:latin typeface="Calibri"/>
              </a:rPr>
              <a:t>comparador</a:t>
            </a:r>
            <a:r>
              <a:rPr sz="1350" b="0">
                <a:solidFill>
                  <a:srgbClr val="2B2B2B"/>
                </a:solidFill>
                <a:latin typeface="Calibri"/>
              </a:rPr>
              <a:t> la enfrenta a la salida deseada.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Se </a:t>
            </a:r>
            <a:r>
              <a:rPr sz="1350" b="1">
                <a:solidFill>
                  <a:srgbClr val="E9520E"/>
                </a:solidFill>
                <a:latin typeface="Calibri"/>
              </a:rPr>
              <a:t>actualizan los pesos</a:t>
            </a:r>
            <a:r>
              <a:rPr sz="1350" b="0">
                <a:solidFill>
                  <a:srgbClr val="2B2B2B"/>
                </a:solidFill>
                <a:latin typeface="Calibri"/>
              </a:rPr>
              <a:t> según el error y se repite.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PERCEPTRÓN MULTICAPA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A9A9A"/>
                </a:solidFill>
                <a:latin typeface="Calibri"/>
              </a:rPr>
              <a:t>#13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2B2B2B"/>
                </a:solidFill>
                <a:latin typeface="Georgia"/>
              </a:rPr>
              <a:t>Tipos de aprendizaje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5532120" cy="4526280"/>
          </a:xfrm>
          <a:prstGeom prst="roundRect">
            <a:avLst>
              <a:gd name="adj" fmla="val 4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19456" bIns="182880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E9520E"/>
                </a:solidFill>
                <a:latin typeface="Calibri"/>
              </a:rPr>
              <a:t>Supervisado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Necesita un </a:t>
            </a:r>
            <a:r>
              <a:rPr sz="1350" b="1">
                <a:solidFill>
                  <a:srgbClr val="E9520E"/>
                </a:solidFill>
                <a:latin typeface="Calibri"/>
              </a:rPr>
              <a:t>“profesor”</a:t>
            </a:r>
            <a:r>
              <a:rPr sz="1350" b="0">
                <a:solidFill>
                  <a:srgbClr val="2B2B2B"/>
                </a:solidFill>
                <a:latin typeface="Calibri"/>
              </a:rPr>
              <a:t> que indique la salida correcta.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1">
                <a:solidFill>
                  <a:srgbClr val="E9520E"/>
                </a:solidFill>
                <a:latin typeface="Calibri"/>
              </a:rPr>
              <a:t>•  Por corrección de errores</a:t>
            </a:r>
            <a:r>
              <a:rPr sz="1350" b="0">
                <a:solidFill>
                  <a:srgbClr val="2B2B2B"/>
                </a:solidFill>
                <a:latin typeface="Calibri"/>
              </a:rPr>
              <a:t>: ajusta pesos según la diferencia.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1">
                <a:solidFill>
                  <a:srgbClr val="E9520E"/>
                </a:solidFill>
                <a:latin typeface="Calibri"/>
              </a:rPr>
              <a:t>•  Por refuerzo</a:t>
            </a:r>
            <a:r>
              <a:rPr sz="1350" b="0">
                <a:solidFill>
                  <a:srgbClr val="2B2B2B"/>
                </a:solidFill>
                <a:latin typeface="Calibri"/>
              </a:rPr>
              <a:t>: una señal mide el buen comportamiento.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1">
                <a:solidFill>
                  <a:srgbClr val="E9520E"/>
                </a:solidFill>
                <a:latin typeface="Calibri"/>
              </a:rPr>
              <a:t>•  Estocástico</a:t>
            </a:r>
            <a:r>
              <a:rPr sz="1350" b="0">
                <a:solidFill>
                  <a:srgbClr val="2B2B2B"/>
                </a:solidFill>
                <a:latin typeface="Calibri"/>
              </a:rPr>
              <a:t>: cambios aleatorios guiados por energía.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554480"/>
            <a:ext cx="5532120" cy="4526280"/>
          </a:xfrm>
          <a:prstGeom prst="roundRect">
            <a:avLst>
              <a:gd name="adj" fmla="val 4000"/>
            </a:avLst>
          </a:prstGeom>
          <a:solidFill>
            <a:srgbClr val="FB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19456" bIns="182880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E9520E"/>
                </a:solidFill>
                <a:latin typeface="Calibri"/>
              </a:rPr>
              <a:t>No supervisado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1">
                <a:solidFill>
                  <a:srgbClr val="E9520E"/>
                </a:solidFill>
                <a:latin typeface="Calibri"/>
              </a:rPr>
              <a:t>•  No hay intervención externa</a:t>
            </a:r>
            <a:r>
              <a:rPr sz="1350" b="0">
                <a:solidFill>
                  <a:srgbClr val="2B2B2B"/>
                </a:solidFill>
                <a:latin typeface="Calibri"/>
              </a:rPr>
              <a:t>: nadie dice si la salida es correcta.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También llamado </a:t>
            </a:r>
            <a:r>
              <a:rPr sz="1350" b="1">
                <a:solidFill>
                  <a:srgbClr val="E9520E"/>
                </a:solidFill>
                <a:latin typeface="Calibri"/>
              </a:rPr>
              <a:t>auto-supervisado</a:t>
            </a:r>
            <a:r>
              <a:rPr sz="1350" b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Busca en los datos: </a:t>
            </a:r>
            <a:r>
              <a:rPr sz="1350" b="1">
                <a:solidFill>
                  <a:srgbClr val="E9520E"/>
                </a:solidFill>
                <a:latin typeface="Calibri"/>
              </a:rPr>
              <a:t>características, regularidades, correlaciones y categorías</a:t>
            </a:r>
            <a:r>
              <a:rPr sz="1350" b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PERCEPTRÓN MULTICAPA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A9A9A"/>
                </a:solidFill>
                <a:latin typeface="Calibri"/>
              </a:rPr>
              <a:t>#14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2B2B2B"/>
                </a:solidFill>
                <a:latin typeface="Georgia"/>
              </a:rPr>
              <a:t>Aprendizaje por corrección de error</a:t>
            </a:r>
          </a:p>
        </p:txBody>
      </p:sp>
      <p:pic>
        <p:nvPicPr>
          <p:cNvPr id="7" name="Picture 6" descr="learn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2743200"/>
            <a:ext cx="5669280" cy="223787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54480"/>
            <a:ext cx="5577840" cy="4526280"/>
          </a:xfrm>
          <a:prstGeom prst="roundRect">
            <a:avLst>
              <a:gd name="adj" fmla="val 4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19456" bIns="182880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E9520E"/>
                </a:solidFill>
                <a:latin typeface="Calibri"/>
              </a:rPr>
              <a:t>Regla de la delta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Es el esquema </a:t>
            </a:r>
            <a:r>
              <a:rPr sz="1350" b="1">
                <a:solidFill>
                  <a:srgbClr val="E9520E"/>
                </a:solidFill>
                <a:latin typeface="Calibri"/>
              </a:rPr>
              <a:t>supervisado</a:t>
            </a:r>
            <a:r>
              <a:rPr sz="1350" b="0">
                <a:solidFill>
                  <a:srgbClr val="2B2B2B"/>
                </a:solidFill>
                <a:latin typeface="Calibri"/>
              </a:rPr>
              <a:t> más habitual.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Se actualizan los pesos con la </a:t>
            </a:r>
            <a:r>
              <a:rPr sz="1350" b="1">
                <a:solidFill>
                  <a:srgbClr val="E9520E"/>
                </a:solidFill>
                <a:latin typeface="Calibri"/>
              </a:rPr>
              <a:t>regla delta</a:t>
            </a:r>
            <a:r>
              <a:rPr sz="1350" b="0">
                <a:solidFill>
                  <a:srgbClr val="2B2B2B"/>
                </a:solidFill>
                <a:latin typeface="Calibri"/>
              </a:rPr>
              <a:t>: Δwᵢ = η · (d − y) · xᵢ.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1">
                <a:solidFill>
                  <a:srgbClr val="E9520E"/>
                </a:solidFill>
                <a:latin typeface="Calibri"/>
              </a:rPr>
              <a:t>•  d</a:t>
            </a:r>
            <a:r>
              <a:rPr sz="1350" b="0">
                <a:solidFill>
                  <a:srgbClr val="2B2B2B"/>
                </a:solidFill>
                <a:latin typeface="Calibri"/>
              </a:rPr>
              <a:t> es la salida deseada y </a:t>
            </a:r>
            <a:r>
              <a:rPr sz="1350" b="1">
                <a:solidFill>
                  <a:srgbClr val="E9520E"/>
                </a:solidFill>
                <a:latin typeface="Calibri"/>
              </a:rPr>
              <a:t>η</a:t>
            </a:r>
            <a:r>
              <a:rPr sz="1350" b="0">
                <a:solidFill>
                  <a:srgbClr val="2B2B2B"/>
                </a:solidFill>
                <a:latin typeface="Calibri"/>
              </a:rPr>
              <a:t> la tasa de aprendizaje.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Se repite hasta minimizar el </a:t>
            </a:r>
            <a:r>
              <a:rPr sz="1350" b="1">
                <a:solidFill>
                  <a:srgbClr val="E9520E"/>
                </a:solidFill>
                <a:latin typeface="Calibri"/>
              </a:rPr>
              <a:t>error cometido</a:t>
            </a:r>
            <a:r>
              <a:rPr sz="1350" b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28016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BLOQUE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9C9C9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C9C9C9"/>
                </a:solidFill>
                <a:latin typeface="Calibri"/>
              </a:rPr>
              <a:t>#15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1828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>
                <a:solidFill>
                  <a:srgbClr val="E9520E"/>
                </a:solidFill>
                <a:latin typeface="Georgia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611880"/>
            <a:ext cx="104241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Georgia"/>
              </a:rPr>
              <a:t>Del perceptrón al MLP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PERCEPTRÓN MULTICAPA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A9A9A"/>
                </a:solidFill>
                <a:latin typeface="Calibri"/>
              </a:rPr>
              <a:t>#16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2B2B2B"/>
                </a:solidFill>
                <a:latin typeface="Georgia"/>
              </a:rPr>
              <a:t>El perceptrón</a:t>
            </a:r>
          </a:p>
        </p:txBody>
      </p:sp>
      <p:pic>
        <p:nvPicPr>
          <p:cNvPr id="7" name="Picture 6" descr="separ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194560"/>
            <a:ext cx="5577840" cy="2788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54480"/>
            <a:ext cx="5577840" cy="4526280"/>
          </a:xfrm>
          <a:prstGeom prst="roundRect">
            <a:avLst>
              <a:gd name="adj" fmla="val 4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19456" bIns="182880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E9520E"/>
                </a:solidFill>
                <a:latin typeface="Calibri"/>
              </a:rPr>
              <a:t>Una sola neurona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Red con una </a:t>
            </a:r>
            <a:r>
              <a:rPr sz="1350" b="1">
                <a:solidFill>
                  <a:srgbClr val="E9520E"/>
                </a:solidFill>
                <a:latin typeface="Calibri"/>
              </a:rPr>
              <a:t>única neurona</a:t>
            </a:r>
            <a:r>
              <a:rPr sz="1350" b="0">
                <a:solidFill>
                  <a:srgbClr val="2B2B2B"/>
                </a:solidFill>
                <a:latin typeface="Calibri"/>
              </a:rPr>
              <a:t> y un </a:t>
            </a:r>
            <a:r>
              <a:rPr sz="1350" b="1">
                <a:solidFill>
                  <a:srgbClr val="E9520E"/>
                </a:solidFill>
                <a:latin typeface="Calibri"/>
              </a:rPr>
              <a:t>umbral de activación</a:t>
            </a:r>
            <a:r>
              <a:rPr sz="1350" b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Calcula la salida a partir del valor de entrada ponderado.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Solo resuelve problemas </a:t>
            </a:r>
            <a:r>
              <a:rPr sz="1350" b="1">
                <a:solidFill>
                  <a:srgbClr val="E9520E"/>
                </a:solidFill>
                <a:latin typeface="Calibri"/>
              </a:rPr>
              <a:t>linealmente separables</a:t>
            </a:r>
            <a:r>
              <a:rPr sz="1350" b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Sus pesos se ajustan con la </a:t>
            </a:r>
            <a:r>
              <a:rPr sz="1350" b="1">
                <a:solidFill>
                  <a:srgbClr val="E9520E"/>
                </a:solidFill>
                <a:latin typeface="Calibri"/>
              </a:rPr>
              <a:t>regla delta</a:t>
            </a:r>
            <a:r>
              <a:rPr sz="1350" b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PERCEPTRÓN MULTICAPA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A9A9A"/>
                </a:solidFill>
                <a:latin typeface="Calibri"/>
              </a:rPr>
              <a:t>#17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2B2B2B"/>
                </a:solidFill>
                <a:latin typeface="Georgia"/>
              </a:rPr>
              <a:t>La limitación: el problema XOR</a:t>
            </a:r>
          </a:p>
        </p:txBody>
      </p:sp>
      <p:pic>
        <p:nvPicPr>
          <p:cNvPr id="7" name="Picture 6" descr="separ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194560"/>
            <a:ext cx="5577840" cy="2788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54480"/>
            <a:ext cx="5577840" cy="4526280"/>
          </a:xfrm>
          <a:prstGeom prst="roundRect">
            <a:avLst>
              <a:gd name="adj" fmla="val 4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19456" bIns="182880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E9520E"/>
                </a:solidFill>
                <a:latin typeface="Calibri"/>
              </a:rPr>
              <a:t>Lo que el perceptrón no puede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Una sola recta no separa las clases del problema </a:t>
            </a:r>
            <a:r>
              <a:rPr sz="1350" b="1">
                <a:solidFill>
                  <a:srgbClr val="E9520E"/>
                </a:solidFill>
                <a:latin typeface="Calibri"/>
              </a:rPr>
              <a:t>XOR</a:t>
            </a:r>
            <a:r>
              <a:rPr sz="1350" b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El perceptrón simple </a:t>
            </a:r>
            <a:r>
              <a:rPr sz="1350" b="1">
                <a:solidFill>
                  <a:srgbClr val="E9520E"/>
                </a:solidFill>
                <a:latin typeface="Calibri"/>
              </a:rPr>
              <a:t>fracasa</a:t>
            </a:r>
            <a:r>
              <a:rPr sz="1350" b="0">
                <a:solidFill>
                  <a:srgbClr val="2B2B2B"/>
                </a:solidFill>
                <a:latin typeface="Calibri"/>
              </a:rPr>
              <a:t> con datos no separables linealmente.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Solución: </a:t>
            </a:r>
            <a:r>
              <a:rPr sz="1350" b="1">
                <a:solidFill>
                  <a:srgbClr val="E9520E"/>
                </a:solidFill>
                <a:latin typeface="Calibri"/>
              </a:rPr>
              <a:t>añadir capas ocultas</a:t>
            </a:r>
            <a:r>
              <a:rPr sz="1350" b="0">
                <a:solidFill>
                  <a:srgbClr val="2B2B2B"/>
                </a:solidFill>
                <a:latin typeface="Calibri"/>
              </a:rPr>
              <a:t> que transformen el espacio.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Así nace el </a:t>
            </a:r>
            <a:r>
              <a:rPr sz="1350" b="1">
                <a:solidFill>
                  <a:srgbClr val="E9520E"/>
                </a:solidFill>
                <a:latin typeface="Calibri"/>
              </a:rPr>
              <a:t>perceptrón multicapa (MLP)</a:t>
            </a:r>
            <a:r>
              <a:rPr sz="1350" b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PERCEPTRÓN MULTICAPA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A9A9A"/>
                </a:solidFill>
                <a:latin typeface="Calibri"/>
              </a:rPr>
              <a:t>#18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2B2B2B"/>
                </a:solidFill>
                <a:latin typeface="Georgia"/>
              </a:rPr>
              <a:t>Perceptrón multicapa (MLP)</a:t>
            </a:r>
          </a:p>
        </p:txBody>
      </p:sp>
      <p:pic>
        <p:nvPicPr>
          <p:cNvPr id="7" name="Picture 6" descr="ml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920240"/>
            <a:ext cx="5394960" cy="370903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54480"/>
            <a:ext cx="5577840" cy="4526280"/>
          </a:xfrm>
          <a:prstGeom prst="roundRect">
            <a:avLst>
              <a:gd name="adj" fmla="val 4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19456" bIns="182880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E9520E"/>
                </a:solidFill>
                <a:latin typeface="Calibri"/>
              </a:rPr>
              <a:t>Una red con capas ocultas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Red </a:t>
            </a:r>
            <a:r>
              <a:rPr sz="1350" b="1">
                <a:solidFill>
                  <a:srgbClr val="E9520E"/>
                </a:solidFill>
                <a:latin typeface="Calibri"/>
              </a:rPr>
              <a:t>feedforward</a:t>
            </a:r>
            <a:r>
              <a:rPr sz="1350" b="0">
                <a:solidFill>
                  <a:srgbClr val="2B2B2B"/>
                </a:solidFill>
                <a:latin typeface="Calibri"/>
              </a:rPr>
              <a:t> con una o más </a:t>
            </a:r>
            <a:r>
              <a:rPr sz="1350" b="1">
                <a:solidFill>
                  <a:srgbClr val="E9520E"/>
                </a:solidFill>
                <a:latin typeface="Calibri"/>
              </a:rPr>
              <a:t>capas ocultas</a:t>
            </a:r>
            <a:r>
              <a:rPr sz="1350" b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Combina activaciones no lineales para aprender </a:t>
            </a:r>
            <a:r>
              <a:rPr sz="1350" b="1">
                <a:solidFill>
                  <a:srgbClr val="E9520E"/>
                </a:solidFill>
                <a:latin typeface="Calibri"/>
              </a:rPr>
              <a:t>fronteras complejas</a:t>
            </a:r>
            <a:r>
              <a:rPr sz="1350" b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Entrenamiento: </a:t>
            </a:r>
            <a:r>
              <a:rPr sz="1350" b="1">
                <a:solidFill>
                  <a:srgbClr val="E9520E"/>
                </a:solidFill>
                <a:latin typeface="Calibri"/>
              </a:rPr>
              <a:t>generalización de la regla delta</a:t>
            </a:r>
            <a:r>
              <a:rPr sz="1350" b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Algoritmo </a:t>
            </a:r>
            <a:r>
              <a:rPr sz="1350" b="1">
                <a:solidFill>
                  <a:srgbClr val="E9520E"/>
                </a:solidFill>
                <a:latin typeface="Calibri"/>
              </a:rPr>
              <a:t>backpropagation</a:t>
            </a:r>
            <a:r>
              <a:rPr sz="1350" b="0">
                <a:solidFill>
                  <a:srgbClr val="2B2B2B"/>
                </a:solidFill>
                <a:latin typeface="Calibri"/>
              </a:rPr>
              <a:t>: propaga el error hacia atrás para ajustar los pesos.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8016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PERCEPTRÓN MULTICAPA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9A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A9A9A"/>
                </a:solidFill>
                <a:latin typeface="Calibri"/>
              </a:rPr>
              <a:t>#19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2B2B2B"/>
                </a:solidFill>
                <a:latin typeface="Georgia"/>
              </a:rPr>
              <a:t>Qué resuelve el perceptrón multicapa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5486400" cy="4526280"/>
          </a:xfrm>
          <a:prstGeom prst="roundRect">
            <a:avLst>
              <a:gd name="adj" fmla="val 4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19456" bIns="182880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E9520E"/>
                </a:solidFill>
                <a:latin typeface="Calibri"/>
              </a:rPr>
              <a:t>Más allá de una recta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Resuelve problemas </a:t>
            </a:r>
            <a:r>
              <a:rPr sz="1350" b="1">
                <a:solidFill>
                  <a:srgbClr val="E9520E"/>
                </a:solidFill>
                <a:latin typeface="Calibri"/>
              </a:rPr>
              <a:t>no linealmente separables</a:t>
            </a:r>
            <a:r>
              <a:rPr sz="1350" b="0">
                <a:solidFill>
                  <a:srgbClr val="2B2B2B"/>
                </a:solidFill>
                <a:latin typeface="Calibri"/>
              </a:rPr>
              <a:t> como XOR.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Cada capa oculta </a:t>
            </a:r>
            <a:r>
              <a:rPr sz="1350" b="1">
                <a:solidFill>
                  <a:srgbClr val="E9520E"/>
                </a:solidFill>
                <a:latin typeface="Calibri"/>
              </a:rPr>
              <a:t>transforma el espacio</a:t>
            </a:r>
            <a:r>
              <a:rPr sz="1350" b="0">
                <a:solidFill>
                  <a:srgbClr val="2B2B2B"/>
                </a:solidFill>
                <a:latin typeface="Calibri"/>
              </a:rPr>
              <a:t> de representación.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Con suficientes neuronas aproxima </a:t>
            </a:r>
            <a:r>
              <a:rPr sz="1350" b="1">
                <a:solidFill>
                  <a:srgbClr val="E9520E"/>
                </a:solidFill>
                <a:latin typeface="Calibri"/>
              </a:rPr>
              <a:t>cualquier función</a:t>
            </a:r>
            <a:r>
              <a:rPr sz="1350" b="0">
                <a:solidFill>
                  <a:srgbClr val="2B2B2B"/>
                </a:solidFill>
                <a:latin typeface="Calibri"/>
              </a:rPr>
              <a:t> (aproximador universal).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•  Base de las </a:t>
            </a:r>
            <a:r>
              <a:rPr sz="1350" b="1">
                <a:solidFill>
                  <a:srgbClr val="E9520E"/>
                </a:solidFill>
                <a:latin typeface="Calibri"/>
              </a:rPr>
              <a:t>redes profundas</a:t>
            </a:r>
            <a:r>
              <a:rPr sz="1350" b="0">
                <a:solidFill>
                  <a:srgbClr val="2B2B2B"/>
                </a:solidFill>
                <a:latin typeface="Calibri"/>
              </a:rPr>
              <a:t> actuales.</a:t>
            </a:r>
          </a:p>
        </p:txBody>
      </p:sp>
      <p:pic>
        <p:nvPicPr>
          <p:cNvPr id="8" name="Picture 7" descr="separ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103120"/>
            <a:ext cx="54864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51560" cy="457200"/>
          </a:xfrm>
          <a:prstGeom prst="rect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CUNEF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28016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9520E"/>
                </a:solidFill>
                <a:latin typeface="Calibri"/>
              </a:rPr>
              <a:t>RESUMEN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9C9C9"/>
                </a:solidFill>
                <a:latin typeface="Calibri"/>
              </a:rPr>
              <a:t>Aprendizaje Profundo · Óscar Sánchez Rueda · Curso 2026-2027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556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C9C9C9"/>
                </a:solidFill>
                <a:latin typeface="Calibri"/>
              </a:rPr>
              <a:t>#20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0058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Georgia"/>
              </a:rPr>
              <a:t>Ideas clave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350008"/>
            <a:ext cx="146304" cy="146304"/>
          </a:xfrm>
          <a:prstGeom prst="ellipse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28600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600" b="1">
                <a:solidFill>
                  <a:srgbClr val="E9520E"/>
                </a:solidFill>
                <a:latin typeface="Calibri"/>
              </a:rPr>
              <a:t>La neurona artificial</a:t>
            </a:r>
            <a:r>
              <a:rPr sz="1600" b="0">
                <a:solidFill>
                  <a:srgbClr val="FFFFFF"/>
                </a:solidFill>
                <a:latin typeface="Calibri"/>
              </a:rPr>
              <a:t> suma entradas ponderadas y aplica una activación.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282696"/>
            <a:ext cx="146304" cy="146304"/>
          </a:xfrm>
          <a:prstGeom prst="ellipse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3218688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600" b="1">
                <a:solidFill>
                  <a:srgbClr val="E9520E"/>
                </a:solidFill>
                <a:latin typeface="Calibri"/>
              </a:rPr>
              <a:t>Las redes</a:t>
            </a:r>
            <a:r>
              <a:rPr sz="1600" b="0">
                <a:solidFill>
                  <a:srgbClr val="FFFFFF"/>
                </a:solidFill>
                <a:latin typeface="Calibri"/>
              </a:rPr>
              <a:t> se organizan en capas y se clasifican por conexiones y flujo de información.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215384"/>
            <a:ext cx="146304" cy="146304"/>
          </a:xfrm>
          <a:prstGeom prst="ellipse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4151376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600" b="1">
                <a:solidFill>
                  <a:srgbClr val="E9520E"/>
                </a:solidFill>
                <a:latin typeface="Calibri"/>
              </a:rPr>
              <a:t>El aprendizaje</a:t>
            </a:r>
            <a:r>
              <a:rPr sz="1600" b="0">
                <a:solidFill>
                  <a:srgbClr val="FFFFFF"/>
                </a:solidFill>
                <a:latin typeface="Calibri"/>
              </a:rPr>
              <a:t> puede ser supervisado (regla delta, refuerzo) o no supervisado.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5148072"/>
            <a:ext cx="146304" cy="146304"/>
          </a:xfrm>
          <a:prstGeom prst="ellipse">
            <a:avLst/>
          </a:prstGeom>
          <a:solidFill>
            <a:srgbClr val="E95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5084064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600" b="1">
                <a:solidFill>
                  <a:srgbClr val="E9520E"/>
                </a:solidFill>
                <a:latin typeface="Calibri"/>
              </a:rPr>
              <a:t>El perceptrón simple</a:t>
            </a:r>
            <a:r>
              <a:rPr sz="1600" b="0">
                <a:solidFill>
                  <a:srgbClr val="FFFFFF"/>
                </a:solidFill>
                <a:latin typeface="Calibri"/>
              </a:rPr>
              <a:t> solo separa linealmente; el MLP lo supera con backpropagation.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