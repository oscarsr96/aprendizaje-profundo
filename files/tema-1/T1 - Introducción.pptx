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#1</a:t>
            </a:r>
          </a:p>
        </p:txBody>
      </p:sp>
      <p:pic>
        <p:nvPicPr>
          <p:cNvPr id="7" name="Picture 6" descr="s00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048775"/>
            <a:ext cx="5120640" cy="341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82880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E9520E"/>
                </a:solidFill>
                <a:latin typeface="Calibri"/>
              </a:rPr>
              <a:t>APRENDIZAJE PROFUNDO · TEMA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7863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2B2B2B"/>
                </a:solidFill>
                <a:latin typeface="Georgia"/>
              </a:rPr>
              <a:t>1.1. Introducción al Aprendizaje Automático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>
                <a:solidFill>
                  <a:srgbClr val="2B2B2B"/>
                </a:solidFill>
                <a:latin typeface="Calibri"/>
              </a:rPr>
              <a:t>Prof. Óscar Sánchez Rueda</a:t>
            </a:r>
          </a:p>
          <a:p>
            <a:r>
              <a:rPr sz="1400">
                <a:solidFill>
                  <a:srgbClr val="6B6B6B"/>
                </a:solidFill>
                <a:latin typeface="Calibri"/>
              </a:rPr>
              <a:t>CUNEF Universidad · Curso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¿De qué trata este tema?</a:t>
            </a:r>
          </a:p>
        </p:txBody>
      </p:sp>
      <p:pic>
        <p:nvPicPr>
          <p:cNvPr id="7" name="Picture 6" descr="s00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5858"/>
            <a:ext cx="5669280" cy="37778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Una primera mirada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El </a:t>
            </a:r>
            <a:r>
              <a:rPr b="1" sz="1350">
                <a:solidFill>
                  <a:srgbClr val="E9520E"/>
                </a:solidFill>
                <a:latin typeface="Calibri"/>
              </a:rPr>
              <a:t>aprendizaje automático</a:t>
            </a:r>
            <a:r>
              <a:rPr b="0" sz="1350">
                <a:solidFill>
                  <a:srgbClr val="2B2B2B"/>
                </a:solidFill>
                <a:latin typeface="Calibri"/>
              </a:rPr>
              <a:t> permite que un sistema aprenda a resolver tareas a partir de datos, en lugar de programar reglas a mano.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En este tema veremos </a:t>
            </a:r>
            <a:r>
              <a:rPr b="1" sz="1350">
                <a:solidFill>
                  <a:srgbClr val="E9520E"/>
                </a:solidFill>
                <a:latin typeface="Calibri"/>
              </a:rPr>
              <a:t>cuándo</a:t>
            </a:r>
            <a:r>
              <a:rPr b="0" sz="1350">
                <a:solidFill>
                  <a:srgbClr val="2B2B2B"/>
                </a:solidFill>
                <a:latin typeface="Calibri"/>
              </a:rPr>
              <a:t> conviene usarlo, sus </a:t>
            </a:r>
            <a:r>
              <a:rPr b="1" sz="1350">
                <a:solidFill>
                  <a:srgbClr val="E9520E"/>
                </a:solidFill>
                <a:latin typeface="Calibri"/>
              </a:rPr>
              <a:t>tipos</a:t>
            </a:r>
            <a:r>
              <a:rPr b="0" sz="1350">
                <a:solidFill>
                  <a:srgbClr val="2B2B2B"/>
                </a:solidFill>
                <a:latin typeface="Calibri"/>
              </a:rPr>
              <a:t>, una breve </a:t>
            </a:r>
            <a:r>
              <a:rPr b="1" sz="1350">
                <a:solidFill>
                  <a:srgbClr val="E9520E"/>
                </a:solidFill>
                <a:latin typeface="Calibri"/>
              </a:rPr>
              <a:t>historia</a:t>
            </a:r>
            <a:r>
              <a:rPr b="0" sz="1350">
                <a:solidFill>
                  <a:srgbClr val="2B2B2B"/>
                </a:solidFill>
                <a:latin typeface="Calibri"/>
              </a:rPr>
              <a:t> y sus </a:t>
            </a:r>
            <a:r>
              <a:rPr b="1" sz="1350">
                <a:solidFill>
                  <a:srgbClr val="E9520E"/>
                </a:solidFill>
                <a:latin typeface="Calibri"/>
              </a:rPr>
              <a:t>aplicaciones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Es la base sobre la que se construye el </a:t>
            </a:r>
            <a:r>
              <a:rPr b="1" sz="1350">
                <a:solidFill>
                  <a:srgbClr val="E9520E"/>
                </a:solidFill>
                <a:latin typeface="Calibri"/>
              </a:rPr>
              <a:t>aprendizaje profundo</a:t>
            </a:r>
            <a:r>
              <a:rPr b="0" sz="1350">
                <a:solidFill>
                  <a:srgbClr val="2B2B2B"/>
                </a:solidFill>
                <a:latin typeface="Calibri"/>
              </a:rPr>
              <a:t> (deep learning).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Índice del 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>
                <a:solidFill>
                  <a:srgbClr val="E9520E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3736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>
                <a:solidFill>
                  <a:srgbClr val="2B2B2B"/>
                </a:solidFill>
                <a:latin typeface="Calibri"/>
              </a:rPr>
              <a:t>Introducción: ¿qué es y cuándo conviene usar el aprendizaje automático?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>
                <a:solidFill>
                  <a:srgbClr val="E9520E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>
                <a:solidFill>
                  <a:srgbClr val="2B2B2B"/>
                </a:solidFill>
                <a:latin typeface="Calibri"/>
              </a:rPr>
              <a:t>Tipos de aprendizaje: supervisado, no supervisado y por refuerzo.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>
                <a:solidFill>
                  <a:srgbClr val="E9520E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2336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>
                <a:solidFill>
                  <a:srgbClr val="2B2B2B"/>
                </a:solidFill>
                <a:latin typeface="Calibri"/>
              </a:rPr>
              <a:t>Breve historia del Machine Learning (de los años 50 a hoy).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>
                <a:solidFill>
                  <a:srgbClr val="E9520E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6636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>
                <a:solidFill>
                  <a:srgbClr val="2B2B2B"/>
                </a:solidFill>
                <a:latin typeface="Calibri"/>
              </a:rPr>
              <a:t>Aplicaciones reales y el auge del Deep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Programación tradicional vs. ML</a:t>
            </a:r>
          </a:p>
        </p:txBody>
      </p:sp>
      <p:pic>
        <p:nvPicPr>
          <p:cNvPr id="7" name="Picture 6" descr="s03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10512"/>
            <a:ext cx="5669280" cy="39684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Programación tradicional vs. ML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En la programación clásica el humano escribe el programa: el ordenador recibe </a:t>
            </a:r>
            <a:r>
              <a:rPr b="1" sz="1350">
                <a:solidFill>
                  <a:srgbClr val="E9520E"/>
                </a:solidFill>
                <a:latin typeface="Calibri"/>
              </a:rPr>
              <a:t>datos + programa</a:t>
            </a:r>
            <a:r>
              <a:rPr b="0" sz="1350">
                <a:solidFill>
                  <a:srgbClr val="2B2B2B"/>
                </a:solidFill>
                <a:latin typeface="Calibri"/>
              </a:rPr>
              <a:t> y produce la salida.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En aprendizaje automático se invierte el flujo: damos </a:t>
            </a:r>
            <a:r>
              <a:rPr b="1" sz="1350">
                <a:solidFill>
                  <a:srgbClr val="E9520E"/>
                </a:solidFill>
                <a:latin typeface="Calibri"/>
              </a:rPr>
              <a:t>datos + salidas deseadas</a:t>
            </a:r>
            <a:r>
              <a:rPr b="0" sz="1350">
                <a:solidFill>
                  <a:srgbClr val="2B2B2B"/>
                </a:solidFill>
                <a:latin typeface="Calibri"/>
              </a:rPr>
              <a:t> y el ordenador aprende el programa (el modelo).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Idea clave: en lugar de programar reglas, el sistema las </a:t>
            </a:r>
            <a:r>
              <a:rPr b="1" sz="1350">
                <a:solidFill>
                  <a:srgbClr val="E9520E"/>
                </a:solidFill>
                <a:latin typeface="Calibri"/>
              </a:rPr>
              <a:t>infiere a partir de ejemplos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¿Cuándo usamos Machine Learning?</a:t>
            </a:r>
          </a:p>
        </p:txBody>
      </p:sp>
      <p:pic>
        <p:nvPicPr>
          <p:cNvPr id="7" name="Picture 6" descr="s00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5858"/>
            <a:ext cx="5669280" cy="37778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¿Cuándo usamos Machine Learning?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Cuando </a:t>
            </a:r>
            <a:r>
              <a:rPr b="1" sz="1350">
                <a:solidFill>
                  <a:srgbClr val="E9520E"/>
                </a:solidFill>
                <a:latin typeface="Calibri"/>
              </a:rPr>
              <a:t>no existe experiencia humana</a:t>
            </a:r>
            <a:r>
              <a:rPr b="0" sz="1350">
                <a:solidFill>
                  <a:srgbClr val="2B2B2B"/>
                </a:solidFill>
                <a:latin typeface="Calibri"/>
              </a:rPr>
              <a:t> (p. ej. navegar en Marte).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Cuando los humanos </a:t>
            </a:r>
            <a:r>
              <a:rPr b="1" sz="1350">
                <a:solidFill>
                  <a:srgbClr val="E9520E"/>
                </a:solidFill>
                <a:latin typeface="Calibri"/>
              </a:rPr>
              <a:t>no saben explicar</a:t>
            </a:r>
            <a:r>
              <a:rPr b="0" sz="1350">
                <a:solidFill>
                  <a:srgbClr val="2B2B2B"/>
                </a:solidFill>
                <a:latin typeface="Calibri"/>
              </a:rPr>
              <a:t> su conocimiento (reconocer voz o caras).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Cuando el modelo debe </a:t>
            </a:r>
            <a:r>
              <a:rPr b="1" sz="1350">
                <a:solidFill>
                  <a:srgbClr val="E9520E"/>
                </a:solidFill>
                <a:latin typeface="Calibri"/>
              </a:rPr>
              <a:t>personalizarse</a:t>
            </a:r>
            <a:r>
              <a:rPr b="0" sz="1350">
                <a:solidFill>
                  <a:srgbClr val="2B2B2B"/>
                </a:solidFill>
                <a:latin typeface="Calibri"/>
              </a:rPr>
              <a:t> a cada caso (medicina personalizada).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Cuando hay </a:t>
            </a:r>
            <a:r>
              <a:rPr b="1" sz="1350">
                <a:solidFill>
                  <a:srgbClr val="E9520E"/>
                </a:solidFill>
                <a:latin typeface="Calibri"/>
              </a:rPr>
              <a:t>enormes volúmenes de datos</a:t>
            </a:r>
            <a:r>
              <a:rPr b="0" sz="1350">
                <a:solidFill>
                  <a:srgbClr val="2B2B2B"/>
                </a:solidFill>
                <a:latin typeface="Calibri"/>
              </a:rPr>
              <a:t> (genómica).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No siempre conviene: si hay una regla exacta y simple (una nómina), prográmala directamente.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¿Qué hace que un “2” sea un “2”?</a:t>
            </a:r>
          </a:p>
        </p:txBody>
      </p:sp>
      <p:pic>
        <p:nvPicPr>
          <p:cNvPr id="7" name="Picture 6" descr="s05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5858"/>
            <a:ext cx="5669280" cy="37778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¿Qué hace que un “2” sea un “2”?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Reconocer dígitos manuscritos es trivial para una persona, pero muy difícil de expresar con reglas.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No hay una definición cerrada de la forma de un “2”: </a:t>
            </a:r>
            <a:r>
              <a:rPr b="1" sz="1350">
                <a:solidFill>
                  <a:srgbClr val="E9520E"/>
                </a:solidFill>
                <a:latin typeface="Calibri"/>
              </a:rPr>
              <a:t>varía con cada escritura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Por eso se aprende a partir de </a:t>
            </a:r>
            <a:r>
              <a:rPr b="1" sz="1350">
                <a:solidFill>
                  <a:srgbClr val="E9520E"/>
                </a:solidFill>
                <a:latin typeface="Calibri"/>
              </a:rPr>
              <a:t>miles de ejemplos etiquetados</a:t>
            </a:r>
            <a:r>
              <a:rPr b="0" sz="1350">
                <a:solidFill>
                  <a:srgbClr val="2B2B2B"/>
                </a:solidFill>
                <a:latin typeface="Calibri"/>
              </a:rPr>
              <a:t> en vez de programar la regla.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Tareas idóneas para el aprendizaje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92807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17830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Reconocer patrones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Caras, expresiones, palabras habladas, imágenes médicas.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6002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9944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892807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77456" y="17830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Generar patrones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Crear imágenes o secuencias de movimiento.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005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42016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noma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293108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41833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Detectar anomalías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Fraude con tarjetas, lecturas anómalas en una central nuclear.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40005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9944" y="42016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redi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293108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77456" y="41833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Predicción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Precios de bolsa, tipos de cambio.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Aplicaciones del aprendizaje automático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5753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92807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1783080"/>
            <a:ext cx="256946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Búsqueda 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600200"/>
            <a:ext cx="35753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07992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1892807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75504" y="1783080"/>
            <a:ext cx="256946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Biología computacional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8" y="1600200"/>
            <a:ext cx="35753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11896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1892807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79408" y="1783080"/>
            <a:ext cx="256946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Finanzas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00400"/>
            <a:ext cx="35753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4088" y="34015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493008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71600" y="3383280"/>
            <a:ext cx="256946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Comercio electrónico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06824" y="3200400"/>
            <a:ext cx="35753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07992" y="34015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p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3493008"/>
            <a:ext cx="320040" cy="320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75504" y="3383280"/>
            <a:ext cx="256946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Exploración espacial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0728" y="3200400"/>
            <a:ext cx="35753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11896" y="34015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493008"/>
            <a:ext cx="320040" cy="3200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79408" y="3383280"/>
            <a:ext cx="256946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Robótica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00600"/>
            <a:ext cx="35753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4088" y="50017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nf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5093208"/>
            <a:ext cx="320040" cy="3200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71600" y="4983480"/>
            <a:ext cx="256946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Extracción de información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800600"/>
            <a:ext cx="35753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07992" y="50017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oci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9432" y="5093208"/>
            <a:ext cx="320040" cy="3200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175504" y="4983480"/>
            <a:ext cx="256946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Redes sociales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0728" y="4800600"/>
            <a:ext cx="35753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11896" y="50017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bu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3336" y="5093208"/>
            <a:ext cx="320040" cy="3200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979408" y="4983480"/>
            <a:ext cx="256946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Depuración de software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F0875A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888888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#9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0" b="1">
                <a:solidFill>
                  <a:srgbClr val="5A3322"/>
                </a:solidFill>
                <a:latin typeface="Georg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832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Tipos de aprendizaje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46634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>
                <a:solidFill>
                  <a:srgbClr val="CFCFCF"/>
                </a:solidFill>
                <a:latin typeface="Calibri"/>
              </a:rPr>
              <a:t>Supervisado, no supervisado y por refuerzo.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Cuatro grandes familias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92807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17830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Supervisado (inductivo)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Datos de entrenamiento con la salida deseada (etiquetas).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6002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9944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ns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892807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77456" y="17830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No supervisado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Datos sin salida deseada; se busca estructura.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005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42016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m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293108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41833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Semisupervisado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Pocos ejemplos etiquetados + muchos sin etiquetar.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40005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9944" y="42016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293108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77456" y="41833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Por refuerzo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Recompensas a partir de una secuencia de acciones.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Supervisado: Regresión</a:t>
            </a:r>
          </a:p>
        </p:txBody>
      </p:sp>
      <p:pic>
        <p:nvPicPr>
          <p:cNvPr id="7" name="Picture 6" descr="s10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8665"/>
            <a:ext cx="5669280" cy="40921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Supervisado: Regresión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Partimos de pares </a:t>
            </a:r>
            <a:r>
              <a:rPr b="1" sz="1350">
                <a:solidFill>
                  <a:srgbClr val="E9520E"/>
                </a:solidFill>
                <a:latin typeface="Calibri"/>
              </a:rPr>
              <a:t>(x, y)</a:t>
            </a:r>
            <a:r>
              <a:rPr b="0" sz="1350">
                <a:solidFill>
                  <a:srgbClr val="2B2B2B"/>
                </a:solidFill>
                <a:latin typeface="Calibri"/>
              </a:rPr>
              <a:t> y aprendemos una función f(x) que predice y.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La salida y es un </a:t>
            </a:r>
            <a:r>
              <a:rPr b="1" sz="1350">
                <a:solidFill>
                  <a:srgbClr val="E9520E"/>
                </a:solidFill>
                <a:latin typeface="Calibri"/>
              </a:rPr>
              <a:t>número real</a:t>
            </a:r>
            <a:r>
              <a:rPr b="0" sz="1350">
                <a:solidFill>
                  <a:srgbClr val="2B2B2B"/>
                </a:solidFill>
                <a:latin typeface="Calibri"/>
              </a:rPr>
              <a:t> → problema de regresión.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Ejemplo: predecir un precio o una temperatura a partir de variables de entrada.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Supervisado: Clasificación</a:t>
            </a:r>
          </a:p>
        </p:txBody>
      </p:sp>
      <p:pic>
        <p:nvPicPr>
          <p:cNvPr id="7" name="Picture 6" descr="s11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8665"/>
            <a:ext cx="5669280" cy="40921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Supervisado: Clasificación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También aprendemos f(x) a partir de pares (x, y).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Aquí y es </a:t>
            </a:r>
            <a:r>
              <a:rPr b="1" sz="1350">
                <a:solidFill>
                  <a:srgbClr val="E9520E"/>
                </a:solidFill>
                <a:latin typeface="Calibri"/>
              </a:rPr>
              <a:t>categórica</a:t>
            </a:r>
            <a:r>
              <a:rPr b="0" sz="1350">
                <a:solidFill>
                  <a:srgbClr val="2B2B2B"/>
                </a:solidFill>
                <a:latin typeface="Calibri"/>
              </a:rPr>
              <a:t> → problema de clasificación (p. ej. benigno/maligno).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El modelo traza una </a:t>
            </a:r>
            <a:r>
              <a:rPr b="1" sz="1350">
                <a:solidFill>
                  <a:srgbClr val="E9520E"/>
                </a:solidFill>
                <a:latin typeface="Calibri"/>
              </a:rPr>
              <a:t>frontera de decisión</a:t>
            </a:r>
            <a:r>
              <a:rPr b="0" sz="1350">
                <a:solidFill>
                  <a:srgbClr val="2B2B2B"/>
                </a:solidFill>
                <a:latin typeface="Calibri"/>
              </a:rPr>
              <a:t> entre las clases.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Supervisado con varias variables</a:t>
            </a:r>
          </a:p>
        </p:txBody>
      </p:sp>
      <p:pic>
        <p:nvPicPr>
          <p:cNvPr id="7" name="Picture 6" descr="s12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8665"/>
            <a:ext cx="5669280" cy="40921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Supervisado con varias variables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La entrada x puede ser </a:t>
            </a:r>
            <a:r>
              <a:rPr b="1" sz="1350">
                <a:solidFill>
                  <a:srgbClr val="E9520E"/>
                </a:solidFill>
                <a:latin typeface="Calibri"/>
              </a:rPr>
              <a:t>multidimensional</a:t>
            </a:r>
            <a:r>
              <a:rPr b="0" sz="1350">
                <a:solidFill>
                  <a:srgbClr val="2B2B2B"/>
                </a:solidFill>
                <a:latin typeface="Calibri"/>
              </a:rPr>
              <a:t>: cada dimensión es un atributo.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Ejemplo (cáncer de mama): grosor del tumor, uniformidad del tamaño y de la forma celular.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Combinar atributos </a:t>
            </a:r>
            <a:r>
              <a:rPr b="1" sz="1350">
                <a:solidFill>
                  <a:srgbClr val="E9520E"/>
                </a:solidFill>
                <a:latin typeface="Calibri"/>
              </a:rPr>
              <a:t>mejora la separación</a:t>
            </a:r>
            <a:r>
              <a:rPr b="0" sz="1350">
                <a:solidFill>
                  <a:srgbClr val="2B2B2B"/>
                </a:solidFill>
                <a:latin typeface="Calibri"/>
              </a:rPr>
              <a:t> entre clases.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Aprendizaje no supervisado</a:t>
            </a:r>
          </a:p>
        </p:txBody>
      </p:sp>
      <p:pic>
        <p:nvPicPr>
          <p:cNvPr id="7" name="Picture 6" descr="s13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5858"/>
            <a:ext cx="5669280" cy="37778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Aprendizaje no supervisado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Solo tenemos las entradas x, </a:t>
            </a:r>
            <a:r>
              <a:rPr b="1" sz="1350">
                <a:solidFill>
                  <a:srgbClr val="E9520E"/>
                </a:solidFill>
                <a:latin typeface="Calibri"/>
              </a:rPr>
              <a:t>sin etiquetas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El objetivo es descubrir la </a:t>
            </a:r>
            <a:r>
              <a:rPr b="1" sz="1350">
                <a:solidFill>
                  <a:srgbClr val="E9520E"/>
                </a:solidFill>
                <a:latin typeface="Calibri"/>
              </a:rPr>
              <a:t>estructura oculta</a:t>
            </a:r>
            <a:r>
              <a:rPr b="0" sz="1350">
                <a:solidFill>
                  <a:srgbClr val="2B2B2B"/>
                </a:solidFill>
                <a:latin typeface="Calibri"/>
              </a:rPr>
              <a:t> de los datos.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Caso típico: </a:t>
            </a:r>
            <a:r>
              <a:rPr b="1" sz="1350">
                <a:solidFill>
                  <a:srgbClr val="E9520E"/>
                </a:solidFill>
                <a:latin typeface="Calibri"/>
              </a:rPr>
              <a:t>agrupamiento</a:t>
            </a:r>
            <a:r>
              <a:rPr b="0" sz="1350">
                <a:solidFill>
                  <a:srgbClr val="2B2B2B"/>
                </a:solidFill>
                <a:latin typeface="Calibri"/>
              </a:rPr>
              <a:t> (clustering) en grupos similares.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No supervisado: Genómica</a:t>
            </a:r>
          </a:p>
        </p:txBody>
      </p:sp>
      <p:pic>
        <p:nvPicPr>
          <p:cNvPr id="7" name="Picture 6" descr="s14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5858"/>
            <a:ext cx="5669280" cy="37778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No supervisado: Genómica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Agrupar individuos por </a:t>
            </a:r>
            <a:r>
              <a:rPr b="1" sz="1350">
                <a:solidFill>
                  <a:srgbClr val="E9520E"/>
                </a:solidFill>
                <a:latin typeface="Calibri"/>
              </a:rPr>
              <a:t>similitud genética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El mapa de calor revela patrones de expresión entre genes e individuos.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Permite encontrar subgrupos </a:t>
            </a:r>
            <a:r>
              <a:rPr b="1" sz="1350">
                <a:solidFill>
                  <a:srgbClr val="E9520E"/>
                </a:solidFill>
                <a:latin typeface="Calibri"/>
              </a:rPr>
              <a:t>sin conocerlos de antemano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No supervisado: aplicaciones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92807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17830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Clústeres de cómputo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Organización automática de recursos.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6002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9944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o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892807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77456" y="17830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Redes sociales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Análisis de comunidades y relaciones.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005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42016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293108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41833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Segmentación de mercados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Agrupar clientes por comportamiento.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4000500"/>
            <a:ext cx="5477256" cy="21717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9944" y="42016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293108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77456" y="4183380"/>
            <a:ext cx="4471416" cy="1897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Datos astronómicos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Encontrar patrones en grandes catálogos.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No supervisado: separación de fuentes</a:t>
            </a:r>
          </a:p>
        </p:txBody>
      </p:sp>
      <p:pic>
        <p:nvPicPr>
          <p:cNvPr id="7" name="Picture 6" descr="s16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5858"/>
            <a:ext cx="5669280" cy="37778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No supervisado: separación de fuentes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Análisis de </a:t>
            </a:r>
            <a:r>
              <a:rPr b="1" sz="1350">
                <a:solidFill>
                  <a:srgbClr val="E9520E"/>
                </a:solidFill>
                <a:latin typeface="Calibri"/>
              </a:rPr>
              <a:t>componentes independientes</a:t>
            </a:r>
            <a:r>
              <a:rPr b="0" sz="1350">
                <a:solidFill>
                  <a:srgbClr val="2B2B2B"/>
                </a:solidFill>
                <a:latin typeface="Calibri"/>
              </a:rPr>
              <a:t> (ICA).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Separa una señal mezclada en sus </a:t>
            </a:r>
            <a:r>
              <a:rPr b="1" sz="1350">
                <a:solidFill>
                  <a:srgbClr val="E9520E"/>
                </a:solidFill>
                <a:latin typeface="Calibri"/>
              </a:rPr>
              <a:t>fuentes originales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Ejemplo clásico: el “cocktail party” (aislar voces grabadas a la vez).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Aprendizaje por refuerzo</a:t>
            </a:r>
          </a:p>
        </p:txBody>
      </p:sp>
      <p:pic>
        <p:nvPicPr>
          <p:cNvPr id="7" name="Picture 6" descr="s17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63" y="1554480"/>
            <a:ext cx="5512993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Aprendizaje por refuerzo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Un agente observa </a:t>
            </a:r>
            <a:r>
              <a:rPr b="1" sz="1350">
                <a:solidFill>
                  <a:srgbClr val="E9520E"/>
                </a:solidFill>
                <a:latin typeface="Calibri"/>
              </a:rPr>
              <a:t>estados</a:t>
            </a:r>
            <a:r>
              <a:rPr b="0" sz="1350">
                <a:solidFill>
                  <a:srgbClr val="2B2B2B"/>
                </a:solidFill>
                <a:latin typeface="Calibri"/>
              </a:rPr>
              <a:t> y ejecuta </a:t>
            </a:r>
            <a:r>
              <a:rPr b="1" sz="1350">
                <a:solidFill>
                  <a:srgbClr val="E9520E"/>
                </a:solidFill>
                <a:latin typeface="Calibri"/>
              </a:rPr>
              <a:t>acciones</a:t>
            </a:r>
            <a:r>
              <a:rPr b="0" sz="1350">
                <a:solidFill>
                  <a:srgbClr val="2B2B2B"/>
                </a:solidFill>
                <a:latin typeface="Calibri"/>
              </a:rPr>
              <a:t> recibiendo recompensas (a menudo diferidas).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La </a:t>
            </a:r>
            <a:r>
              <a:rPr b="1" sz="1350">
                <a:solidFill>
                  <a:srgbClr val="E9520E"/>
                </a:solidFill>
                <a:latin typeface="Calibri"/>
              </a:rPr>
              <a:t>política</a:t>
            </a:r>
            <a:r>
              <a:rPr b="0" sz="1350">
                <a:solidFill>
                  <a:srgbClr val="2B2B2B"/>
                </a:solidFill>
                <a:latin typeface="Calibri"/>
              </a:rPr>
              <a:t> asigna a cada estado la acción a tomar.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Ejemplos: asignación de crédito, juegos, robot en un laberinto, equilibrar un palo.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La interfaz Agente–Entorno</a:t>
            </a:r>
          </a:p>
        </p:txBody>
      </p:sp>
      <p:pic>
        <p:nvPicPr>
          <p:cNvPr id="7" name="Picture 6" descr="s17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63" y="1554480"/>
            <a:ext cx="5512993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La interfaz Agente–Entorno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El agente actúa sobre el entorno y este devuelve un </a:t>
            </a:r>
            <a:r>
              <a:rPr b="1" sz="1350">
                <a:solidFill>
                  <a:srgbClr val="E9520E"/>
                </a:solidFill>
                <a:latin typeface="Calibri"/>
              </a:rPr>
              <a:t>nuevo estado</a:t>
            </a:r>
            <a:r>
              <a:rPr b="0" sz="1350">
                <a:solidFill>
                  <a:srgbClr val="2B2B2B"/>
                </a:solidFill>
                <a:latin typeface="Calibri"/>
              </a:rPr>
              <a:t> y una </a:t>
            </a:r>
            <a:r>
              <a:rPr b="1" sz="1350">
                <a:solidFill>
                  <a:srgbClr val="E9520E"/>
                </a:solidFill>
                <a:latin typeface="Calibri"/>
              </a:rPr>
              <a:t>recompensa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El ciclo se repite en el tiempo (s₀, a₀, r₁, s₁, …).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El objetivo es </a:t>
            </a:r>
            <a:r>
              <a:rPr b="1" sz="1350">
                <a:solidFill>
                  <a:srgbClr val="E9520E"/>
                </a:solidFill>
                <a:latin typeface="Calibri"/>
              </a:rPr>
              <a:t>maximizar la recompensa acumulada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Refuerzo: aprender jugando</a:t>
            </a:r>
          </a:p>
        </p:txBody>
      </p:sp>
      <p:pic>
        <p:nvPicPr>
          <p:cNvPr id="7" name="Picture 6" descr="s19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3167"/>
            <a:ext cx="5669280" cy="36231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Refuerzo: aprender jugando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Los videojuegos son un banco de pruebas ideal: estados, acciones y </a:t>
            </a:r>
            <a:r>
              <a:rPr b="1" sz="1350">
                <a:solidFill>
                  <a:srgbClr val="E9520E"/>
                </a:solidFill>
                <a:latin typeface="Calibri"/>
              </a:rPr>
              <a:t>recompensa</a:t>
            </a:r>
            <a:r>
              <a:rPr b="0" sz="1350">
                <a:solidFill>
                  <a:srgbClr val="2B2B2B"/>
                </a:solidFill>
                <a:latin typeface="Calibri"/>
              </a:rPr>
              <a:t> (puntuación) claros.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El agente mejora su política </a:t>
            </a:r>
            <a:r>
              <a:rPr b="1" sz="1350">
                <a:solidFill>
                  <a:srgbClr val="E9520E"/>
                </a:solidFill>
                <a:latin typeface="Calibri"/>
              </a:rPr>
              <a:t>probando</a:t>
            </a:r>
            <a:r>
              <a:rPr b="0" sz="1350">
                <a:solidFill>
                  <a:srgbClr val="2B2B2B"/>
                </a:solidFill>
                <a:latin typeface="Calibri"/>
              </a:rPr>
              <a:t> y recibiendo recompensa.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Base de hitos como los agentes que superan a humanos en juegos Atari.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Aprendizaje por refuerzo inverso</a:t>
            </a:r>
          </a:p>
        </p:txBody>
      </p:sp>
      <p:pic>
        <p:nvPicPr>
          <p:cNvPr id="7" name="Picture 6" descr="s20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3052"/>
            <a:ext cx="5669280" cy="346341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Aprendizaje por refuerzo inverso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En lugar de fijar la recompensa, se </a:t>
            </a:r>
            <a:r>
              <a:rPr b="1" sz="1350">
                <a:solidFill>
                  <a:srgbClr val="E9520E"/>
                </a:solidFill>
                <a:latin typeface="Calibri"/>
              </a:rPr>
              <a:t>infiere observando a un experto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Se aprende la política a partir de </a:t>
            </a:r>
            <a:r>
              <a:rPr b="1" sz="1350">
                <a:solidFill>
                  <a:srgbClr val="E9520E"/>
                </a:solidFill>
                <a:latin typeface="Calibri"/>
              </a:rPr>
              <a:t>demostraciones humanas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Ejemplo: el helicóptero autónomo de Stanford.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F0875A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888888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#22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0" b="1">
                <a:solidFill>
                  <a:srgbClr val="5A3322"/>
                </a:solidFill>
                <a:latin typeface="Georg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832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Breve historia del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46634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>
                <a:solidFill>
                  <a:srgbClr val="CFCFCF"/>
                </a:solidFill>
                <a:latin typeface="Calibri"/>
              </a:rPr>
              <a:t>De los años 50 a la era del deep learning.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HISTORIA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Historia del ML (1950–1970)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554480" cy="1402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1950s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691640"/>
            <a:ext cx="9418320" cy="14020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Programa de damas de Samuel; Pandemonium de Selfridge.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691640"/>
            <a:ext cx="73152" cy="140208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76599"/>
            <a:ext cx="1554480" cy="1402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1960s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3276599"/>
            <a:ext cx="9418320" cy="14020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Redes neuronales y Perceptrón; Minsky y Papert prueban sus límites.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276599"/>
            <a:ext cx="73152" cy="140208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861560"/>
            <a:ext cx="1554480" cy="1402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1970s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4861560"/>
            <a:ext cx="9418320" cy="14020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Inducción de conceptos, sistemas expertos, ID3 de Quinlan.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4861560"/>
            <a:ext cx="73152" cy="140208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HISTORIA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Historia del ML (1980–1990)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5544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1980s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691640"/>
            <a:ext cx="941832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Árboles y reglas avanzados, aprendizaje basado en explicaciones, resurgir de las redes (backpropagation), teoría PAC de Valiant.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691640"/>
            <a:ext cx="73152" cy="219456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069080"/>
            <a:ext cx="15544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1990s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4069080"/>
            <a:ext cx="941832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Minería de datos, refuerzo, programación lógica inductiva, algoritmos genéticos, ensembles (bagging/boosting), redes bayesianas.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4069080"/>
            <a:ext cx="73152" cy="219456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HISTORIA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Historia del ML (2000–hoy)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554480" cy="1402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2000s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691640"/>
            <a:ext cx="9418320" cy="14020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Máquinas de vectores soporte (SVM) y kernels, modelos gráficos, transfer learning, salidas estructuradas.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691640"/>
            <a:ext cx="73152" cy="140208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76599"/>
            <a:ext cx="1554480" cy="1402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2010s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3276599"/>
            <a:ext cx="9418320" cy="14020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Irrumpe el deep learning, big data, métodos bayesianos, aprendizaje multitarea.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276599"/>
            <a:ext cx="73152" cy="140208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861560"/>
            <a:ext cx="1554480" cy="1402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Hoy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4861560"/>
            <a:ext cx="9418320" cy="14020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Modelos fundacionales y LLMs (ver últimas diapositivas).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4861560"/>
            <a:ext cx="73152" cy="140208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F0875A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888888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#26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0" b="1">
                <a:solidFill>
                  <a:srgbClr val="5A3322"/>
                </a:solidFill>
                <a:latin typeface="Georgi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832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Aplicaciones y auge del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46634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>
                <a:solidFill>
                  <a:srgbClr val="CFCFCF"/>
                </a:solidFill>
                <a:latin typeface="Calibri"/>
              </a:rPr>
              <a:t>Del coche autónomo a los modelos fundacionales.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Coches autónomos</a:t>
            </a:r>
          </a:p>
        </p:txBody>
      </p:sp>
      <p:pic>
        <p:nvPicPr>
          <p:cNvPr id="7" name="Picture 6" descr="s26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3052"/>
            <a:ext cx="5669280" cy="346341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Coches autónomos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Nevada legalizó la conducción autónoma en vías públicas en </a:t>
            </a:r>
            <a:r>
              <a:rPr b="1" sz="1350">
                <a:solidFill>
                  <a:srgbClr val="E9520E"/>
                </a:solidFill>
                <a:latin typeface="Calibri"/>
              </a:rPr>
              <a:t>junio de 2011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En 2013 ya eran </a:t>
            </a:r>
            <a:r>
              <a:rPr b="1" sz="1350">
                <a:solidFill>
                  <a:srgbClr val="E9520E"/>
                </a:solidFill>
                <a:latin typeface="Calibri"/>
              </a:rPr>
              <a:t>cuatro estados</a:t>
            </a:r>
            <a:r>
              <a:rPr b="0" sz="1350">
                <a:solidFill>
                  <a:srgbClr val="2B2B2B"/>
                </a:solidFill>
                <a:latin typeface="Calibri"/>
              </a:rPr>
              <a:t> (Nevada, Florida, California, Michigan).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Caso emblemático del aprendizaje aplicado a la </a:t>
            </a:r>
            <a:r>
              <a:rPr b="1" sz="1350">
                <a:solidFill>
                  <a:srgbClr val="E9520E"/>
                </a:solidFill>
                <a:latin typeface="Calibri"/>
              </a:rPr>
              <a:t>percepción y el control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Sensores del coche autónomo</a:t>
            </a:r>
          </a:p>
        </p:txBody>
      </p:sp>
      <p:pic>
        <p:nvPicPr>
          <p:cNvPr id="7" name="Picture 6" descr="s27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3052"/>
            <a:ext cx="5669280" cy="346341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Sensores del coche autónomo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</a:t>
            </a:r>
            <a:r>
              <a:rPr b="1" sz="1350">
                <a:solidFill>
                  <a:srgbClr val="E9520E"/>
                </a:solidFill>
                <a:latin typeface="Calibri"/>
              </a:rPr>
              <a:t>LADAR 3D de 360°</a:t>
            </a:r>
            <a:r>
              <a:rPr b="0" sz="1350">
                <a:solidFill>
                  <a:srgbClr val="2B2B2B"/>
                </a:solidFill>
                <a:latin typeface="Calibri"/>
              </a:rPr>
              <a:t> para mapear el entorno.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</a:t>
            </a:r>
            <a:r>
              <a:rPr b="1" sz="1350">
                <a:solidFill>
                  <a:srgbClr val="E9520E"/>
                </a:solidFill>
                <a:latin typeface="Calibri"/>
              </a:rPr>
              <a:t>GPS/IMU</a:t>
            </a:r>
            <a:r>
              <a:rPr b="0" sz="1350">
                <a:solidFill>
                  <a:srgbClr val="2B2B2B"/>
                </a:solidFill>
                <a:latin typeface="Calibri"/>
              </a:rPr>
              <a:t> para localización y orientación.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Cámaras estéreo y LADARs de </a:t>
            </a:r>
            <a:r>
              <a:rPr b="1" sz="1350">
                <a:solidFill>
                  <a:srgbClr val="E9520E"/>
                </a:solidFill>
                <a:latin typeface="Calibri"/>
              </a:rPr>
              <a:t>detección de obstáculos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Tecnología del coche autónomo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575304" cy="45720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92807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1783080"/>
            <a:ext cx="2569464" cy="429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Planificación de trayectoria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A partir de la percepción del entorno.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600200"/>
            <a:ext cx="3575304" cy="45720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07992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1892807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75504" y="1783080"/>
            <a:ext cx="2569464" cy="429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Aprender de humanos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Imitando a conductores reales.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8" y="1600200"/>
            <a:ext cx="3575304" cy="45720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11896" y="180136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1892807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79408" y="1783080"/>
            <a:ext cx="2569464" cy="429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2B2B"/>
                </a:solidFill>
                <a:latin typeface="Calibri"/>
              </a:rPr>
              <a:t>Visión + control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B6B6B"/>
                </a:solidFill>
                <a:latin typeface="Calibri"/>
              </a:rPr>
              <a:t>Integra sensores y decisión en tiempo real.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Deep Learning en los titulares</a:t>
            </a:r>
          </a:p>
        </p:txBody>
      </p:sp>
      <p:pic>
        <p:nvPicPr>
          <p:cNvPr id="7" name="Picture 6" descr="s29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3167"/>
            <a:ext cx="5669280" cy="36231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Deep Learning en los titulares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A partir de </a:t>
            </a:r>
            <a:r>
              <a:rPr b="1" sz="1350">
                <a:solidFill>
                  <a:srgbClr val="E9520E"/>
                </a:solidFill>
                <a:latin typeface="Calibri"/>
              </a:rPr>
              <a:t>~2012</a:t>
            </a:r>
            <a:r>
              <a:rPr b="0" sz="1350">
                <a:solidFill>
                  <a:srgbClr val="2B2B2B"/>
                </a:solidFill>
                <a:latin typeface="Calibri"/>
              </a:rPr>
              <a:t> el deep learning salta a la prensa generalista.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Grandes empresas (Google, etc.) invierten para “enseñar” a las máquinas.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Marca el inicio de la </a:t>
            </a:r>
            <a:r>
              <a:rPr b="1" sz="1350">
                <a:solidFill>
                  <a:srgbClr val="E9520E"/>
                </a:solidFill>
                <a:latin typeface="Calibri"/>
              </a:rPr>
              <a:t>era moderna de la IA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Deep Belief Net sobre caras</a:t>
            </a:r>
          </a:p>
        </p:txBody>
      </p:sp>
      <p:pic>
        <p:nvPicPr>
          <p:cNvPr id="7" name="Picture 6" descr="s30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5973"/>
            <a:ext cx="5669280" cy="39375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Deep Belief Net sobre caras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Las redes profundas aprenden una </a:t>
            </a:r>
            <a:r>
              <a:rPr b="1" sz="1350">
                <a:solidFill>
                  <a:srgbClr val="E9520E"/>
                </a:solidFill>
                <a:latin typeface="Calibri"/>
              </a:rPr>
              <a:t>jerarquía de representaciones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De píxeles → bordes → partes del objeto → modelo del objeto.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Cada capa </a:t>
            </a:r>
            <a:r>
              <a:rPr b="1" sz="1350">
                <a:solidFill>
                  <a:srgbClr val="E9520E"/>
                </a:solidFill>
                <a:latin typeface="Calibri"/>
              </a:rPr>
              <a:t>combina rasgos</a:t>
            </a:r>
            <a:r>
              <a:rPr b="0" sz="1350">
                <a:solidFill>
                  <a:srgbClr val="2B2B2B"/>
                </a:solidFill>
                <a:latin typeface="Calibri"/>
              </a:rPr>
              <a:t> de la capa anterior.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Aprendizaje de partes de objetos</a:t>
            </a:r>
          </a:p>
        </p:txBody>
      </p:sp>
      <p:pic>
        <p:nvPicPr>
          <p:cNvPr id="7" name="Picture 6" descr="s31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3167"/>
            <a:ext cx="5669280" cy="36231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Aprendizaje de partes de objetos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Las capas intermedias detectan </a:t>
            </a:r>
            <a:r>
              <a:rPr b="1" sz="1350">
                <a:solidFill>
                  <a:srgbClr val="E9520E"/>
                </a:solidFill>
                <a:latin typeface="Calibri"/>
              </a:rPr>
              <a:t>partes reutilizables</a:t>
            </a:r>
            <a:r>
              <a:rPr b="0" sz="1350">
                <a:solidFill>
                  <a:srgbClr val="2B2B2B"/>
                </a:solidFill>
                <a:latin typeface="Calibri"/>
              </a:rPr>
              <a:t> (ojos, ruedas…).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Estas partes se aprenden solas, </a:t>
            </a:r>
            <a:r>
              <a:rPr b="1" sz="1350">
                <a:solidFill>
                  <a:srgbClr val="E9520E"/>
                </a:solidFill>
                <a:latin typeface="Calibri"/>
              </a:rPr>
              <a:t>sin programarlas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Son los bloques con que la red reconstruye el objeto.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Entrenamiento con varios objetos</a:t>
            </a:r>
          </a:p>
        </p:txBody>
      </p:sp>
      <p:pic>
        <p:nvPicPr>
          <p:cNvPr id="7" name="Picture 6" descr="s31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3167"/>
            <a:ext cx="5669280" cy="36231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Entrenamiento con varios objetos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Entrenada con 4 clases: </a:t>
            </a:r>
            <a:r>
              <a:rPr b="1" sz="1350">
                <a:solidFill>
                  <a:srgbClr val="E9520E"/>
                </a:solidFill>
                <a:latin typeface="Calibri"/>
              </a:rPr>
              <a:t>coches, caras, motos y aviones</a:t>
            </a:r>
            <a:r>
              <a:rPr b="0" sz="135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Segunda capa: rasgos compartidos y rasgos propios de cada objeto.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Tercera capa: rasgos más específicos y discriminativos.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Etiquetado de escenas con Deep Learning</a:t>
            </a:r>
          </a:p>
        </p:txBody>
      </p:sp>
      <p:pic>
        <p:nvPicPr>
          <p:cNvPr id="7" name="Picture 6" descr="s33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3052"/>
            <a:ext cx="5669280" cy="346341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Etiquetado de escenas con Deep Learning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La red asigna una etiqueta (carretera, edificio, coche…) a </a:t>
            </a:r>
            <a:r>
              <a:rPr b="1" sz="1350">
                <a:solidFill>
                  <a:srgbClr val="E9520E"/>
                </a:solidFill>
                <a:latin typeface="Calibri"/>
              </a:rPr>
              <a:t>cada zona</a:t>
            </a:r>
            <a:r>
              <a:rPr b="0" sz="1350">
                <a:solidFill>
                  <a:srgbClr val="2B2B2B"/>
                </a:solidFill>
                <a:latin typeface="Calibri"/>
              </a:rPr>
              <a:t> de la imagen.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Es </a:t>
            </a:r>
            <a:r>
              <a:rPr b="1" sz="1350">
                <a:solidFill>
                  <a:srgbClr val="E9520E"/>
                </a:solidFill>
                <a:latin typeface="Calibri"/>
              </a:rPr>
              <a:t>segmentación semántica</a:t>
            </a:r>
            <a:r>
              <a:rPr b="0" sz="1350">
                <a:solidFill>
                  <a:srgbClr val="2B2B2B"/>
                </a:solidFill>
                <a:latin typeface="Calibri"/>
              </a:rPr>
              <a:t>: comprender la escena píxel a píxel.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Clave para conducción autónoma y robótica.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ML en reconocimiento de voz</a:t>
            </a:r>
          </a:p>
        </p:txBody>
      </p:sp>
      <p:pic>
        <p:nvPicPr>
          <p:cNvPr id="7" name="Picture 6" descr="s34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3167"/>
            <a:ext cx="5669280" cy="36231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63040"/>
            <a:ext cx="5257800" cy="4617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19456" bIns="182880"/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E9520E"/>
                </a:solidFill>
                <a:latin typeface="Calibri"/>
              </a:rPr>
              <a:t>ML en reconocimiento de voz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El sistema predice los </a:t>
            </a:r>
            <a:r>
              <a:rPr b="1" sz="1350">
                <a:solidFill>
                  <a:srgbClr val="E9520E"/>
                </a:solidFill>
                <a:latin typeface="Calibri"/>
              </a:rPr>
              <a:t>estados fonéticos</a:t>
            </a:r>
            <a:r>
              <a:rPr b="0" sz="1350">
                <a:solidFill>
                  <a:srgbClr val="2B2B2B"/>
                </a:solidFill>
                <a:latin typeface="Calibri"/>
              </a:rPr>
              <a:t> a partir del espectrograma del sonido.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El deep learning marcó el </a:t>
            </a:r>
            <a:r>
              <a:rPr b="1" sz="1350">
                <a:solidFill>
                  <a:srgbClr val="E9520E"/>
                </a:solidFill>
                <a:latin typeface="Calibri"/>
              </a:rPr>
              <a:t>estado del arte</a:t>
            </a:r>
            <a:r>
              <a:rPr b="0" sz="1350">
                <a:solidFill>
                  <a:srgbClr val="2B2B2B"/>
                </a:solidFill>
                <a:latin typeface="Calibri"/>
              </a:rPr>
              <a:t> en transcripción automática.</a:t>
            </a:r>
          </a:p>
          <a:p>
            <a:pPr algn="l">
              <a:spcAft>
                <a:spcPts val="900"/>
              </a:spcAft>
            </a:pPr>
            <a:r>
              <a:rPr b="0" sz="1350">
                <a:solidFill>
                  <a:srgbClr val="2B2B2B"/>
                </a:solidFill>
                <a:latin typeface="Calibri"/>
              </a:rPr>
              <a:t>•  Base de los asistentes de voz actuales.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DEEP LEARNING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El boom del Deep Learning (2012–hoy)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554480" cy="1402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2012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691640"/>
            <a:ext cx="9418320" cy="14020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AlexNet gana ImageNet y dispara la visión por computador entrenando redes profundas con GPUs.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691640"/>
            <a:ext cx="73152" cy="140208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76599"/>
            <a:ext cx="1554480" cy="1402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2014–16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3276599"/>
            <a:ext cx="9418320" cy="14020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Redes generativas (GANs) crean imágenes realistas y AlphaGo (refuerzo profundo) vence a campeones de Go.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276599"/>
            <a:ext cx="73152" cy="140208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861560"/>
            <a:ext cx="1554480" cy="1402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Producción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4861560"/>
            <a:ext cx="9418320" cy="14020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Las redes profundas pasan de la investigación a productos masivos: voz, visión, traducción y recomendación.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4861560"/>
            <a:ext cx="73152" cy="140208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9520E"/>
                </a:solidFill>
                <a:latin typeface="Calibri"/>
              </a:rPr>
              <a:t>MODELOS FUNDACIONALES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#37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2B2B2B"/>
                </a:solidFill>
                <a:latin typeface="Georgia"/>
              </a:rPr>
              <a:t>Transformers, LLMs y modelos fundacionales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2017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691640"/>
            <a:ext cx="9418320" cy="100584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Aparece la arquitectura Transformer (“Attention is all you need”), base de los modelos actuales.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691640"/>
            <a:ext cx="73152" cy="100584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2018–20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880360"/>
            <a:ext cx="9418320" cy="100584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BERT y GPT inauguran los grandes modelos de lenguaje (LLMs).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880360"/>
            <a:ext cx="73152" cy="100584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06908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Hoy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4069080"/>
            <a:ext cx="9418320" cy="100584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Modelos fundacionales multimodales (texto, imagen, audio) e IA generativa de uso masivo.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4069080"/>
            <a:ext cx="73152" cy="100584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25780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1">
                <a:solidFill>
                  <a:srgbClr val="E9520E"/>
                </a:solidFill>
                <a:latin typeface="Georgia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5257800"/>
            <a:ext cx="9418320" cy="100584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28600"/>
          <a:lstStyle/>
          <a:p>
            <a:pPr algn="ctr"/>
            <a:r>
              <a:rPr b="0" sz="1400">
                <a:solidFill>
                  <a:srgbClr val="2B2B2B"/>
                </a:solidFill>
                <a:latin typeface="Calibri"/>
              </a:rPr>
              <a:t>Es el contexto en el que se enmarca esta asignatura de Aprendizaje Profundo.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5257800"/>
            <a:ext cx="73152" cy="100584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