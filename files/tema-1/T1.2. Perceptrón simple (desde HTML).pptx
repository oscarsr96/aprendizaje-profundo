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</a:t>
            </a:r>
          </a:p>
        </p:txBody>
      </p:sp>
      <p:pic>
        <p:nvPicPr>
          <p:cNvPr id="7" name="Picture 6" descr="percep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88920"/>
            <a:ext cx="5212080" cy="35307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8288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520E"/>
                </a:solidFill>
                <a:latin typeface="Calibri"/>
              </a:rPr>
              <a:t>APRENDIZAJE PROFUNDO · TEMA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8046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B2B2B"/>
                </a:solidFill>
                <a:latin typeface="Georgia"/>
              </a:rPr>
              <a:t>1.2. Perceptrón 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B2B2B"/>
                </a:solidFill>
                <a:latin typeface="Calibri"/>
              </a:rPr>
              <a:t>Prof. Óscar Sánchez Rueda</a:t>
            </a:r>
          </a:p>
          <a:p>
            <a:r>
              <a:rPr sz="1400" b="0">
                <a:solidFill>
                  <a:srgbClr val="6B6B6B"/>
                </a:solidFill>
                <a:latin typeface="Calibri"/>
              </a:rPr>
              <a:t>CUNEF Universidad · Curso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¿De qué trata este tema?</a:t>
            </a:r>
          </a:p>
        </p:txBody>
      </p:sp>
      <p:pic>
        <p:nvPicPr>
          <p:cNvPr id="7" name="Picture 6" descr="percep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566928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554480"/>
            <a:ext cx="525780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La unidad básica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perceptrón</a:t>
            </a:r>
            <a:r>
              <a:rPr sz="1350" b="0">
                <a:solidFill>
                  <a:srgbClr val="2B2B2B"/>
                </a:solidFill>
                <a:latin typeface="Calibri"/>
              </a:rPr>
              <a:t> es la neurona artificial más simple: combina varias entradas y produce una salida.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Calcula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suma ponderada</a:t>
            </a:r>
            <a:r>
              <a:rPr sz="1350" b="0">
                <a:solidFill>
                  <a:srgbClr val="2B2B2B"/>
                </a:solidFill>
                <a:latin typeface="Calibri"/>
              </a:rPr>
              <a:t> de las entradas y la compara con un </a:t>
            </a:r>
            <a:r>
              <a:rPr sz="1350" b="1">
                <a:solidFill>
                  <a:srgbClr val="E9520E"/>
                </a:solidFill>
                <a:latin typeface="Calibri"/>
              </a:rPr>
              <a:t>umbral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función de activación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 decide qué información se propaga a la siguiente capa.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Para entrenarlo medimos el error con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función de coste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Es el ladrillo con el que se construyen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redes neuronales profundas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Índice del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El perceptrón: estructura, pesos y umbral.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16936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Funciones de activación: sigmoide, tanh, softmax y ReLU.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14215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32503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Funciones de coste: MSE, MAE y cross-entropy.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9783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48071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Cómo elegir la activación y la pérdida adecuadas.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El perceptrón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El perceptrón: cómo funciona</a:t>
            </a:r>
          </a:p>
        </p:txBody>
      </p:sp>
      <p:pic>
        <p:nvPicPr>
          <p:cNvPr id="7" name="Picture 6" descr="percep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0"/>
            <a:ext cx="6035040" cy="40882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1508760"/>
            <a:ext cx="5166360" cy="4572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De la entrada a la salida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Recibe varias entradas </a:t>
            </a:r>
            <a:r>
              <a:rPr sz="1350" b="1">
                <a:solidFill>
                  <a:srgbClr val="E9520E"/>
                </a:solidFill>
                <a:latin typeface="Calibri"/>
              </a:rPr>
              <a:t>x₁, x₂, x₃…</a:t>
            </a:r>
            <a:r>
              <a:rPr sz="1350" b="0">
                <a:solidFill>
                  <a:srgbClr val="2B2B2B"/>
                </a:solidFill>
                <a:latin typeface="Calibri"/>
              </a:rPr>
              <a:t> cada una con un </a:t>
            </a:r>
            <a:r>
              <a:rPr sz="1350" b="1">
                <a:solidFill>
                  <a:srgbClr val="E9520E"/>
                </a:solidFill>
                <a:latin typeface="Calibri"/>
              </a:rPr>
              <a:t>peso wᵢ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mide su importancia.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Calcula la suma ponderada </a:t>
            </a:r>
            <a:r>
              <a:rPr sz="1350" b="1">
                <a:solidFill>
                  <a:srgbClr val="E9520E"/>
                </a:solidFill>
                <a:latin typeface="Calibri"/>
              </a:rPr>
              <a:t>z = Σ wᵢxᵢ + b</a:t>
            </a:r>
            <a:r>
              <a:rPr sz="1350" b="0">
                <a:solidFill>
                  <a:srgbClr val="2B2B2B"/>
                </a:solidFill>
                <a:latin typeface="Calibri"/>
              </a:rPr>
              <a:t>, donde </a:t>
            </a:r>
            <a:r>
              <a:rPr sz="1350" b="1">
                <a:solidFill>
                  <a:srgbClr val="E9520E"/>
                </a:solidFill>
                <a:latin typeface="Calibri"/>
              </a:rPr>
              <a:t>b</a:t>
            </a:r>
            <a:r>
              <a:rPr sz="1350" b="0">
                <a:solidFill>
                  <a:srgbClr val="2B2B2B"/>
                </a:solidFill>
                <a:latin typeface="Calibri"/>
              </a:rPr>
              <a:t> es el sesgo o umbral.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Aplica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función de activación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 f(z) para obtener la salida ŷ.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Ajustando </a:t>
            </a:r>
            <a:r>
              <a:rPr sz="1350" b="1">
                <a:solidFill>
                  <a:srgbClr val="E9520E"/>
                </a:solidFill>
                <a:latin typeface="Calibri"/>
              </a:rPr>
              <a:t>pesos y umbral</a:t>
            </a:r>
            <a:r>
              <a:rPr sz="1350" b="0">
                <a:solidFill>
                  <a:srgbClr val="2B2B2B"/>
                </a:solidFill>
                <a:latin typeface="Calibri"/>
              </a:rPr>
              <a:t> la neurona aprende a decidir.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Ejemplo intuitivo: ¿voy de fiesta?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Tres entradas binarias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x₁ = Tengo dinero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x₂ = Tengo pareja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x₃ = Tengo tarea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entrada vale </a:t>
            </a:r>
            <a:r>
              <a:rPr sz="1350" b="1">
                <a:solidFill>
                  <a:srgbClr val="E9520E"/>
                </a:solidFill>
                <a:latin typeface="Calibri"/>
              </a:rPr>
              <a:t>1 (sí)</a:t>
            </a:r>
            <a:r>
              <a:rPr sz="1350" b="0">
                <a:solidFill>
                  <a:srgbClr val="2B2B2B"/>
                </a:solidFill>
                <a:latin typeface="Calibri"/>
              </a:rPr>
              <a:t> o </a:t>
            </a:r>
            <a:r>
              <a:rPr sz="1350" b="1">
                <a:solidFill>
                  <a:srgbClr val="E9520E"/>
                </a:solidFill>
                <a:latin typeface="Calibri"/>
              </a:rPr>
              <a:t>0 (no)</a:t>
            </a:r>
            <a:r>
              <a:rPr sz="1350" b="0">
                <a:solidFill>
                  <a:srgbClr val="2B2B2B"/>
                </a:solidFill>
                <a:latin typeface="Calibri"/>
              </a:rPr>
              <a:t>. El perceptrón suma las que se cumplen y la compara con un umbral.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554480"/>
            <a:ext cx="5394960" cy="2084831"/>
          </a:xfrm>
          <a:prstGeom prst="roundRect">
            <a:avLst>
              <a:gd name="adj" fmla="val 6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9520E"/>
                </a:solidFill>
                <a:latin typeface="Calibri"/>
              </a:rPr>
              <a:t>Caso A · umbral = 1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x = (1, 1, 0)   ·   pesos = 1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Suma: 1 + 1 + 0 = 2  &gt;  1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C5F2D"/>
                </a:solidFill>
                <a:latin typeface="Calibri"/>
              </a:rPr>
              <a:t>→ SÍ ir de fiesta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3995928"/>
            <a:ext cx="5394960" cy="2084831"/>
          </a:xfrm>
          <a:prstGeom prst="roundRect">
            <a:avLst>
              <a:gd name="adj" fmla="val 6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46304" bIns="109728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9520E"/>
                </a:solidFill>
                <a:latin typeface="Calibri"/>
              </a:rPr>
              <a:t>Caso B · umbral = 5, pesos (3,1,1)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x = (0, 1, 1)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Calibri"/>
              </a:rPr>
              <a:t>Suma: 0·3 + 1 + 1 = 2  &lt;  5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B85042"/>
                </a:solidFill>
                <a:latin typeface="Calibri"/>
              </a:rPr>
              <a:t>→ NO ir de fiesta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Funciones de activación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¿Qué es una función de activación?</a:t>
            </a:r>
          </a:p>
        </p:txBody>
      </p:sp>
      <p:pic>
        <p:nvPicPr>
          <p:cNvPr id="7" name="Picture 6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394960" cy="3468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Su papel en la red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Controlan qué información se propaga de una capa a la siguiente (</a:t>
            </a:r>
            <a:r>
              <a:rPr sz="1350" b="1">
                <a:solidFill>
                  <a:srgbClr val="E9520E"/>
                </a:solidFill>
                <a:latin typeface="Calibri"/>
              </a:rPr>
              <a:t>forward propagation</a:t>
            </a:r>
            <a:r>
              <a:rPr sz="1350" b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Convierten el valor neto </a:t>
            </a:r>
            <a:r>
              <a:rPr sz="1350" b="1">
                <a:solidFill>
                  <a:srgbClr val="E9520E"/>
                </a:solidFill>
                <a:latin typeface="Calibri"/>
              </a:rPr>
              <a:t>z</a:t>
            </a:r>
            <a:r>
              <a:rPr sz="1350" b="0">
                <a:solidFill>
                  <a:srgbClr val="2B2B2B"/>
                </a:solidFill>
                <a:latin typeface="Calibri"/>
              </a:rPr>
              <a:t> (entradas · pesos + bias) en un nuevo valor de salida.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Combinar activaciones </a:t>
            </a:r>
            <a:r>
              <a:rPr sz="1350" b="1">
                <a:solidFill>
                  <a:srgbClr val="E9520E"/>
                </a:solidFill>
                <a:latin typeface="Calibri"/>
              </a:rPr>
              <a:t>no lineales</a:t>
            </a:r>
            <a:r>
              <a:rPr sz="1350" b="0">
                <a:solidFill>
                  <a:srgbClr val="2B2B2B"/>
                </a:solidFill>
                <a:latin typeface="Calibri"/>
              </a:rPr>
              <a:t> con varias capas permite aprender </a:t>
            </a:r>
            <a:r>
              <a:rPr sz="1350" b="1">
                <a:solidFill>
                  <a:srgbClr val="E9520E"/>
                </a:solidFill>
                <a:latin typeface="Calibri"/>
              </a:rPr>
              <a:t>relaciones no lineales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mayoría comprimen la salida al rango </a:t>
            </a:r>
            <a:r>
              <a:rPr sz="1350" b="1">
                <a:solidFill>
                  <a:srgbClr val="E9520E"/>
                </a:solidFill>
                <a:latin typeface="Calibri"/>
              </a:rPr>
              <a:t>(0, 1)</a:t>
            </a:r>
            <a:r>
              <a:rPr sz="1350" b="0">
                <a:solidFill>
                  <a:srgbClr val="2B2B2B"/>
                </a:solidFill>
                <a:latin typeface="Calibri"/>
              </a:rPr>
              <a:t> o </a:t>
            </a:r>
            <a:r>
              <a:rPr sz="1350" b="1">
                <a:solidFill>
                  <a:srgbClr val="E9520E"/>
                </a:solidFill>
                <a:latin typeface="Calibri"/>
              </a:rPr>
              <a:t>(−1, 1)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Si la salida es 0 la neurona está </a:t>
            </a:r>
            <a:r>
              <a:rPr sz="1350" b="1">
                <a:solidFill>
                  <a:srgbClr val="E9520E"/>
                </a:solidFill>
                <a:latin typeface="Calibri"/>
              </a:rPr>
              <a:t>inactiva</a:t>
            </a:r>
            <a:r>
              <a:rPr sz="1350" b="0">
                <a:solidFill>
                  <a:srgbClr val="2B2B2B"/>
                </a:solidFill>
                <a:latin typeface="Calibri"/>
              </a:rPr>
              <a:t>: no transmite información.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Sigmoide</a:t>
            </a:r>
          </a:p>
        </p:txBody>
      </p:sp>
      <p:pic>
        <p:nvPicPr>
          <p:cNvPr id="7" name="Picture 6" descr="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349240" cy="34975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σ(x) = 1 / (1 + e⁻ˣ)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Comprime cualquier valor al rango </a:t>
            </a:r>
            <a:r>
              <a:rPr sz="1350" b="1">
                <a:solidFill>
                  <a:srgbClr val="E9520E"/>
                </a:solidFill>
                <a:latin typeface="Calibri"/>
              </a:rPr>
              <a:t>(0, 1)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Interpretable como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probabilidad</a:t>
            </a:r>
            <a:r>
              <a:rPr sz="1350" b="0">
                <a:solidFill>
                  <a:srgbClr val="2B2B2B"/>
                </a:solidFill>
                <a:latin typeface="Calibri"/>
              </a:rPr>
              <a:t>; útil en la capa de salida de clasificación binaria.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Inconveniente: </a:t>
            </a:r>
            <a:r>
              <a:rPr sz="1350" b="1">
                <a:solidFill>
                  <a:srgbClr val="E9520E"/>
                </a:solidFill>
                <a:latin typeface="Calibri"/>
              </a:rPr>
              <a:t>satura</a:t>
            </a:r>
            <a:r>
              <a:rPr sz="1350" b="0">
                <a:solidFill>
                  <a:srgbClr val="2B2B2B"/>
                </a:solidFill>
                <a:latin typeface="Calibri"/>
              </a:rPr>
              <a:t> en los extremos y provoca </a:t>
            </a:r>
            <a:r>
              <a:rPr sz="1350" b="1">
                <a:solidFill>
                  <a:srgbClr val="E9520E"/>
                </a:solidFill>
                <a:latin typeface="Calibri"/>
              </a:rPr>
              <a:t>vanishing gradients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Tangente hiperbólica (Tanh)</a:t>
            </a:r>
          </a:p>
        </p:txBody>
      </p:sp>
      <p:pic>
        <p:nvPicPr>
          <p:cNvPr id="7" name="Picture 6" descr="t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349240" cy="34975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tanh(x)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Similar a la sigmoide pero centrada en 0, con rango </a:t>
            </a:r>
            <a:r>
              <a:rPr sz="1350" b="1">
                <a:solidFill>
                  <a:srgbClr val="E9520E"/>
                </a:solidFill>
                <a:latin typeface="Calibri"/>
              </a:rPr>
              <a:t>(−1, 1)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Al estar </a:t>
            </a:r>
            <a:r>
              <a:rPr sz="1350" b="1">
                <a:solidFill>
                  <a:srgbClr val="E9520E"/>
                </a:solidFill>
                <a:latin typeface="Calibri"/>
              </a:rPr>
              <a:t>centrada en cero</a:t>
            </a:r>
            <a:r>
              <a:rPr sz="1350" b="0">
                <a:solidFill>
                  <a:srgbClr val="2B2B2B"/>
                </a:solidFill>
                <a:latin typeface="Calibri"/>
              </a:rPr>
              <a:t> suele converger mejor que la sigmoide.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También </a:t>
            </a:r>
            <a:r>
              <a:rPr sz="1350" b="1">
                <a:solidFill>
                  <a:srgbClr val="E9520E"/>
                </a:solidFill>
                <a:latin typeface="Calibri"/>
              </a:rPr>
              <a:t>satura</a:t>
            </a:r>
            <a:r>
              <a:rPr sz="1350" b="0">
                <a:solidFill>
                  <a:srgbClr val="2B2B2B"/>
                </a:solidFill>
                <a:latin typeface="Calibri"/>
              </a:rPr>
              <a:t> en los extremos para valores grandes.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Softmax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Probabilidades multiclase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Generaliza la sigmoide a </a:t>
            </a:r>
            <a:r>
              <a:rPr sz="1350" b="1">
                <a:solidFill>
                  <a:srgbClr val="E9520E"/>
                </a:solidFill>
                <a:latin typeface="Calibri"/>
              </a:rPr>
              <a:t>varias clases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Convierte un vector de valores en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distribución de probabilidad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suma 1.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usa en la </a:t>
            </a:r>
            <a:r>
              <a:rPr sz="1350" b="1">
                <a:solidFill>
                  <a:srgbClr val="E9520E"/>
                </a:solidFill>
                <a:latin typeface="Calibri"/>
              </a:rPr>
              <a:t>capa de salida</a:t>
            </a:r>
            <a:r>
              <a:rPr sz="1350" b="0">
                <a:solidFill>
                  <a:srgbClr val="2B2B2B"/>
                </a:solidFill>
                <a:latin typeface="Calibri"/>
              </a:rPr>
              <a:t> de clasificación multiclase.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clase con mayor probabilidad es la predicción del modelo.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B2B2B"/>
                </a:solidFill>
                <a:latin typeface="Georgia"/>
              </a:rPr>
              <a:t>softmax(zᵢ) = e^{zᵢ} / Σⱼ e^{zⱼ}</a:t>
            </a:r>
          </a:p>
          <a:p>
            <a:pPr algn="ctr">
              <a:spcBef>
                <a:spcPts val="1000"/>
              </a:spcBef>
            </a:pPr>
            <a:r>
              <a:rPr sz="1400" b="0">
                <a:solidFill>
                  <a:srgbClr val="6B6B6B"/>
                </a:solidFill>
                <a:latin typeface="Calibri"/>
              </a:rPr>
              <a:t>cada salida ∈ (0, 1)   ·   Σ salidas =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Rectified Linear Unit (ReLU)</a:t>
            </a:r>
          </a:p>
        </p:txBody>
      </p:sp>
      <p:pic>
        <p:nvPicPr>
          <p:cNvPr id="7" name="Picture 6" descr="re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349240" cy="34975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ReLU(x) = max(0, x)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función de activación </a:t>
            </a:r>
            <a:r>
              <a:rPr sz="1350" b="1">
                <a:solidFill>
                  <a:srgbClr val="E9520E"/>
                </a:solidFill>
                <a:latin typeface="Calibri"/>
              </a:rPr>
              <a:t>más empleada</a:t>
            </a:r>
            <a:r>
              <a:rPr sz="1350" b="0">
                <a:solidFill>
                  <a:srgbClr val="2B2B2B"/>
                </a:solidFill>
                <a:latin typeface="Calibri"/>
              </a:rPr>
              <a:t> hoy en día.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Su derivada es </a:t>
            </a:r>
            <a:r>
              <a:rPr sz="1350" b="1">
                <a:solidFill>
                  <a:srgbClr val="E9520E"/>
                </a:solidFill>
                <a:latin typeface="Calibri"/>
              </a:rPr>
              <a:t>0 o constante</a:t>
            </a:r>
            <a:r>
              <a:rPr sz="1350" b="0">
                <a:solidFill>
                  <a:srgbClr val="2B2B2B"/>
                </a:solidFill>
                <a:latin typeface="Calibri"/>
              </a:rPr>
              <a:t>, lo que evita el problema de </a:t>
            </a:r>
            <a:r>
              <a:rPr sz="1350" b="1">
                <a:solidFill>
                  <a:srgbClr val="E9520E"/>
                </a:solidFill>
                <a:latin typeface="Calibri"/>
              </a:rPr>
              <a:t>vanishing gradients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Muy </a:t>
            </a:r>
            <a:r>
              <a:rPr sz="1350" b="1">
                <a:solidFill>
                  <a:srgbClr val="E9520E"/>
                </a:solidFill>
                <a:latin typeface="Calibri"/>
              </a:rPr>
              <a:t>eficiente</a:t>
            </a:r>
            <a:r>
              <a:rPr sz="1350" b="0">
                <a:solidFill>
                  <a:srgbClr val="2B2B2B"/>
                </a:solidFill>
                <a:latin typeface="Calibri"/>
              </a:rPr>
              <a:t> de calcular; acelera el entrenamiento.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Buenos resultados en aplicaciones muy diversas.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Elegir la función de activación adecuada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520E"/>
                </a:solidFill>
                <a:latin typeface="Calibri"/>
              </a:rP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520E"/>
                </a:solidFill>
                <a:latin typeface="Calibri"/>
              </a:rPr>
              <a:t>Recomendación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927080" cy="8686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92807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Capas ocultas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92807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ReLU (o variantes: Leaky ReLU, GELU)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07791"/>
            <a:ext cx="10927080" cy="8686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26079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Salida · binaria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Sigmoide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27080" cy="8686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59351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Salida · multiclase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59351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Softmax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74336"/>
            <a:ext cx="10927080" cy="86868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992623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Salida · regresión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92623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Lineal (sin activación)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Funciones de coste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COSTE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¿Qué es una función de coste?</a:t>
            </a:r>
          </a:p>
        </p:txBody>
      </p:sp>
      <p:pic>
        <p:nvPicPr>
          <p:cNvPr id="7" name="Picture 6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349240" cy="34975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Medir el error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Mide cuánto se </a:t>
            </a:r>
            <a:r>
              <a:rPr sz="1350" b="1">
                <a:solidFill>
                  <a:srgbClr val="E9520E"/>
                </a:solidFill>
                <a:latin typeface="Calibri"/>
              </a:rPr>
              <a:t>equivoca</a:t>
            </a:r>
            <a:r>
              <a:rPr sz="1350" b="0">
                <a:solidFill>
                  <a:srgbClr val="2B2B2B"/>
                </a:solidFill>
                <a:latin typeface="Calibri"/>
              </a:rPr>
              <a:t> el modelo comparando la predicción ŷ con el valor real 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Entrenar = </a:t>
            </a:r>
            <a:r>
              <a:rPr sz="1350" b="1">
                <a:solidFill>
                  <a:srgbClr val="E9520E"/>
                </a:solidFill>
                <a:latin typeface="Calibri"/>
              </a:rPr>
              <a:t>minimizar</a:t>
            </a:r>
            <a:r>
              <a:rPr sz="1350" b="0">
                <a:solidFill>
                  <a:srgbClr val="2B2B2B"/>
                </a:solidFill>
                <a:latin typeface="Calibri"/>
              </a:rPr>
              <a:t> esta función ajustando pesos y bias.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descenso de gradiente</a:t>
            </a:r>
            <a:r>
              <a:rPr sz="1350" b="0">
                <a:solidFill>
                  <a:srgbClr val="2B2B2B"/>
                </a:solidFill>
                <a:latin typeface="Calibri"/>
              </a:rPr>
              <a:t> usa su derivada para actualizar los parámetros.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elección depende del problema: </a:t>
            </a:r>
            <a:r>
              <a:rPr sz="1350" b="1">
                <a:solidFill>
                  <a:srgbClr val="E9520E"/>
                </a:solidFill>
                <a:latin typeface="Calibri"/>
              </a:rPr>
              <a:t>regresión</a:t>
            </a:r>
            <a:r>
              <a:rPr sz="1350" b="0">
                <a:solidFill>
                  <a:srgbClr val="2B2B2B"/>
                </a:solidFill>
                <a:latin typeface="Calibri"/>
              </a:rPr>
              <a:t> o </a:t>
            </a:r>
            <a:r>
              <a:rPr sz="1350" b="1">
                <a:solidFill>
                  <a:srgbClr val="E9520E"/>
                </a:solidFill>
                <a:latin typeface="Calibri"/>
              </a:rPr>
              <a:t>clasificación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COSTE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Error cuadrático medio (MSE)</a:t>
            </a:r>
          </a:p>
        </p:txBody>
      </p:sp>
      <p:pic>
        <p:nvPicPr>
          <p:cNvPr id="7" name="Picture 6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349240" cy="34975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MSE = (1/n) Σ (yᵢ − ŷᵢ)²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Promedio de los </a:t>
            </a:r>
            <a:r>
              <a:rPr sz="1350" b="1">
                <a:solidFill>
                  <a:srgbClr val="E9520E"/>
                </a:solidFill>
                <a:latin typeface="Calibri"/>
              </a:rPr>
              <a:t>errores al cuadrado</a:t>
            </a:r>
            <a:r>
              <a:rPr sz="1350" b="0">
                <a:solidFill>
                  <a:srgbClr val="2B2B2B"/>
                </a:solidFill>
                <a:latin typeface="Calibri"/>
              </a:rPr>
              <a:t>; típico en </a:t>
            </a:r>
            <a:r>
              <a:rPr sz="1350" b="1">
                <a:solidFill>
                  <a:srgbClr val="E9520E"/>
                </a:solidFill>
                <a:latin typeface="Calibri"/>
              </a:rPr>
              <a:t>regresión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Penaliza </a:t>
            </a:r>
            <a:r>
              <a:rPr sz="1350" b="1">
                <a:solidFill>
                  <a:srgbClr val="E9520E"/>
                </a:solidFill>
                <a:latin typeface="Calibri"/>
              </a:rPr>
              <a:t>más</a:t>
            </a:r>
            <a:r>
              <a:rPr sz="1350" b="0">
                <a:solidFill>
                  <a:srgbClr val="2B2B2B"/>
                </a:solidFill>
                <a:latin typeface="Calibri"/>
              </a:rPr>
              <a:t> los errores grandes (crecimiento cuadrático).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Muy </a:t>
            </a:r>
            <a:r>
              <a:rPr sz="1350" b="1">
                <a:solidFill>
                  <a:srgbClr val="E9520E"/>
                </a:solidFill>
                <a:latin typeface="Calibri"/>
              </a:rPr>
              <a:t>sensible a outliers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COSTE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Error medio absoluto (MAE)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2880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B2B2B"/>
                </a:solidFill>
                <a:latin typeface="Georgia"/>
              </a:rPr>
              <a:t>MAE = (1/n) Σ |yᵢ − ŷᵢ|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Alternativa robusta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Promedio de los </a:t>
            </a:r>
            <a:r>
              <a:rPr sz="1350" b="1">
                <a:solidFill>
                  <a:srgbClr val="E9520E"/>
                </a:solidFill>
                <a:latin typeface="Calibri"/>
              </a:rPr>
              <a:t>errores absolutos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Crece de forma </a:t>
            </a:r>
            <a:r>
              <a:rPr sz="1350" b="1">
                <a:solidFill>
                  <a:srgbClr val="E9520E"/>
                </a:solidFill>
                <a:latin typeface="Calibri"/>
              </a:rPr>
              <a:t>lineal</a:t>
            </a:r>
            <a:r>
              <a:rPr sz="1350" b="0">
                <a:solidFill>
                  <a:srgbClr val="2B2B2B"/>
                </a:solidFill>
                <a:latin typeface="Calibri"/>
              </a:rPr>
              <a:t>: más </a:t>
            </a:r>
            <a:r>
              <a:rPr sz="1350" b="1">
                <a:solidFill>
                  <a:srgbClr val="E9520E"/>
                </a:solidFill>
                <a:latin typeface="Calibri"/>
              </a:rPr>
              <a:t>robusto frente a outliers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el MSE.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No deriva tan suavemente en el cero, pero es muy interpretable.</a:t>
            </a:r>
          </a:p>
        </p:txBody>
      </p:sp>
      <p:pic>
        <p:nvPicPr>
          <p:cNvPr id="9" name="Picture 8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46120"/>
            <a:ext cx="3657600" cy="23915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FUNCIÓN DE COSTE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Log loss / Cross-entropy</a:t>
            </a:r>
          </a:p>
        </p:txBody>
      </p:sp>
      <p:pic>
        <p:nvPicPr>
          <p:cNvPr id="7" name="Picture 6" descr="cross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349240" cy="34975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L = − Σ yᵢ · log(ŷᵢ)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Pérdida estándar en </a:t>
            </a:r>
            <a:r>
              <a:rPr sz="1350" b="1">
                <a:solidFill>
                  <a:srgbClr val="E9520E"/>
                </a:solidFill>
                <a:latin typeface="Calibri"/>
              </a:rPr>
              <a:t>clasificación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Penaliza con fuerza las predicciones </a:t>
            </a:r>
            <a:r>
              <a:rPr sz="1350" b="1">
                <a:solidFill>
                  <a:srgbClr val="E9520E"/>
                </a:solidFill>
                <a:latin typeface="Calibri"/>
              </a:rPr>
              <a:t>confiadas y erróneas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combina con </a:t>
            </a:r>
            <a:r>
              <a:rPr sz="1350" b="1">
                <a:solidFill>
                  <a:srgbClr val="E9520E"/>
                </a:solidFill>
                <a:latin typeface="Calibri"/>
              </a:rPr>
              <a:t>sigmoide</a:t>
            </a:r>
            <a:r>
              <a:rPr sz="1350" b="0">
                <a:solidFill>
                  <a:srgbClr val="2B2B2B"/>
                </a:solidFill>
                <a:latin typeface="Calibri"/>
              </a:rPr>
              <a:t> (binaria) o </a:t>
            </a:r>
            <a:r>
              <a:rPr sz="1350" b="1">
                <a:solidFill>
                  <a:srgbClr val="E9520E"/>
                </a:solidFill>
                <a:latin typeface="Calibri"/>
              </a:rPr>
              <a:t>softmax</a:t>
            </a:r>
            <a:r>
              <a:rPr sz="1350" b="0">
                <a:solidFill>
                  <a:srgbClr val="2B2B2B"/>
                </a:solidFill>
                <a:latin typeface="Calibri"/>
              </a:rPr>
              <a:t> (multiclase).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Cuanto menor es la probabilidad asignada a la clase real, mayor el coste.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Ideas clave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50008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El perceptrón</a:t>
            </a:r>
            <a:r>
              <a:rPr sz="1600" b="0">
                <a:solidFill>
                  <a:srgbClr val="FFFFFF"/>
                </a:solidFill>
                <a:latin typeface="Calibri"/>
              </a:rPr>
              <a:t> combina entradas ponderadas y un umbral para decidir.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82696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21868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La función de activación</a:t>
            </a:r>
            <a:r>
              <a:rPr sz="1600" b="0">
                <a:solidFill>
                  <a:srgbClr val="FFFFFF"/>
                </a:solidFill>
                <a:latin typeface="Calibri"/>
              </a:rPr>
              <a:t> introduce no linealidad: ReLU en capas ocultas, sigmoide/softmax en la salida.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215384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1513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La función de coste</a:t>
            </a:r>
            <a:r>
              <a:rPr sz="1600" b="0">
                <a:solidFill>
                  <a:srgbClr val="FFFFFF"/>
                </a:solidFill>
                <a:latin typeface="Calibri"/>
              </a:rPr>
              <a:t> mide el error: MSE/MAE en regresión, cross-entropy en clasificación.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148072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08406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Entrenar</a:t>
            </a:r>
            <a:r>
              <a:rPr sz="1600" b="0">
                <a:solidFill>
                  <a:srgbClr val="FFFFFF"/>
                </a:solidFill>
                <a:latin typeface="Calibri"/>
              </a:rPr>
              <a:t> = minimizar la pérdida ajustando pesos y bias con descenso de gradiente.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