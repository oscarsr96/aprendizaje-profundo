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</a:t>
            </a:r>
          </a:p>
        </p:txBody>
      </p:sp>
      <p:pic>
        <p:nvPicPr>
          <p:cNvPr id="7" name="Picture 6" descr="cn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246120"/>
            <a:ext cx="5852160" cy="2142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8288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APRENDIZAJE PROFUNDO · TEMA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Georgia"/>
              </a:rPr>
              <a:t>4. Redes neuronales convolucionales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B2B2B"/>
                </a:solidFill>
                <a:latin typeface="Calibri"/>
              </a:rPr>
              <a:t>Prof. Óscar Sánchez Rueda</a:t>
            </a:r>
          </a:p>
          <a:p>
            <a:r>
              <a:rPr sz="1400" b="0">
                <a:solidFill>
                  <a:srgbClr val="6B6B6B"/>
                </a:solidFill>
                <a:latin typeface="Calibri"/>
              </a:rPr>
              <a:t>CUNEF Universidad · Curso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¿De qué trata este tema?</a:t>
            </a:r>
          </a:p>
        </p:txBody>
      </p:sp>
      <p:pic>
        <p:nvPicPr>
          <p:cNvPr id="7" name="Picture 6" descr="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11680"/>
            <a:ext cx="5486400" cy="2590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32120" cy="3303396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Una red más pequeña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 una red </a:t>
            </a:r>
            <a:r>
              <a:rPr sz="1350" b="1">
                <a:solidFill>
                  <a:srgbClr val="E9520E"/>
                </a:solidFill>
                <a:latin typeface="Calibri"/>
              </a:rPr>
              <a:t>totalmente conectada</a:t>
            </a:r>
            <a:r>
              <a:rPr sz="1350" b="0">
                <a:solidFill>
                  <a:srgbClr val="2B2B2B"/>
                </a:solidFill>
                <a:latin typeface="Calibri"/>
              </a:rPr>
              <a:t> sobre imágenes hay demasiadas conexiones.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¿Necesitamos </a:t>
            </a:r>
            <a:r>
              <a:rPr sz="1350" b="1">
                <a:solidFill>
                  <a:srgbClr val="E9520E"/>
                </a:solidFill>
                <a:latin typeface="Calibri"/>
              </a:rPr>
              <a:t>todas las aristas</a:t>
            </a:r>
            <a:r>
              <a:rPr sz="1350" b="0">
                <a:solidFill>
                  <a:srgbClr val="2B2B2B"/>
                </a:solidFill>
                <a:latin typeface="Calibri"/>
              </a:rPr>
              <a:t>? ¿Pueden </a:t>
            </a:r>
            <a:r>
              <a:rPr sz="1350" b="1">
                <a:solidFill>
                  <a:srgbClr val="E9520E"/>
                </a:solidFill>
                <a:latin typeface="Calibri"/>
              </a:rPr>
              <a:t>compartirse</a:t>
            </a:r>
            <a:r>
              <a:rPr sz="1350" b="0">
                <a:solidFill>
                  <a:srgbClr val="2B2B2B"/>
                </a:solidFill>
                <a:latin typeface="Calibri"/>
              </a:rPr>
              <a:t>?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CNN</a:t>
            </a:r>
            <a:r>
              <a:rPr sz="1350" b="0">
                <a:solidFill>
                  <a:srgbClr val="2B2B2B"/>
                </a:solidFill>
                <a:latin typeface="Calibri"/>
              </a:rPr>
              <a:t> explotan que los patrones son </a:t>
            </a:r>
            <a:r>
              <a:rPr sz="1350" b="1">
                <a:solidFill>
                  <a:srgbClr val="E9520E"/>
                </a:solidFill>
                <a:latin typeface="Calibri"/>
              </a:rPr>
              <a:t>locales</a:t>
            </a:r>
            <a:r>
              <a:rPr sz="1350" b="0">
                <a:solidFill>
                  <a:srgbClr val="2B2B2B"/>
                </a:solidFill>
                <a:latin typeface="Calibri"/>
              </a:rPr>
              <a:t> y se </a:t>
            </a:r>
            <a:r>
              <a:rPr sz="1350" b="1">
                <a:solidFill>
                  <a:srgbClr val="E9520E"/>
                </a:solidFill>
                <a:latin typeface="Calibri"/>
              </a:rPr>
              <a:t>repiten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Usan </a:t>
            </a:r>
            <a:r>
              <a:rPr sz="1350" b="1">
                <a:solidFill>
                  <a:srgbClr val="E9520E"/>
                </a:solidFill>
                <a:latin typeface="Calibri"/>
              </a:rPr>
              <a:t>convolución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, </a:t>
            </a:r>
            <a:r>
              <a:rPr sz="1350" b="1">
                <a:solidFill>
                  <a:srgbClr val="E9520E"/>
                </a:solidFill>
                <a:latin typeface="Calibri"/>
              </a:rPr>
              <a:t>pesos compartidos</a:t>
            </a:r>
            <a:r>
              <a:rPr sz="1350" b="0">
                <a:solidFill>
                  <a:srgbClr val="2B2B2B"/>
                </a:solidFill>
                <a:latin typeface="Calibri"/>
              </a:rPr>
              <a:t> y </a:t>
            </a:r>
            <a:r>
              <a:rPr sz="1350" b="1">
                <a:solidFill>
                  <a:srgbClr val="E9520E"/>
                </a:solidFill>
                <a:latin typeface="Calibri"/>
              </a:rPr>
              <a:t>pooling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Menos parámetros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entrenan mejor</a:t>
            </a:r>
            <a:r>
              <a:rPr sz="1350" b="0">
                <a:solidFill>
                  <a:srgbClr val="2B2B2B"/>
                </a:solidFill>
                <a:latin typeface="Calibri"/>
              </a:rPr>
              <a:t> en visión.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Índice del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Motivación: patrones locales y compartidos.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La capa convolucional: filtros y feature maps.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1421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3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Pooling y la arquitectura completa de una CNN.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9783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48071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CNN en la práctica y aplicaciones.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La intuición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Aprender una imagen</a:t>
            </a:r>
          </a:p>
        </p:txBody>
      </p:sp>
      <p:pic>
        <p:nvPicPr>
          <p:cNvPr id="7" name="Picture 6" descr="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57400"/>
            <a:ext cx="5486400" cy="2590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32120" cy="300507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Tres observaciones clave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Muchos patrones son </a:t>
            </a:r>
            <a:r>
              <a:rPr sz="1350" b="1">
                <a:solidFill>
                  <a:srgbClr val="E9520E"/>
                </a:solidFill>
                <a:latin typeface="Calibri"/>
              </a:rPr>
              <a:t>más pequeños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la imagen completa (p. ej. un “pico”).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puede representar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región pequeña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pocos parámetros.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mismo patrón aparece en distintos lugares</a:t>
            </a:r>
            <a:r>
              <a:rPr sz="1350" b="0">
                <a:solidFill>
                  <a:srgbClr val="2B2B2B"/>
                </a:solidFill>
                <a:latin typeface="Calibri"/>
              </a:rPr>
              <a:t>: se puede comprimir.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 detector puede </a:t>
            </a:r>
            <a:r>
              <a:rPr sz="1350" b="1">
                <a:solidFill>
                  <a:srgbClr val="E9520E"/>
                </a:solidFill>
                <a:latin typeface="Calibri"/>
              </a:rPr>
              <a:t>moverse por la imagen</a:t>
            </a:r>
            <a:r>
              <a:rPr sz="1350" b="0">
                <a:solidFill>
                  <a:srgbClr val="2B2B2B"/>
                </a:solidFill>
                <a:latin typeface="Calibri"/>
              </a:rPr>
              <a:t> reutilizando los mismos pesos.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Conexiones locales y pesos compartidos</a:t>
            </a:r>
          </a:p>
        </p:txBody>
      </p:sp>
      <p:pic>
        <p:nvPicPr>
          <p:cNvPr id="7" name="Picture 6" descr="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486400" cy="2590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5044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Comprimir la red completa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neurona se conecta solo a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pequeña región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(p. ej. 9 entradas, no todas).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Los detectores que buscan el mismo patrón </a:t>
            </a:r>
            <a:r>
              <a:rPr sz="1350" b="1">
                <a:solidFill>
                  <a:srgbClr val="E9520E"/>
                </a:solidFill>
                <a:latin typeface="Calibri"/>
              </a:rPr>
              <a:t>comparten pesos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Resultado: </a:t>
            </a:r>
            <a:r>
              <a:rPr sz="1350" b="1">
                <a:solidFill>
                  <a:srgbClr val="E9520E"/>
                </a:solidFill>
                <a:latin typeface="Calibri"/>
              </a:rPr>
              <a:t>muchísimos menos parámetros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una red densa.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Convolución y filtros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La capa convolucional</a:t>
            </a:r>
          </a:p>
        </p:txBody>
      </p:sp>
      <p:pic>
        <p:nvPicPr>
          <p:cNvPr id="7" name="Picture 6" descr="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77440"/>
            <a:ext cx="6035040" cy="33725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3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Filtros que detectan patrones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CNN es una red con varias </a:t>
            </a:r>
            <a:r>
              <a:rPr sz="1350" b="1">
                <a:solidFill>
                  <a:srgbClr val="E9520E"/>
                </a:solidFill>
                <a:latin typeface="Calibri"/>
              </a:rPr>
              <a:t>capas convolucionales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capa tiene varios </a:t>
            </a:r>
            <a:r>
              <a:rPr sz="1350" b="1">
                <a:solidFill>
                  <a:srgbClr val="E9520E"/>
                </a:solidFill>
                <a:latin typeface="Calibri"/>
              </a:rPr>
              <a:t>filtros</a:t>
            </a:r>
            <a:r>
              <a:rPr sz="1350" b="0">
                <a:solidFill>
                  <a:srgbClr val="2B2B2B"/>
                </a:solidFill>
                <a:latin typeface="Calibri"/>
              </a:rPr>
              <a:t> (p. ej. 3×3) que son los parámetros a aprender.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filtro detecta un </a:t>
            </a:r>
            <a:r>
              <a:rPr sz="1350" b="1">
                <a:solidFill>
                  <a:srgbClr val="E9520E"/>
                </a:solidFill>
                <a:latin typeface="Calibri"/>
              </a:rPr>
              <a:t>patrón pequeño</a:t>
            </a:r>
            <a:r>
              <a:rPr sz="1350" b="0">
                <a:solidFill>
                  <a:srgbClr val="2B2B2B"/>
                </a:solidFill>
                <a:latin typeface="Calibri"/>
              </a:rPr>
              <a:t> (un “detector de pico”).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desliza por la imagen con un cierto </a:t>
            </a:r>
            <a:r>
              <a:rPr sz="1350" b="1">
                <a:solidFill>
                  <a:srgbClr val="E9520E"/>
                </a:solidFill>
                <a:latin typeface="Calibri"/>
              </a:rPr>
              <a:t>stride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La operación de convolución</a:t>
            </a:r>
          </a:p>
        </p:txBody>
      </p:sp>
      <p:pic>
        <p:nvPicPr>
          <p:cNvPr id="7" name="Picture 6" descr="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77440"/>
            <a:ext cx="6035040" cy="33725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Producto escalar deslizante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 cada posición se calcula el </a:t>
            </a:r>
            <a:r>
              <a:rPr sz="1350" b="1">
                <a:solidFill>
                  <a:srgbClr val="E9520E"/>
                </a:solidFill>
                <a:latin typeface="Calibri"/>
              </a:rPr>
              <a:t>producto escalar</a:t>
            </a:r>
            <a:r>
              <a:rPr sz="1350" b="0">
                <a:solidFill>
                  <a:srgbClr val="2B2B2B"/>
                </a:solidFill>
                <a:latin typeface="Calibri"/>
              </a:rPr>
              <a:t> entre el filtro y la región.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resultado forma un </a:t>
            </a:r>
            <a:r>
              <a:rPr sz="1350" b="1">
                <a:solidFill>
                  <a:srgbClr val="E9520E"/>
                </a:solidFill>
                <a:latin typeface="Calibri"/>
              </a:rPr>
              <a:t>feature map</a:t>
            </a:r>
            <a:r>
              <a:rPr sz="1350" b="0">
                <a:solidFill>
                  <a:srgbClr val="2B2B2B"/>
                </a:solidFill>
                <a:latin typeface="Calibri"/>
              </a:rPr>
              <a:t> (mapa de activación).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stride</a:t>
            </a:r>
            <a:r>
              <a:rPr sz="1350" b="0">
                <a:solidFill>
                  <a:srgbClr val="2B2B2B"/>
                </a:solidFill>
                <a:latin typeface="Calibri"/>
              </a:rPr>
              <a:t> controla cuánto se desplaza el filtro (1, 2, …).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filtro produce su propio mapa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varios canales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Imágenes en color: RGB</a:t>
            </a:r>
          </a:p>
        </p:txBody>
      </p:sp>
      <p:pic>
        <p:nvPicPr>
          <p:cNvPr id="7" name="Picture 6" descr="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286000"/>
            <a:ext cx="4389120" cy="29846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30212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Tres canales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imagen en color tiene </a:t>
            </a:r>
            <a:r>
              <a:rPr sz="1350" b="1">
                <a:solidFill>
                  <a:srgbClr val="E9520E"/>
                </a:solidFill>
                <a:latin typeface="Calibri"/>
              </a:rPr>
              <a:t>3 canales</a:t>
            </a:r>
            <a:r>
              <a:rPr sz="1350" b="0">
                <a:solidFill>
                  <a:srgbClr val="2B2B2B"/>
                </a:solidFill>
                <a:latin typeface="Calibri"/>
              </a:rPr>
              <a:t> (R, G, B).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filtro se aplica a los </a:t>
            </a:r>
            <a:r>
              <a:rPr sz="1350" b="1">
                <a:solidFill>
                  <a:srgbClr val="E9520E"/>
                </a:solidFill>
                <a:latin typeface="Calibri"/>
              </a:rPr>
              <a:t>tres canales</a:t>
            </a:r>
            <a:r>
              <a:rPr sz="1350" b="0">
                <a:solidFill>
                  <a:srgbClr val="2B2B2B"/>
                </a:solidFill>
                <a:latin typeface="Calibri"/>
              </a:rPr>
              <a:t> a la vez.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conjunto de feature maps forma el </a:t>
            </a:r>
            <a:r>
              <a:rPr sz="1350" b="1">
                <a:solidFill>
                  <a:srgbClr val="E9520E"/>
                </a:solidFill>
                <a:latin typeface="Calibri"/>
              </a:rPr>
              <a:t>volumen</a:t>
            </a:r>
            <a:r>
              <a:rPr sz="1350" b="0">
                <a:solidFill>
                  <a:srgbClr val="2B2B2B"/>
                </a:solidFill>
                <a:latin typeface="Calibri"/>
              </a:rPr>
              <a:t> de salida de la capa.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Pooling y arquitectura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Max pooling</a:t>
            </a:r>
          </a:p>
        </p:txBody>
      </p:sp>
      <p:pic>
        <p:nvPicPr>
          <p:cNvPr id="7" name="Picture 6" descr="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4864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802762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Submuestreo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Reduce el tamaño tomando el </a:t>
            </a:r>
            <a:r>
              <a:rPr sz="1350" b="1">
                <a:solidFill>
                  <a:srgbClr val="E9520E"/>
                </a:solidFill>
                <a:latin typeface="Calibri"/>
              </a:rPr>
              <a:t>máximo de cada bloque</a:t>
            </a:r>
            <a:r>
              <a:rPr sz="1350" b="0">
                <a:solidFill>
                  <a:srgbClr val="2B2B2B"/>
                </a:solidFill>
                <a:latin typeface="Calibri"/>
              </a:rPr>
              <a:t> (p. ej. 2×2).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Submuestrear </a:t>
            </a:r>
            <a:r>
              <a:rPr sz="1350" b="1">
                <a:solidFill>
                  <a:srgbClr val="E9520E"/>
                </a:solidFill>
                <a:latin typeface="Calibri"/>
              </a:rPr>
              <a:t>no cambia el objeto</a:t>
            </a:r>
            <a:r>
              <a:rPr sz="1350" b="0">
                <a:solidFill>
                  <a:srgbClr val="2B2B2B"/>
                </a:solidFill>
                <a:latin typeface="Calibri"/>
              </a:rPr>
              <a:t>: un pájaro sigue siendo un pájaro.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Hace la imagen más pequeña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menos parámetros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Aporta cierta </a:t>
            </a:r>
            <a:r>
              <a:rPr sz="1350" b="1">
                <a:solidFill>
                  <a:srgbClr val="E9520E"/>
                </a:solidFill>
                <a:latin typeface="Calibri"/>
              </a:rPr>
              <a:t>invariancia</a:t>
            </a:r>
            <a:r>
              <a:rPr sz="1350" b="0">
                <a:solidFill>
                  <a:srgbClr val="2B2B2B"/>
                </a:solidFill>
                <a:latin typeface="Calibri"/>
              </a:rPr>
              <a:t> a pequeñas traslaciones.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La CNN completa</a:t>
            </a:r>
          </a:p>
        </p:txBody>
      </p:sp>
      <p:pic>
        <p:nvPicPr>
          <p:cNvPr id="7" name="Picture 6" descr="cn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68880"/>
            <a:ext cx="5943600" cy="21758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3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De la imagen a la decisión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alternan </a:t>
            </a:r>
            <a:r>
              <a:rPr sz="1350" b="1">
                <a:solidFill>
                  <a:srgbClr val="E9520E"/>
                </a:solidFill>
                <a:latin typeface="Calibri"/>
              </a:rPr>
              <a:t>convolución y max pooling</a:t>
            </a:r>
            <a:r>
              <a:rPr sz="1350" b="0">
                <a:solidFill>
                  <a:srgbClr val="2B2B2B"/>
                </a:solidFill>
                <a:latin typeface="Calibri"/>
              </a:rPr>
              <a:t>, repetidas varias veces.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filtro genera un </a:t>
            </a:r>
            <a:r>
              <a:rPr sz="1350" b="1">
                <a:solidFill>
                  <a:srgbClr val="E9520E"/>
                </a:solidFill>
                <a:latin typeface="Calibri"/>
              </a:rPr>
              <a:t>canal</a:t>
            </a:r>
            <a:r>
              <a:rPr sz="1350" b="0">
                <a:solidFill>
                  <a:srgbClr val="2B2B2B"/>
                </a:solidFill>
                <a:latin typeface="Calibri"/>
              </a:rPr>
              <a:t>; la imagen se va haciendo más pequeña y profunda.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Al final se </a:t>
            </a:r>
            <a:r>
              <a:rPr sz="1350" b="1">
                <a:solidFill>
                  <a:srgbClr val="E9520E"/>
                </a:solidFill>
                <a:latin typeface="Calibri"/>
              </a:rPr>
              <a:t>aplana (flatten)</a:t>
            </a:r>
            <a:r>
              <a:rPr sz="1350" b="0">
                <a:solidFill>
                  <a:srgbClr val="2B2B2B"/>
                </a:solidFill>
                <a:latin typeface="Calibri"/>
              </a:rPr>
              <a:t> en un vector.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red </a:t>
            </a:r>
            <a:r>
              <a:rPr sz="1350" b="1">
                <a:solidFill>
                  <a:srgbClr val="E9520E"/>
                </a:solidFill>
                <a:latin typeface="Calibri"/>
              </a:rPr>
              <a:t>totalmente conectada</a:t>
            </a:r>
            <a:r>
              <a:rPr sz="1350" b="0">
                <a:solidFill>
                  <a:srgbClr val="2B2B2B"/>
                </a:solidFill>
                <a:latin typeface="Calibri"/>
              </a:rPr>
              <a:t> produce la clasificación (gato / perro…).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Cómo comprime una 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219688" cy="199351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Tres formas de reducir complejidad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Menos conexiones</a:t>
            </a:r>
            <a:r>
              <a:rPr sz="1350" b="0">
                <a:solidFill>
                  <a:srgbClr val="2B2B2B"/>
                </a:solidFill>
                <a:latin typeface="Calibri"/>
              </a:rPr>
              <a:t>: cada neurona ve solo una región local.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Pesos compartidos</a:t>
            </a:r>
            <a:r>
              <a:rPr sz="1350" b="0">
                <a:solidFill>
                  <a:srgbClr val="2B2B2B"/>
                </a:solidFill>
                <a:latin typeface="Calibri"/>
              </a:rPr>
              <a:t>: el mismo filtro se reutiliza por toda la imagen.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Max pooling</a:t>
            </a:r>
            <a:r>
              <a:rPr sz="1350" b="0">
                <a:solidFill>
                  <a:srgbClr val="2B2B2B"/>
                </a:solidFill>
                <a:latin typeface="Calibri"/>
              </a:rPr>
              <a:t>: reduce aún más el tamaño de las representaciones.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Frente a una red densa, una CNN tiene </a:t>
            </a:r>
            <a:r>
              <a:rPr sz="1350" b="1">
                <a:solidFill>
                  <a:srgbClr val="E9520E"/>
                </a:solidFill>
                <a:latin typeface="Calibri"/>
              </a:rPr>
              <a:t>órdenes de magnitud menos parámetros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En la práctica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CNN en la práctica (Keras)</a:t>
            </a:r>
          </a:p>
        </p:txBody>
      </p:sp>
      <p:pic>
        <p:nvPicPr>
          <p:cNvPr id="7" name="Picture 6" descr="cn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06240"/>
            <a:ext cx="6766560" cy="24770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54480"/>
            <a:ext cx="5257800" cy="24688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De vector a tensor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Solo cambia la </a:t>
            </a:r>
            <a:r>
              <a:rPr sz="1350" b="1">
                <a:solidFill>
                  <a:srgbClr val="E9520E"/>
                </a:solidFill>
                <a:latin typeface="Calibri"/>
              </a:rPr>
              <a:t>estructura de red</a:t>
            </a:r>
            <a:r>
              <a:rPr sz="1350" b="0">
                <a:solidFill>
                  <a:srgbClr val="2B2B2B"/>
                </a:solidFill>
                <a:latin typeface="Calibri"/>
              </a:rPr>
              <a:t> y el formato de entrada.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entrada pasa de vector a </a:t>
            </a:r>
            <a:r>
              <a:rPr sz="1350" b="1">
                <a:solidFill>
                  <a:srgbClr val="E9520E"/>
                </a:solidFill>
                <a:latin typeface="Calibri"/>
              </a:rPr>
              <a:t>tensor 3-D</a:t>
            </a:r>
            <a:r>
              <a:rPr sz="1350" b="0">
                <a:solidFill>
                  <a:srgbClr val="2B2B2B"/>
                </a:solidFill>
                <a:latin typeface="Calibri"/>
              </a:rPr>
              <a:t> (28×28×1 ó ×3 para RGB).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 filtro 3×3 tiene </a:t>
            </a:r>
            <a:r>
              <a:rPr sz="1350" b="1">
                <a:solidFill>
                  <a:srgbClr val="E9520E"/>
                </a:solidFill>
                <a:latin typeface="Calibri"/>
              </a:rPr>
              <a:t>9 parámetros</a:t>
            </a:r>
            <a:r>
              <a:rPr sz="1350" b="0">
                <a:solidFill>
                  <a:srgbClr val="2B2B2B"/>
                </a:solidFill>
                <a:latin typeface="Calibri"/>
              </a:rPr>
              <a:t>; 25 filtros → 225.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Aplicaciones de las 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Visión y más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Clasificación de imágenes</a:t>
            </a:r>
            <a:r>
              <a:rPr sz="1350" b="0">
                <a:solidFill>
                  <a:srgbClr val="2B2B2B"/>
                </a:solidFill>
                <a:latin typeface="Calibri"/>
              </a:rPr>
              <a:t> (gato, perro, dígitos…).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AlphaGo</a:t>
            </a:r>
            <a:r>
              <a:rPr sz="1350" b="0">
                <a:solidFill>
                  <a:srgbClr val="2B2B2B"/>
                </a:solidFill>
                <a:latin typeface="Calibri"/>
              </a:rPr>
              <a:t>: tablero 19×19; la CNN supera a la red densa (sin pooling).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Reconocimiento de voz</a:t>
            </a:r>
            <a:r>
              <a:rPr sz="1350" b="0">
                <a:solidFill>
                  <a:srgbClr val="2B2B2B"/>
                </a:solidFill>
                <a:latin typeface="Calibri"/>
              </a:rPr>
              <a:t>: los filtros se mueven por el espectrograma.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Más allá de la imagen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Clasificación de texto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convoluciones 1-D.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Base de la mayoría de sistemas modernos de </a:t>
            </a:r>
            <a:r>
              <a:rPr sz="1350" b="1">
                <a:solidFill>
                  <a:srgbClr val="E9520E"/>
                </a:solidFill>
                <a:latin typeface="Calibri"/>
              </a:rPr>
              <a:t>visión por computador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combinan con </a:t>
            </a:r>
            <a:r>
              <a:rPr sz="1350" b="1">
                <a:solidFill>
                  <a:srgbClr val="E9520E"/>
                </a:solidFill>
                <a:latin typeface="Calibri"/>
              </a:rPr>
              <a:t>LSTM</a:t>
            </a:r>
            <a:r>
              <a:rPr sz="1350" b="0">
                <a:solidFill>
                  <a:srgbClr val="2B2B2B"/>
                </a:solidFill>
                <a:latin typeface="Calibri"/>
              </a:rPr>
              <a:t> para image/video captioning.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Ideas clave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Las CNN</a:t>
            </a:r>
            <a:r>
              <a:rPr sz="1600" b="0">
                <a:solidFill>
                  <a:srgbClr val="FFFFFF"/>
                </a:solidFill>
                <a:latin typeface="Calibri"/>
              </a:rPr>
              <a:t> explotan patrones locales y repetidos para reducir parámetros.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82696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 convolución</a:t>
            </a:r>
            <a:r>
              <a:rPr sz="1600" b="0">
                <a:solidFill>
                  <a:srgbClr val="FFFFFF"/>
                </a:solidFill>
                <a:latin typeface="Calibri"/>
              </a:rPr>
              <a:t> desliza filtros aprendibles y produce feature maps.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15384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513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El pooling</a:t>
            </a:r>
            <a:r>
              <a:rPr sz="1600" b="0">
                <a:solidFill>
                  <a:srgbClr val="FFFFFF"/>
                </a:solidFill>
                <a:latin typeface="Calibri"/>
              </a:rPr>
              <a:t> submuestrea y aporta invariancia; conv+pool se repiten y luego se aplana.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08406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Dominan la visión</a:t>
            </a:r>
            <a:r>
              <a:rPr sz="1600" b="0">
                <a:solidFill>
                  <a:srgbClr val="FFFFFF"/>
                </a:solidFill>
                <a:latin typeface="Calibri"/>
              </a:rPr>
              <a:t> y se aplican a voz, texto y juegos como 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