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34"/>
  </p:notesMasterIdLst>
  <p:handoutMasterIdLst>
    <p:handoutMasterId r:id="rId35"/>
  </p:handoutMasterIdLst>
  <p:sldIdLst>
    <p:sldId id="257" r:id="rId5"/>
    <p:sldId id="368" r:id="rId6"/>
    <p:sldId id="370" r:id="rId7"/>
    <p:sldId id="371" r:id="rId8"/>
    <p:sldId id="395" r:id="rId9"/>
    <p:sldId id="372" r:id="rId10"/>
    <p:sldId id="373" r:id="rId11"/>
    <p:sldId id="374" r:id="rId12"/>
    <p:sldId id="375" r:id="rId13"/>
    <p:sldId id="376" r:id="rId14"/>
    <p:sldId id="377" r:id="rId15"/>
    <p:sldId id="378" r:id="rId16"/>
    <p:sldId id="379" r:id="rId17"/>
    <p:sldId id="380" r:id="rId18"/>
    <p:sldId id="381" r:id="rId19"/>
    <p:sldId id="382" r:id="rId20"/>
    <p:sldId id="394" r:id="rId21"/>
    <p:sldId id="396" r:id="rId22"/>
    <p:sldId id="383" r:id="rId23"/>
    <p:sldId id="384" r:id="rId24"/>
    <p:sldId id="385" r:id="rId25"/>
    <p:sldId id="386" r:id="rId26"/>
    <p:sldId id="387" r:id="rId27"/>
    <p:sldId id="388" r:id="rId28"/>
    <p:sldId id="389" r:id="rId29"/>
    <p:sldId id="390" r:id="rId30"/>
    <p:sldId id="391" r:id="rId31"/>
    <p:sldId id="392" r:id="rId32"/>
    <p:sldId id="393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579"/>
    <a:srgbClr val="B91003"/>
    <a:srgbClr val="FF5C00"/>
    <a:srgbClr val="E455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5" autoAdjust="0"/>
    <p:restoredTop sz="96421" autoAdjust="0"/>
  </p:normalViewPr>
  <p:slideViewPr>
    <p:cSldViewPr snapToGrid="0">
      <p:cViewPr varScale="1">
        <p:scale>
          <a:sx n="80" d="100"/>
          <a:sy n="80" d="100"/>
        </p:scale>
        <p:origin x="1435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42F2650-FE29-4A89-B265-5D416DBD3B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A44629E-3778-4FFE-BF32-4DD6F493FD9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F4718A-1251-074B-8883-45BBA09589B0}" type="datetime1">
              <a:rPr lang="es-ES_tradnl" smtClean="0"/>
              <a:t>25/04/2024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691CDFE-3D0E-46B6-8C67-4977276174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E9221C1-2116-46B4-A3A4-10B6BA8C3FD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D695A-AE87-4718-BBB7-6184CE460EA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434100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CB8C51-4B2A-9F46-BFA1-012DC542877E}" type="datetime1">
              <a:rPr lang="es-ES_tradnl" smtClean="0"/>
              <a:t>25/04/2024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E033D7-0DB3-4B98-BA86-443D570E93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4241918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7942" y="1122363"/>
            <a:ext cx="8828116" cy="2387600"/>
          </a:xfrm>
        </p:spPr>
        <p:txBody>
          <a:bodyPr anchor="b"/>
          <a:lstStyle>
            <a:lvl1pPr algn="r">
              <a:lnSpc>
                <a:spcPct val="100000"/>
              </a:lnSpc>
              <a:defRPr sz="2400">
                <a:solidFill>
                  <a:srgbClr val="FF5C00"/>
                </a:solidFill>
              </a:defRPr>
            </a:lvl1pPr>
          </a:lstStyle>
          <a:p>
            <a:r>
              <a:rPr lang="es-ES_tradnl" noProof="0" dirty="0"/>
              <a:t>Título de la asignatura </a:t>
            </a:r>
            <a:br>
              <a:rPr lang="es-ES_tradnl" noProof="0" dirty="0"/>
            </a:br>
            <a:r>
              <a:rPr lang="es-ES_tradnl" noProof="0" dirty="0"/>
              <a:t>Programa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7942" y="3602038"/>
            <a:ext cx="8828116" cy="165576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rgbClr val="66657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_tradnl" noProof="0" dirty="0"/>
              <a:t>Profesor</a:t>
            </a:r>
          </a:p>
        </p:txBody>
      </p:sp>
    </p:spTree>
    <p:extLst>
      <p:ext uri="{BB962C8B-B14F-4D97-AF65-F5344CB8AC3E}">
        <p14:creationId xmlns:p14="http://schemas.microsoft.com/office/powerpoint/2010/main" val="2946862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649D1-F40E-43C9-B87F-2EFDE98A0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BFD99E9-575E-4731-AB65-4FFE5A204F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 dirty="0"/>
              <a:t>Asignatura - Programa - Profesor - Curso Académico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1B0DCA-E79A-47FA-9AD9-13F49E7FE9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54CEB4-509F-4D11-9DD8-5800B89D237E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41096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negativ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649D1-F40E-43C9-B87F-2EFDE98A08E3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BFD99E9-575E-4731-AB65-4FFE5A204F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Asignatura - Programa - Profesor - Curso Académico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1B0DCA-E79A-47FA-9AD9-13F49E7FE9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154CEB4-509F-4D11-9DD8-5800B89D237E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01871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D1894688-2D8C-4F2D-90EB-1DF71F22DC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7070FB19-8060-4F2F-A278-93D4B26F63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59DCA3B7-8878-43AC-8DA0-92CE11677B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F49CB9-917E-471D-8DEF-1AA8FEF9EABA}" type="slidenum">
              <a:rPr lang="en-US" altLang="es-ES"/>
              <a:pPr/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134608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8798" y="53140"/>
            <a:ext cx="7320802" cy="76205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vert="horz" lIns="91440" tIns="45720" rIns="91440" bIns="45720" rtlCol="0" anchor="b">
            <a:noAutofit/>
          </a:bodyPr>
          <a:lstStyle/>
          <a:p>
            <a:br>
              <a:rPr lang="es-ES" dirty="0"/>
            </a:br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12" y="897775"/>
            <a:ext cx="9008285" cy="5611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7B0E0C7-2274-4500-9718-F95DDC2B0F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212" y="6538913"/>
            <a:ext cx="8418083" cy="212610"/>
          </a:xfrm>
          <a:prstGeom prst="rect">
            <a:avLst/>
          </a:prstGeom>
          <a:ln w="3175">
            <a:solidFill>
              <a:srgbClr val="FF5C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lvl1pPr algn="l">
              <a:defRPr sz="1000">
                <a:solidFill>
                  <a:srgbClr val="666579"/>
                </a:solidFill>
              </a:defRPr>
            </a:lvl1pPr>
          </a:lstStyle>
          <a:p>
            <a:r>
              <a:rPr lang="es-ES" dirty="0"/>
              <a:t>Asignatura - Programa - Profesor - Curso Académico 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A6CE07-962A-421A-9D8D-EE9BABBFB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53795" y="6538912"/>
            <a:ext cx="523701" cy="212610"/>
          </a:xfrm>
          <a:prstGeom prst="rect">
            <a:avLst/>
          </a:prstGeom>
          <a:ln w="3175">
            <a:solidFill>
              <a:srgbClr val="FF5C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666579"/>
                </a:solidFill>
              </a:defRPr>
            </a:lvl1pPr>
          </a:lstStyle>
          <a:p>
            <a:fld id="{0154CEB4-509F-4D11-9DD8-5800B89D237E}" type="slidenum">
              <a:rPr lang="es-ES" smtClean="0"/>
              <a:pPr/>
              <a:t>‹Nº›</a:t>
            </a:fld>
            <a:r>
              <a:rPr lang="es-ES" dirty="0"/>
              <a:t>|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8095B46-5274-4813-BD13-EF4EC80E4C7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7" y="53140"/>
            <a:ext cx="786103" cy="786103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C5BACEE5-06D2-49BB-8B9E-A502BCDCFCA6}"/>
              </a:ext>
            </a:extLst>
          </p:cNvPr>
          <p:cNvSpPr/>
          <p:nvPr userDrawn="1"/>
        </p:nvSpPr>
        <p:spPr>
          <a:xfrm>
            <a:off x="8287788" y="61452"/>
            <a:ext cx="789708" cy="76205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bg1">
                    <a:lumMod val="75000"/>
                  </a:schemeClr>
                </a:solidFill>
              </a:rPr>
              <a:t>Espacio para logo externo </a:t>
            </a:r>
          </a:p>
        </p:txBody>
      </p:sp>
    </p:spTree>
    <p:extLst>
      <p:ext uri="{BB962C8B-B14F-4D97-AF65-F5344CB8AC3E}">
        <p14:creationId xmlns:p14="http://schemas.microsoft.com/office/powerpoint/2010/main" val="2207993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  <p:sldLayoutId id="2147483669" r:id="rId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rgbClr val="FF5C00"/>
          </a:solidFill>
          <a:latin typeface="+mn-lt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600" kern="1200">
          <a:solidFill>
            <a:schemeClr val="tx1"/>
          </a:solidFill>
          <a:latin typeface="+mn-lt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400" kern="1200">
          <a:solidFill>
            <a:schemeClr val="tx1"/>
          </a:solidFill>
          <a:latin typeface="+mn-lt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400" kern="1200">
          <a:solidFill>
            <a:schemeClr val="tx1"/>
          </a:solidFill>
          <a:latin typeface="+mn-lt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13.png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2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792725A5-59BA-4EB2-AFCC-AA949D8462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4800" dirty="0"/>
              <a:t>4. </a:t>
            </a:r>
            <a:r>
              <a:rPr lang="es-ES" sz="4800" dirty="0" err="1"/>
              <a:t>Convolutional</a:t>
            </a:r>
            <a:r>
              <a:rPr lang="es-ES" sz="4800" dirty="0"/>
              <a:t> Neural Network</a:t>
            </a: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EFE82AE3-C19B-4DE5-B96F-39C25B96DD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Dr. César Byron Guevara Maldonado</a:t>
            </a:r>
          </a:p>
          <a:p>
            <a:endParaRPr lang="es-ES" dirty="0"/>
          </a:p>
          <a:p>
            <a:r>
              <a:rPr lang="es-ES" dirty="0"/>
              <a:t>cesar.guevara@cunef.edu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A180BBD-67C4-4C82-9296-8C764F779F0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538913"/>
            <a:ext cx="8416925" cy="212725"/>
          </a:xfrm>
        </p:spPr>
        <p:txBody>
          <a:bodyPr/>
          <a:lstStyle/>
          <a:p>
            <a:r>
              <a:rPr lang="es-ES" dirty="0"/>
              <a:t>ESTRUCTURA DE COMPUTADORES – Dr. César Byron Guevara Maldonado – 2023-2024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3142BE5-0EE8-4272-828A-842A2162297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20125" y="6538913"/>
            <a:ext cx="523875" cy="212725"/>
          </a:xfrm>
        </p:spPr>
        <p:txBody>
          <a:bodyPr/>
          <a:lstStyle/>
          <a:p>
            <a:fld id="{0154CEB4-509F-4D11-9DD8-5800B89D237E}" type="slidenum">
              <a:rPr lang="es-ES" smtClean="0"/>
              <a:pPr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2407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551DED99-BE11-4822-8911-57216D730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s-ES" dirty="0"/>
              <a:t>Smaller Network: CNN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5990E-5C25-4B06-9D98-C5FC66A0B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s-ES" sz="2400"/>
              <a:t>We know it is good to learn a small model.</a:t>
            </a:r>
          </a:p>
          <a:p>
            <a:r>
              <a:rPr lang="en-US" altLang="es-ES" sz="2400"/>
              <a:t>From this fully connected model, do we really need all the edges? </a:t>
            </a:r>
          </a:p>
          <a:p>
            <a:r>
              <a:rPr lang="en-US" altLang="es-ES" sz="2400"/>
              <a:t>Can some of these be shared?</a:t>
            </a:r>
          </a:p>
        </p:txBody>
      </p:sp>
      <p:pic>
        <p:nvPicPr>
          <p:cNvPr id="14339" name="Picture 3">
            <a:extLst>
              <a:ext uri="{FF2B5EF4-FFF2-40B4-BE49-F238E27FC236}">
                <a16:creationId xmlns:a16="http://schemas.microsoft.com/office/drawing/2014/main" id="{28206E69-3C54-4FED-ACDD-16D2155DBE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429000"/>
            <a:ext cx="6705600" cy="334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標題 1">
            <a:extLst>
              <a:ext uri="{FF2B5EF4-FFF2-40B4-BE49-F238E27FC236}">
                <a16:creationId xmlns:a16="http://schemas.microsoft.com/office/drawing/2014/main" id="{B730B229-C96C-4C10-8EB5-A37BC2733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74" y="365125"/>
            <a:ext cx="7572375" cy="701675"/>
          </a:xfrm>
        </p:spPr>
        <p:txBody>
          <a:bodyPr/>
          <a:lstStyle/>
          <a:p>
            <a:r>
              <a:rPr lang="en-US" altLang="zh-TW"/>
              <a:t>Consider learning an image:</a:t>
            </a:r>
            <a:endParaRPr lang="zh-TW" altLang="en-US"/>
          </a:p>
        </p:txBody>
      </p:sp>
      <p:sp>
        <p:nvSpPr>
          <p:cNvPr id="15362" name="內容版面配置區 2">
            <a:extLst>
              <a:ext uri="{FF2B5EF4-FFF2-40B4-BE49-F238E27FC236}">
                <a16:creationId xmlns:a16="http://schemas.microsoft.com/office/drawing/2014/main" id="{180595BF-28C2-4EA4-A96B-1F370F733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r>
              <a:rPr lang="en-US" altLang="zh-TW"/>
              <a:t>Some patterns are much smaller than the whole image</a:t>
            </a:r>
            <a:endParaRPr lang="zh-TW" altLang="en-US"/>
          </a:p>
        </p:txBody>
      </p:sp>
      <p:pic>
        <p:nvPicPr>
          <p:cNvPr id="15363" name="Picture 4" descr="https://upload.wikimedia.org/wikipedia/commons/5/5e/Silverbird_in_Murchison_Falls_National_Park,_Uganda.JPG">
            <a:extLst>
              <a:ext uri="{FF2B5EF4-FFF2-40B4-BE49-F238E27FC236}">
                <a16:creationId xmlns:a16="http://schemas.microsoft.com/office/drawing/2014/main" id="{3D890F1B-33DE-48A5-AEBC-500B8D614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4692650"/>
            <a:ext cx="2486025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AutoShape 8" descr="data:image/jpeg;base64,/9j/4AAQSkZJRgABAQAAAQABAAD/2wCEAAkGBxASEhAQDxIQDxAPDxAPEA8VFQ8QEBAQFRUWFhUVFRUYHSggGBomGxUVIjEhJSkrLi4uGB8zODMtNygtLisBCgoKDg0OFxAQGCseHx0tLS0tLSstLS0tKy0tLS0tLS0tLS0tLS0tLS0tLS0tKystLS0tKy0rLSstKystLTctLf/AABEIALUBFgMBIgACEQEDEQH/xAAbAAACAwEBAQAAAAAAAAAAAAADBAECBQAGB//EAEAQAAIBAgMFBQQHBgUFAAAAAAECAAMRBBIhBTFBUWETInGRoQYyQoEjUnKxwdHwQ2KSouHxFDNTgrIVY4PC0v/EABoBAAMBAQEBAAAAAAAAAAAAAAECAwAEBQb/xAAiEQEBAAICAgMBAQEBAAAAAAAAAQIRAxIhMQQTQVEykSL/2gAMAwEAAhEDEQA/APmaw1JIBDHsMsejBqNKaOHpwNJJoYZZy8iuMO4anNGisVoCPURFxPozSWMLAJO7Zb5bi/LjL4gYvBu8gtBO8tC2KO8ETId5TNE5KMi0uBKCXUThzp5F1EKolFEOiyWzSLoJe0lVkkR5R0GZWEInBY/bwCBLgSVWEVYlraQJxvCBZxWJR0FOAMKEk5ZPTaAIMi0PllSs0jaCMqSYS0qRKSFsVF4QEyqiXMa4lVJlCTLmDMX69sqXtIlGkyn1M+OUWmphZj0TNXCtPSrmjWoxjDYune2YA7rHT74pQaWr4EN3l38RznPlJ+qzevD0OHYHdqPkY7RqDmPC4nikpsh0zIfEiN0sZUHvBag5OAfVbH1gnH/KP2a/Hsw0yts4E1LMu8cJm0NpgcKtPorioh/21BcfxTQo7XQ7y1+qEH+VmjXGj3lmnYTEVVUX79tGUnvDwMINpITa5U8jOp42je4ZPmch/mtBY3CK/ep2PG28fIr+cMysJuz0OWl1Mx6LZTlZjTPPePnYflHalR0sW0W1+0GtMjqN4+6LlbVMco0FhkERw+IBOU6HhxB8DNBBOLO2Xytjq+l1EOglaaw6LJbNpKiSRLgTrRpR0FaSBL5ZIWHsGkAQiiQBCKJuzacBJtLBZYLFtbSgWTlhQknJAwGSVZIzkkMkLEykGyxtkgmWUxpLAgJxhCsG8culTBMJcmUJlcShkSZJMiWgPidLfNPDNM1DG6DS9c8bCVcoBtm562tGKe0bfAD/ALv6RPDtf5zRwuAznQMOtjaRuv2KefwVdpKfepsR9pT96Sy18Md9KqDzDpbyKytTZrLxUeLUk/5MJeng13tVpL4XqH+S49ZpIG6l3oG2TOv2ireoEgpS4uQOQCmV7Onf3gBzyg39ZDNRH+o/8KiEqxpUeFZh/wCNvwlP8JSJB7RW5HJVv5lZRaqa5aRPixY/dGaDMfdpovXvHz1M2zaR2VM91nqN4io5+WcETZw+zaYCk06h0uCFCgj95GI81iefj2jZh8NNcx9J6OjWFWmtr5lH7S2cnoFInPyWz0fFirh8Kaopmi6927HvIR1Ug6esJUwWJWplw1ZHUjSlWBRvlUF1OnQT0+GoJVTKbKw0KmwJ8dxlF2CxuvaZl4ad5eitykpNz3/0/bV8MLCbUYP2OIpPRqBc17ZqZHMMLi360m0h/vwgMR7Lgm7VSMt7G/e16xGlh61Mt2L9ooa5R1K3HGxvv8JLLHV8LY5y+2yJMyqO2aege9Ing26/Rv7R9KwOoII5ggjzEXRtwacYlW2hTU5bhm+qCLjx5SlQVKg17o35b28zxjTC3yXLkkEq7URSQAzW323D5yn/AFflTPn/AEiTYcDh/eHojdaNOO30S8mjI2q/+kD8zfwhKO3af7RWp9dHX01labDc9j5CXrYOnVGWwJPEb431WTyE5Gph6yOLoytbfbh4jhD5J4xsHVoH6LeCLam9uOXkf1aeh2Ftpa/cfu1bXGlg4HLr+vCPi/5qvme2lknZIfLOKwbak2pwTU46ywbLCWkmWLVBHqoidURpSUq5g2aXqCBYS2GRKhnnSjTp0TIHxlWh6LRVTD0zOhBs4WtoADlI4jS/zjOZuJY+JJmXg7k2HX0m1gcQiENdmO6wsoPS5/KTptRCL09Ix2VrZgRxAOlx0vCNth9yhKfEWAdv4nv6WizVHZszFmY7yblvOEBwo6feZYhBwLeOUD8funU0Nrnhv3WHiToJU10BsL1DyW4X5sRc/IDxi+xWGY6KoHIWLt4gG/nYCWKqD32LN9TV28gbDzMopd+4Ot6aaAdXP4m5kjIg1K1Nd+oog8h8VQ+kFMew9Y27tkS/vaeRPu36AExnDOKbdpTyhhqzsC7ep7vpMyriMuVqpYXAyUhYVXHgNKa+vjCUy7mzBbjXsxcU6Xj9ZvXwks/R49Ls3a9EjK4AJNy92TOemUi4+U2BWY/5YOUm1yco+U8lgCiVNbs1gSxF7fgPCezNE5AzEiwvYbyOg4SOPvQ5M1sMcxz3AvfRmt5XjFTFpYWFgLAAC5t1PKZWLxzFgFp5ad7Fibm/hxjCgkZVAGbQk8BKWePBJfJ/FbPSuo3hj7qgk2HM33TzGJ9matOrl7mIRsoICsQjb9W09DaelwJKgqCQl7Fvib8pqUnAUWI/dGhyg6X8Y+E/sC15nC4N0HuooU6ZVUMovuJA70NXYqN+Zt5PcBQdTNPGkLc5SfDfPPY1iQXBIN7rdrH9dDaQ+dy3i4//AD+r/E45yZ+RWqtuYWPoRBGsQRfW+7rM/EjEMFIZcm9rjvKb7gb2sfCcXIKhtGAt03+E8vj+ZyYY63LXrZfBwzy3PDQbF6kPcX4X8pn7R2viaVGuuEY9oyXpsBd1IILWuORbWEqYog3JzHdc6AeUDUrAFWuG48j1tx87SePyeTtLT34fHqwp7K7Q2jiXc11cUAoymoDmDCwIDEXbidd01cbmp5aiWVk7y8rg3t+ucDi/aW+WnTVmfLqti5sONl38OEBX2h3clZSpbQF1emrH6t7fq48I9nLny/Zjj13+I6w48Omd3H03CVu0RKgFs6K9uVwDCMJgexu2Eq0qdFl7GsqmyE5g4G8q19SBvXh4T0bLO242Xy4Ny+i7QTRhhBMIAK1FitVI84i1URoWzZCokXqCO1BFqglMaW4lWEiWedKdw0+JrCpBKIZZ3uc1QaxBGhHGP0qx0vYzNQw9N4tGPQbPo0z36xy0weHvueSj8ZWri1B+iWy7rtZmPXpEcPiiBlIDLyO8eB4R2v2aqjLmJZQzWtZWPw3tv+USGsDdzpnY9F3t8hwhlpW989kD+zXWs46/V+dvnF6VRhcgBL/HqWt4n8LS6WXvOTTU7231W+yOHjDaEhvMW+iRQBvNIHugc6r8fDSLVccFbLQtVrHu9ra6p0pL+MXas9X6KipSmfgB1bq54wq00pDfcNpnX363NafJP3+NzbqoiYekbswYs97VcQe8c/1KZPvNzbcLac4+tXIFRAM7aheCg/Ex4mJ1q/ZqpYLnYWo0R7qLzI5f8obAIQGqVCWOhcnUkncnz+6Jf6aNvAgKV4/EWO/q56ncBPR4TEZmyqCwHvNqflrPL4N7KznViw05udw8AJv7MxBQBBvY2zDefrGQvs/4Yx2HBOa1td3FQeNuG6UpkKDf4fXoJoYEqb5gCxYHnbl6Sa2HVn4AL3j0/V5THJPKM3H4ao4SkmjN3nO7KvEX4TVwgJa40SmMq9SNCzcz/WXygjMD7wuOekZpUlRLNbXUjn+ry3aRPW2fiK2YkaHpoQB1nlvafDOoJpLlUDUkqoLE2v8Aoaz2NLKb6anXlaZm3sF2iE086VdStRWZSoAte/K14vLjOXHSnFyXjz7R5KntBsvZhDxu27NbiOko1fTvMb7vAePOZ+z2FIlDVFUj3quoJJBNiTfXfxO68HXqOSrC4GoANyTcmeDn8frncdafScfNMsJk0cTiLZQoz3sO7e5J0A03nkBNnZPsXWqkPi3NFD+yXKaxH7zahNOAufAxn2F2MBfE1Vu+YrRDAXQDRn+0bkdALDfPcUxL8fFMZ4cHP8rLK6hfZOyaGHXLh6SUgRqQO832m3sfGPlAd4vfgdRIWEEq5LXmsf7HUGbtMMzYOqCD3NaRI1F6R0BB1BXLN1Q2Vc9i2UZiNAWtrbpeMGCeHtbPJPQLCBaGaBqTbGAPFqkYqGLOYdm2WqxSpHKkUqibs2yzTpYiTN2B8SWEWUEuBPX24Vw0IjQWWWAmbZynUmlszFBKiFiMmde0uARkvroZiq0YpvEsNK3Nt1HV2y0hTVrMthmBBFwVJ0sb3uJlLSdu9UNl+s17Hw5nwj+F2zWVRTvnRRZVPAcADy6GBxFUnvK3ZMSFBVe+xPDMST5Wgg2r4qsKQ7NVysR31axY8u0HDonzPKQh7P6at36j600O9uTHkohMRhKWGtdu2rMocJayqza3fXX8YlQoPUbMdebH7v6TWRjezqL1HNVznY8Tz4DoI+9f6uqobL/3Kp+Lw5dBB1jkHYpq7Czn6qnh4kS+FsDmI7lAWUfXrHd5Sdu/J41qC2KoNezAv1qt+V5sbOGZnb4aaimp6k2vMTBtkphj7zEkdWPH5C81cGpVLDfqfSw++JINrTwdfL3zrd2CjcBbQTRxTkJWy27tJSb7t1yJkpT7tFeQv5maOKzJSqnUZ3RR4TWSNPIWCxLM4DkZVAAsLWsNfKbGHp5zmYEgbh0Eztk4Mgi/xC5Y7vAevmZ6/D4bKFFgeJ6Rddsg3qMhMCT3msO96covidlByQXKrZsyg2D6HeOImrj6tgQFJ1Nh+MSxBcIGIu1i1tyj7XpOrGaiNr5ft7ZrJXNO1kZ6YFNNS2bMzMzG5LHLv6CGxOA7JlqH3adNbAa97MBbzM6u5q11yghVObPmzEsW1/IDheejXB53ZKlrGqlkHBKf0oHmFnP8ngxzly/Y6OH5GXH4/G7syjkponEKL/a3t6kzRpmKIYwhnB6mlN7MKYS8ArS4aLthCYJjOLwbtNsLVXMA5lnaBdodjKHUMWqGEqtFajQbbalRorUMK7QLQbDak6TadMO3xREjC04SnSjdLDz17k5piUFOWFGaVPCRmngon2H6MdaBhqeHM2UwMMmC6Qfa3RlU8PGUobuhuOh5zTp4SFGFk8uQehVdlduKlTKpcEF2zZGYG+vK+g4ScUiUAq0AzlhpVbcpO/d8QmlhlZDdTYkWOgII5EGM0nQG7Uhe4uUOS/ipBB8oZzTWsmuFnp5RARcLvOrVD8PMkxjA0u0ZadO5QGy34k+8xnqtpez1OrYq7FTYgJlVNdxy2tDbM9nzRz5QTemAjmxNzv8ACPvfoGQE7SqqKO4ndX8TPQJhtw36+gjOydjdnZnFySRoL2mrQwYIDDQ8jvHyjaDaMDs+5ubALaJ+0dUFlpJYga+LGN7SxJVgifVAPjzmFUftKtIAE/TAE8NOXPjJcuWsT4Ty9mtBFCLe5UWJ6zYo7hvmHgWu2ZvdAAA3kma9OuCdBa0Tiy/WzkVq0gAWPHcOUyNrZihU7zvHC022qC9zY3HpMHaWMGZ2uLIDr13D5D8J3Y3w5rPPh5KlshqVVayEWVbZSD3SbXIA375nv7U0qNSoX75Z2AYsq8r6W/dEb9pdt5mSjRBvUfs14XY8+mhmd7V7OwlClQdkWpVTEU6uYm7sqnM91O9dLW3C4kM85b197dEw1N32c2D7f0qzslZDQuyLSIu+YscutupGo01PKe3Rp8V2ht7BYis3YYd8O9UG57mUuobs2UJ7jEsb776dZ9M9icfUr4Sk9Zg9VcyMwILHKSFLjgxAHjv4zm5+LrO0mhwy34ejDS2aDE4zkUWLQbNOMG0JKh2i9R5dzF6hmDYbtF6hl3aLu0Jbkq7Sl5VjK3m0HcSdKZp03UO75pQoR+hh5fD0Zp4ehOvLJWQCjho7Swsao0I5ToSW9mZ64WEXDdJpLQhFoTeQZy4eEGHmiKEsKM2mjN7CVNCahoyppRbDxnohG4kR2njagAF7kaZunWW7GXWjFxyynqt1gmHx9QfVN9+/X1hDj3ZiMpFrEHXK3hY+kqlGM06UtjyZFuEJsahJFjc6Zza3yF4RKIphSN6bj1IIv6x9KUtVwuYW5zW3IJ4P4NhbMeAjL1tLj+klNmoEUM1rC7HS9/znn8VjiGqgupSlkuQCcrEnf/J8zOnHDrIlb2p3ae1sik336LzJ/ITHpUquIF/8ulwudT16wOKrq5NWopCJYJTIAZrDS/JRqeevjNOgjuoU91TZmO4m+uUfr7obl/fEGax9e3ka+ysS+KDYILSSkjU/8XVAcBm3mim5mA0udNTA7Z9j++v07VahWpWq16+o7KmFOUKvMkHw08foa0gAANANAJl+0WENVEoglO3qdg9Ue9TpOjZ7dSAFHVhOf7bcv4eTw8n7E+zeFxWzqRq0lDvUrVFqrdaiNmsMrAg2FhodNIH2YYYLHtQqswNS9Gr7opZswahUUAe6ynXk1+G73ewdkJhaFPDU2ZlpAgM1sxuSTe2nGE2lsqlWsaihyivkB3BmFr3GvD1MW8m7d+ZWk8HQJxEijTIVVJLFVUFjvYgWJljOfR6EYNoVoJ5tJUBzFajRmpFKgmkTtLVGi7tDVYsxj44oZcmkEyJ0mU6JfYi86WtOm6h3eXw1KalClF8Kk0qCTWvUFo0o7SpStFI5TSCCEtKEFOHCSwSM2gBTndnGckgpNWLFJHZxkpK5YlOCKcutOFCwirFZRacOiSUWHRY0BCJCqssqwgWPAeX27UxNNAytpYDjZG/tpMfB1XWkWAzOShK6d4u4BBv9seV57naeDNWjVpje6EL9revqBPE7NqXYBu6GBQ8bWuPusYe97S2tMZqvV4DDKyrmUB1AzLvCsfeHmDH8kV2dUu7D64Z+ujW/9ppZY/L/AKT4/QGScad9CLjkdRD5ZOWS0oBklskLknZIOrBZZUiHyyjCDTFmEC4jLiBcQaTyKVBFaojlSKVRDpHIjVizRqqIuwlccXHyB2kiSBJyyvVJBnSSJMPVmPhRNSgkzsKJrYcTmr2TdJY3TWBoiOUxMZwWWCy4EsBDGDIkWhisqRNRgJWVKwxEqREsFRRCKJAEuogFdRDoINIdBGBZRCqshFhlEYEAT57tWn2OKqr8Jqll6BgCB6gT6OFnjPbvB3dWHx07qeGekbt/I38sNm40aOxWLVg3D/DW8DmH6+U37TzfsS+dWbiqKpHizf8Az909RaNnd1PGaUtOtL5ZNopg7TrQmWdlmYMiDdYwVg2WBijiAcRtxF3EBKTqCKVBHqgi1RYYjmz6qxdljtURVhLYuTOBhJJWWEmWkR0HaRCETptAxcJNfDiZGEmvhhOJ7TQoxymIrREbQQCIJYSAJaYXSpEtOh2ylpUiXMrBaMRaWAnAS6iKK6RimIFBDoI0CipDLBJCrGgCCY3tXh81DOBdsPUWsBzUd1x/AzH5TZEh1BBU6hgVI5g6Qg8X7JOKWI7Me5Wptl5Z13jyW/8Auntp87w9Xsaovf6CuGU8Sl+zqj5Xp+c+hq17Eagi4PMHjNQ/U2kyLzrwbZM6dOm2LiJRhCXg2magOIvUEZeK1DBSUs4itWNPFKsMSyKVYrUjVWKvK4ubkUEsJUS4EvEHESZxnQgxMJNfDzp04HsNGjG0kzoDCCTJnQiidOnTArInTooxYCXWTOgERYVZ06NAoqwizp0YFwZM6dMzx3tvhQmWquhctmHM91b/ADDC/wBkT0Hs7XL4aix35beRInTofwK0hOkzoGdJkTpmWg3kzoWpZ4vUnToCUtUitWROhieRSpFqk6dLYObkUEus6dLxzrGdOnTFf//Z">
            <a:extLst>
              <a:ext uri="{FF2B5EF4-FFF2-40B4-BE49-F238E27FC236}">
                <a16:creationId xmlns:a16="http://schemas.microsoft.com/office/drawing/2014/main" id="{7E748965-C8D9-4E14-B1D3-5457B44A5F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TW" altLang="en-US" sz="1800"/>
          </a:p>
        </p:txBody>
      </p:sp>
      <p:pic>
        <p:nvPicPr>
          <p:cNvPr id="8" name="圖片 15">
            <a:extLst>
              <a:ext uri="{FF2B5EF4-FFF2-40B4-BE49-F238E27FC236}">
                <a16:creationId xmlns:a16="http://schemas.microsoft.com/office/drawing/2014/main" id="{7E9F551E-D145-4753-8FB5-FCA820954A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163" y="4738688"/>
            <a:ext cx="1296987" cy="1139825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圖片 18">
            <a:extLst>
              <a:ext uri="{FF2B5EF4-FFF2-40B4-BE49-F238E27FC236}">
                <a16:creationId xmlns:a16="http://schemas.microsoft.com/office/drawing/2014/main" id="{FB858973-AFD9-49FB-A904-25E531CD83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7513" y="4656138"/>
            <a:ext cx="2151062" cy="127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圓角矩形圖說文字 42">
            <a:extLst>
              <a:ext uri="{FF2B5EF4-FFF2-40B4-BE49-F238E27FC236}">
                <a16:creationId xmlns:a16="http://schemas.microsoft.com/office/drawing/2014/main" id="{D1C1735C-319D-4897-B0BA-7B32DEA3B9DC}"/>
              </a:ext>
            </a:extLst>
          </p:cNvPr>
          <p:cNvSpPr/>
          <p:nvPr/>
        </p:nvSpPr>
        <p:spPr>
          <a:xfrm>
            <a:off x="6172200" y="5867400"/>
            <a:ext cx="2422525" cy="601663"/>
          </a:xfrm>
          <a:prstGeom prst="wedgeRoundRectCallout">
            <a:avLst>
              <a:gd name="adj1" fmla="val -16286"/>
              <a:gd name="adj2" fmla="val -92191"/>
              <a:gd name="adj3" fmla="val 1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 dirty="0">
                <a:solidFill>
                  <a:srgbClr val="000000"/>
                </a:solidFill>
              </a:rPr>
              <a:t>“</a:t>
            </a:r>
            <a:r>
              <a:rPr lang="en-US" altLang="zh-TW" dirty="0">
                <a:solidFill>
                  <a:srgbClr val="0070C0"/>
                </a:solidFill>
              </a:rPr>
              <a:t>beak</a:t>
            </a:r>
            <a:r>
              <a:rPr lang="en-US" altLang="zh-TW" dirty="0">
                <a:solidFill>
                  <a:srgbClr val="000000"/>
                </a:solidFill>
              </a:rPr>
              <a:t>”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detector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2" name="矩形 43">
            <a:extLst>
              <a:ext uri="{FF2B5EF4-FFF2-40B4-BE49-F238E27FC236}">
                <a16:creationId xmlns:a16="http://schemas.microsoft.com/office/drawing/2014/main" id="{8AD1F7B0-7A59-4930-B723-CB70010D0533}"/>
              </a:ext>
            </a:extLst>
          </p:cNvPr>
          <p:cNvSpPr/>
          <p:nvPr/>
        </p:nvSpPr>
        <p:spPr>
          <a:xfrm>
            <a:off x="1473200" y="4738688"/>
            <a:ext cx="406400" cy="3794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cxnSp>
        <p:nvCxnSpPr>
          <p:cNvPr id="13" name="直線單箭頭接點 45">
            <a:extLst>
              <a:ext uri="{FF2B5EF4-FFF2-40B4-BE49-F238E27FC236}">
                <a16:creationId xmlns:a16="http://schemas.microsoft.com/office/drawing/2014/main" id="{45B2BC9C-FE8C-4F97-B7FD-2DF7EBA7B727}"/>
              </a:ext>
            </a:extLst>
          </p:cNvPr>
          <p:cNvCxnSpPr>
            <a:stCxn id="12" idx="3"/>
            <a:endCxn id="8" idx="1"/>
          </p:cNvCxnSpPr>
          <p:nvPr/>
        </p:nvCxnSpPr>
        <p:spPr>
          <a:xfrm>
            <a:off x="1879600" y="4927600"/>
            <a:ext cx="2214563" cy="3810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48">
            <a:extLst>
              <a:ext uri="{FF2B5EF4-FFF2-40B4-BE49-F238E27FC236}">
                <a16:creationId xmlns:a16="http://schemas.microsoft.com/office/drawing/2014/main" id="{F09ECAC2-AFC0-4E20-99A1-720D0B07DE96}"/>
              </a:ext>
            </a:extLst>
          </p:cNvPr>
          <p:cNvSpPr txBox="1"/>
          <p:nvPr/>
        </p:nvSpPr>
        <p:spPr>
          <a:xfrm>
            <a:off x="1143000" y="3636678"/>
            <a:ext cx="7391400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zh-TW" sz="2400" dirty="0">
                <a:solidFill>
                  <a:srgbClr val="0070C0"/>
                </a:solidFill>
              </a:rPr>
              <a:t>Can represent a small region with fewer parameters</a:t>
            </a:r>
            <a:endParaRPr lang="zh-TW" altLang="en-US" sz="2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http://all4desktop.com/data_images/original/4244361-bird.jpg">
            <a:extLst>
              <a:ext uri="{FF2B5EF4-FFF2-40B4-BE49-F238E27FC236}">
                <a16:creationId xmlns:a16="http://schemas.microsoft.com/office/drawing/2014/main" id="{16C70D8E-F3AD-4831-92FC-635F437A0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63" y="4476750"/>
            <a:ext cx="2486025" cy="17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6" name="標題 1">
            <a:extLst>
              <a:ext uri="{FF2B5EF4-FFF2-40B4-BE49-F238E27FC236}">
                <a16:creationId xmlns:a16="http://schemas.microsoft.com/office/drawing/2014/main" id="{1457A9B8-0C19-4188-93FB-D33DB62F0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325" y="747712"/>
            <a:ext cx="8210550" cy="1325563"/>
          </a:xfrm>
        </p:spPr>
        <p:txBody>
          <a:bodyPr/>
          <a:lstStyle/>
          <a:p>
            <a:r>
              <a:rPr lang="en-US" altLang="zh-TW" sz="2800" dirty="0"/>
              <a:t>Same pattern appears in different places:</a:t>
            </a:r>
            <a:br>
              <a:rPr lang="en-US" altLang="zh-TW" sz="2800" dirty="0"/>
            </a:br>
            <a:r>
              <a:rPr lang="en-US" altLang="zh-TW" sz="2800" dirty="0"/>
              <a:t>They can be compressed!</a:t>
            </a:r>
            <a:br>
              <a:rPr lang="en-US" altLang="zh-TW" sz="2800" dirty="0"/>
            </a:br>
            <a:r>
              <a:rPr lang="en-US" altLang="zh-TW" sz="2800" dirty="0">
                <a:solidFill>
                  <a:srgbClr val="FF0000"/>
                </a:solidFill>
              </a:rPr>
              <a:t>What about training a lot of such “small” detectors</a:t>
            </a:r>
            <a:br>
              <a:rPr lang="en-US" altLang="zh-TW" sz="2800" dirty="0">
                <a:solidFill>
                  <a:srgbClr val="FF0000"/>
                </a:solidFill>
              </a:rPr>
            </a:br>
            <a:r>
              <a:rPr lang="en-US" altLang="zh-TW" sz="2800" dirty="0">
                <a:solidFill>
                  <a:srgbClr val="FF0000"/>
                </a:solidFill>
              </a:rPr>
              <a:t>and each detector must “move around”.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pic>
        <p:nvPicPr>
          <p:cNvPr id="7" name="Picture 4" descr="https://upload.wikimedia.org/wikipedia/commons/5/5e/Silverbird_in_Murchison_Falls_National_Park,_Uganda.JPG">
            <a:extLst>
              <a:ext uri="{FF2B5EF4-FFF2-40B4-BE49-F238E27FC236}">
                <a16:creationId xmlns:a16="http://schemas.microsoft.com/office/drawing/2014/main" id="{D65E3905-1B4B-4C2D-9674-1F7588B91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63" y="2578100"/>
            <a:ext cx="2486025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AutoShape 8" descr="data:image/jpeg;base64,/9j/4AAQSkZJRgABAQAAAQABAAD/2wCEAAkGBxASEhAQDxIQDxAPDxAPEA8VFQ8QEBAQFRUWFhUVFRUYHSggGBomGxUVIjEhJSkrLi4uGB8zODMtNygtLisBCgoKDg0OFxAQGCseHx0tLS0tLSstLS0tKy0tLS0tLS0tLS0tLS0tLS0tLS0tKystLS0tKy0rLSstKystLTctLf/AABEIALUBFgMBIgACEQEDEQH/xAAbAAACAwEBAQAAAAAAAAAAAAADBAECBQAGB//EAEAQAAIBAgMFBQQHBgUFAAAAAAECAAMRBBIhBTFBUWETInGRoQYyQoEjUnKxwdHwQ2KSouHxFDNTgrIVY4PC0v/EABoBAAMBAQEBAAAAAAAAAAAAAAECAwAEBQb/xAAiEQEBAAICAgMBAQEBAAAAAAAAAQIRAxIhMQQTQVEykSL/2gAMAwEAAhEDEQA/APmaw1JIBDHsMsejBqNKaOHpwNJJoYZZy8iuMO4anNGisVoCPURFxPozSWMLAJO7Zb5bi/LjL4gYvBu8gtBO8tC2KO8ETId5TNE5KMi0uBKCXUThzp5F1EKolFEOiyWzSLoJe0lVkkR5R0GZWEInBY/bwCBLgSVWEVYlraQJxvCBZxWJR0FOAMKEk5ZPTaAIMi0PllSs0jaCMqSYS0qRKSFsVF4QEyqiXMa4lVJlCTLmDMX69sqXtIlGkyn1M+OUWmphZj0TNXCtPSrmjWoxjDYune2YA7rHT74pQaWr4EN3l38RznPlJ+qzevD0OHYHdqPkY7RqDmPC4nikpsh0zIfEiN0sZUHvBag5OAfVbH1gnH/KP2a/Hsw0yts4E1LMu8cJm0NpgcKtPorioh/21BcfxTQo7XQ7y1+qEH+VmjXGj3lmnYTEVVUX79tGUnvDwMINpITa5U8jOp42je4ZPmch/mtBY3CK/ep2PG28fIr+cMysJuz0OWl1Mx6LZTlZjTPPePnYflHalR0sW0W1+0GtMjqN4+6LlbVMco0FhkERw+IBOU6HhxB8DNBBOLO2Xytjq+l1EOglaaw6LJbNpKiSRLgTrRpR0FaSBL5ZIWHsGkAQiiQBCKJuzacBJtLBZYLFtbSgWTlhQknJAwGSVZIzkkMkLEykGyxtkgmWUxpLAgJxhCsG8culTBMJcmUJlcShkSZJMiWgPidLfNPDNM1DG6DS9c8bCVcoBtm562tGKe0bfAD/ALv6RPDtf5zRwuAznQMOtjaRuv2KefwVdpKfepsR9pT96Sy18Md9KqDzDpbyKytTZrLxUeLUk/5MJeng13tVpL4XqH+S49ZpIG6l3oG2TOv2ireoEgpS4uQOQCmV7Onf3gBzyg39ZDNRH+o/8KiEqxpUeFZh/wCNvwlP8JSJB7RW5HJVv5lZRaqa5aRPixY/dGaDMfdpovXvHz1M2zaR2VM91nqN4io5+WcETZw+zaYCk06h0uCFCgj95GI81iefj2jZh8NNcx9J6OjWFWmtr5lH7S2cnoFInPyWz0fFirh8Kaopmi6927HvIR1Ug6esJUwWJWplw1ZHUjSlWBRvlUF1OnQT0+GoJVTKbKw0KmwJ8dxlF2CxuvaZl4ad5eitykpNz3/0/bV8MLCbUYP2OIpPRqBc17ZqZHMMLi360m0h/vwgMR7Lgm7VSMt7G/e16xGlh61Mt2L9ooa5R1K3HGxvv8JLLHV8LY5y+2yJMyqO2aege9Ing26/Rv7R9KwOoII5ggjzEXRtwacYlW2hTU5bhm+qCLjx5SlQVKg17o35b28zxjTC3yXLkkEq7URSQAzW323D5yn/AFflTPn/AEiTYcDh/eHojdaNOO30S8mjI2q/+kD8zfwhKO3af7RWp9dHX01labDc9j5CXrYOnVGWwJPEb431WTyE5Gph6yOLoytbfbh4jhD5J4xsHVoH6LeCLam9uOXkf1aeh2Ftpa/cfu1bXGlg4HLr+vCPi/5qvme2lknZIfLOKwbak2pwTU46ywbLCWkmWLVBHqoidURpSUq5g2aXqCBYS2GRKhnnSjTp0TIHxlWh6LRVTD0zOhBs4WtoADlI4jS/zjOZuJY+JJmXg7k2HX0m1gcQiENdmO6wsoPS5/KTptRCL09Ix2VrZgRxAOlx0vCNth9yhKfEWAdv4nv6WizVHZszFmY7yblvOEBwo6feZYhBwLeOUD8funU0Nrnhv3WHiToJU10BsL1DyW4X5sRc/IDxi+xWGY6KoHIWLt4gG/nYCWKqD32LN9TV28gbDzMopd+4Ot6aaAdXP4m5kjIg1K1Nd+oog8h8VQ+kFMew9Y27tkS/vaeRPu36AExnDOKbdpTyhhqzsC7ep7vpMyriMuVqpYXAyUhYVXHgNKa+vjCUy7mzBbjXsxcU6Xj9ZvXwks/R49Ls3a9EjK4AJNy92TOemUi4+U2BWY/5YOUm1yco+U8lgCiVNbs1gSxF7fgPCezNE5AzEiwvYbyOg4SOPvQ5M1sMcxz3AvfRmt5XjFTFpYWFgLAAC5t1PKZWLxzFgFp5ad7Fibm/hxjCgkZVAGbQk8BKWePBJfJ/FbPSuo3hj7qgk2HM33TzGJ9matOrl7mIRsoICsQjb9W09DaelwJKgqCQl7Fvib8pqUnAUWI/dGhyg6X8Y+E/sC15nC4N0HuooU6ZVUMovuJA70NXYqN+Zt5PcBQdTNPGkLc5SfDfPPY1iQXBIN7rdrH9dDaQ+dy3i4//AD+r/E45yZ+RWqtuYWPoRBGsQRfW+7rM/EjEMFIZcm9rjvKb7gb2sfCcXIKhtGAt03+E8vj+ZyYY63LXrZfBwzy3PDQbF6kPcX4X8pn7R2viaVGuuEY9oyXpsBd1IILWuORbWEqYog3JzHdc6AeUDUrAFWuG48j1tx87SePyeTtLT34fHqwp7K7Q2jiXc11cUAoymoDmDCwIDEXbidd01cbmp5aiWVk7y8rg3t+ucDi/aW+WnTVmfLqti5sONl38OEBX2h3clZSpbQF1emrH6t7fq48I9nLny/Zjj13+I6w48Omd3H03CVu0RKgFs6K9uVwDCMJgexu2Eq0qdFl7GsqmyE5g4G8q19SBvXh4T0bLO242Xy4Ny+i7QTRhhBMIAK1FitVI84i1URoWzZCokXqCO1BFqglMaW4lWEiWedKdw0+JrCpBKIZZ3uc1QaxBGhHGP0qx0vYzNQw9N4tGPQbPo0z36xy0weHvueSj8ZWri1B+iWy7rtZmPXpEcPiiBlIDLyO8eB4R2v2aqjLmJZQzWtZWPw3tv+USGsDdzpnY9F3t8hwhlpW989kD+zXWs46/V+dvnF6VRhcgBL/HqWt4n8LS6WXvOTTU7231W+yOHjDaEhvMW+iRQBvNIHugc6r8fDSLVccFbLQtVrHu9ra6p0pL+MXas9X6KipSmfgB1bq54wq00pDfcNpnX363NafJP3+NzbqoiYekbswYs97VcQe8c/1KZPvNzbcLac4+tXIFRAM7aheCg/Ex4mJ1q/ZqpYLnYWo0R7qLzI5f8obAIQGqVCWOhcnUkncnz+6Jf6aNvAgKV4/EWO/q56ncBPR4TEZmyqCwHvNqflrPL4N7KznViw05udw8AJv7MxBQBBvY2zDefrGQvs/4Yx2HBOa1td3FQeNuG6UpkKDf4fXoJoYEqb5gCxYHnbl6Sa2HVn4AL3j0/V5THJPKM3H4ao4SkmjN3nO7KvEX4TVwgJa40SmMq9SNCzcz/WXygjMD7wuOekZpUlRLNbXUjn+ry3aRPW2fiK2YkaHpoQB1nlvafDOoJpLlUDUkqoLE2v8Aoaz2NLKb6anXlaZm3sF2iE086VdStRWZSoAte/K14vLjOXHSnFyXjz7R5KntBsvZhDxu27NbiOko1fTvMb7vAePOZ+z2FIlDVFUj3quoJJBNiTfXfxO68HXqOSrC4GoANyTcmeDn8frncdafScfNMsJk0cTiLZQoz3sO7e5J0A03nkBNnZPsXWqkPi3NFD+yXKaxH7zahNOAufAxn2F2MBfE1Vu+YrRDAXQDRn+0bkdALDfPcUxL8fFMZ4cHP8rLK6hfZOyaGHXLh6SUgRqQO832m3sfGPlAd4vfgdRIWEEq5LXmsf7HUGbtMMzYOqCD3NaRI1F6R0BB1BXLN1Q2Vc9i2UZiNAWtrbpeMGCeHtbPJPQLCBaGaBqTbGAPFqkYqGLOYdm2WqxSpHKkUqibs2yzTpYiTN2B8SWEWUEuBPX24Vw0IjQWWWAmbZynUmlszFBKiFiMmde0uARkvroZiq0YpvEsNK3Nt1HV2y0hTVrMthmBBFwVJ0sb3uJlLSdu9UNl+s17Hw5nwj+F2zWVRTvnRRZVPAcADy6GBxFUnvK3ZMSFBVe+xPDMST5Wgg2r4qsKQ7NVysR31axY8u0HDonzPKQh7P6at36j600O9uTHkohMRhKWGtdu2rMocJayqza3fXX8YlQoPUbMdebH7v6TWRjezqL1HNVznY8Tz4DoI+9f6uqobL/3Kp+Lw5dBB1jkHYpq7Czn6qnh4kS+FsDmI7lAWUfXrHd5Sdu/J41qC2KoNezAv1qt+V5sbOGZnb4aaimp6k2vMTBtkphj7zEkdWPH5C81cGpVLDfqfSw++JINrTwdfL3zrd2CjcBbQTRxTkJWy27tJSb7t1yJkpT7tFeQv5maOKzJSqnUZ3RR4TWSNPIWCxLM4DkZVAAsLWsNfKbGHp5zmYEgbh0Eztk4Mgi/xC5Y7vAevmZ6/D4bKFFgeJ6Rddsg3qMhMCT3msO96covidlByQXKrZsyg2D6HeOImrj6tgQFJ1Nh+MSxBcIGIu1i1tyj7XpOrGaiNr5ft7ZrJXNO1kZ6YFNNS2bMzMzG5LHLv6CGxOA7JlqH3adNbAa97MBbzM6u5q11yghVObPmzEsW1/IDheejXB53ZKlrGqlkHBKf0oHmFnP8ngxzly/Y6OH5GXH4/G7syjkponEKL/a3t6kzRpmKIYwhnB6mlN7MKYS8ArS4aLthCYJjOLwbtNsLVXMA5lnaBdodjKHUMWqGEqtFajQbbalRorUMK7QLQbDak6TadMO3xREjC04SnSjdLDz17k5piUFOWFGaVPCRmngon2H6MdaBhqeHM2UwMMmC6Qfa3RlU8PGUobuhuOh5zTp4SFGFk8uQehVdlduKlTKpcEF2zZGYG+vK+g4ScUiUAq0AzlhpVbcpO/d8QmlhlZDdTYkWOgII5EGM0nQG7Uhe4uUOS/ipBB8oZzTWsmuFnp5RARcLvOrVD8PMkxjA0u0ZadO5QGy34k+8xnqtpez1OrYq7FTYgJlVNdxy2tDbM9nzRz5QTemAjmxNzv8ACPvfoGQE7SqqKO4ndX8TPQJhtw36+gjOydjdnZnFySRoL2mrQwYIDDQ8jvHyjaDaMDs+5ubALaJ+0dUFlpJYga+LGN7SxJVgifVAPjzmFUftKtIAE/TAE8NOXPjJcuWsT4Ty9mtBFCLe5UWJ6zYo7hvmHgWu2ZvdAAA3kma9OuCdBa0Tiy/WzkVq0gAWPHcOUyNrZihU7zvHC022qC9zY3HpMHaWMGZ2uLIDr13D5D8J3Y3w5rPPh5KlshqVVayEWVbZSD3SbXIA375nv7U0qNSoX75Z2AYsq8r6W/dEb9pdt5mSjRBvUfs14XY8+mhmd7V7OwlClQdkWpVTEU6uYm7sqnM91O9dLW3C4kM85b197dEw1N32c2D7f0qzslZDQuyLSIu+YscutupGo01PKe3Rp8V2ht7BYis3YYd8O9UG57mUuobs2UJ7jEsb776dZ9M9icfUr4Sk9Zg9VcyMwILHKSFLjgxAHjv4zm5+LrO0mhwy34ejDS2aDE4zkUWLQbNOMG0JKh2i9R5dzF6hmDYbtF6hl3aLu0Jbkq7Sl5VjK3m0HcSdKZp03UO75pQoR+hh5fD0Zp4ehOvLJWQCjho7Swsao0I5ToSW9mZ64WEXDdJpLQhFoTeQZy4eEGHmiKEsKM2mjN7CVNCahoyppRbDxnohG4kR2njagAF7kaZunWW7GXWjFxyynqt1gmHx9QfVN9+/X1hDj3ZiMpFrEHXK3hY+kqlGM06UtjyZFuEJsahJFjc6Zza3yF4RKIphSN6bj1IIv6x9KUtVwuYW5zW3IJ4P4NhbMeAjL1tLj+klNmoEUM1rC7HS9/znn8VjiGqgupSlkuQCcrEnf/J8zOnHDrIlb2p3ae1sik336LzJ/ITHpUquIF/8ulwudT16wOKrq5NWopCJYJTIAZrDS/JRqeevjNOgjuoU91TZmO4m+uUfr7obl/fEGax9e3ka+ysS+KDYILSSkjU/8XVAcBm3mim5mA0udNTA7Z9j++v07VahWpWq16+o7KmFOUKvMkHw08foa0gAANANAJl+0WENVEoglO3qdg9Ue9TpOjZ7dSAFHVhOf7bcv4eTw8n7E+zeFxWzqRq0lDvUrVFqrdaiNmsMrAg2FhodNIH2YYYLHtQqswNS9Gr7opZswahUUAe6ynXk1+G73ewdkJhaFPDU2ZlpAgM1sxuSTe2nGE2lsqlWsaihyivkB3BmFr3GvD1MW8m7d+ZWk8HQJxEijTIVVJLFVUFjvYgWJljOfR6EYNoVoJ5tJUBzFajRmpFKgmkTtLVGi7tDVYsxj44oZcmkEyJ0mU6JfYi86WtOm6h3eXw1KalClF8Kk0qCTWvUFo0o7SpStFI5TSCCEtKEFOHCSwSM2gBTndnGckgpNWLFJHZxkpK5YlOCKcutOFCwirFZRacOiSUWHRY0BCJCqssqwgWPAeX27UxNNAytpYDjZG/tpMfB1XWkWAzOShK6d4u4BBv9seV57naeDNWjVpje6EL9revqBPE7NqXYBu6GBQ8bWuPusYe97S2tMZqvV4DDKyrmUB1AzLvCsfeHmDH8kV2dUu7D64Z+ujW/9ppZY/L/AKT4/QGScad9CLjkdRD5ZOWS0oBklskLknZIOrBZZUiHyyjCDTFmEC4jLiBcQaTyKVBFaojlSKVRDpHIjVizRqqIuwlccXHyB2kiSBJyyvVJBnSSJMPVmPhRNSgkzsKJrYcTmr2TdJY3TWBoiOUxMZwWWCy4EsBDGDIkWhisqRNRgJWVKwxEqREsFRRCKJAEuogFdRDoINIdBGBZRCqshFhlEYEAT57tWn2OKqr8Jqll6BgCB6gT6OFnjPbvB3dWHx07qeGekbt/I38sNm40aOxWLVg3D/DW8DmH6+U37TzfsS+dWbiqKpHizf8Az909RaNnd1PGaUtOtL5ZNopg7TrQmWdlmYMiDdYwVg2WBijiAcRtxF3EBKTqCKVBHqgi1RYYjmz6qxdljtURVhLYuTOBhJJWWEmWkR0HaRCETptAxcJNfDiZGEmvhhOJ7TQoxymIrREbQQCIJYSAJaYXSpEtOh2ylpUiXMrBaMRaWAnAS6iKK6RimIFBDoI0CipDLBJCrGgCCY3tXh81DOBdsPUWsBzUd1x/AzH5TZEh1BBU6hgVI5g6Qg8X7JOKWI7Me5Wptl5Z13jyW/8Auntp87w9Xsaovf6CuGU8Sl+zqj5Xp+c+hq17Eagi4PMHjNQ/U2kyLzrwbZM6dOm2LiJRhCXg2magOIvUEZeK1DBSUs4itWNPFKsMSyKVYrUjVWKvK4ubkUEsJUS4EvEHESZxnQgxMJNfDzp04HsNGjG0kzoDCCTJnQiidOnTArInTooxYCXWTOgERYVZ06NAoqwizp0YFwZM6dMzx3tvhQmWquhctmHM91b/ADDC/wBkT0Hs7XL4aix35beRInTofwK0hOkzoGdJkTpmWg3kzoWpZ4vUnToCUtUitWROhieRSpFqk6dLYObkUEus6dLxzrGdOnTFf//Z">
            <a:extLst>
              <a:ext uri="{FF2B5EF4-FFF2-40B4-BE49-F238E27FC236}">
                <a16:creationId xmlns:a16="http://schemas.microsoft.com/office/drawing/2014/main" id="{CBC6733B-CB1C-40DF-B713-39650CFDDE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TW" altLang="en-US" sz="180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C3DE56E-EE87-46D5-8D26-432F2A4C9D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0" y="2868613"/>
            <a:ext cx="2151063" cy="127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雲朵形圖說文字 9">
            <a:extLst>
              <a:ext uri="{FF2B5EF4-FFF2-40B4-BE49-F238E27FC236}">
                <a16:creationId xmlns:a16="http://schemas.microsoft.com/office/drawing/2014/main" id="{FFAF435D-81DE-4F26-A2DF-538BE8BC2BF6}"/>
              </a:ext>
            </a:extLst>
          </p:cNvPr>
          <p:cNvSpPr/>
          <p:nvPr/>
        </p:nvSpPr>
        <p:spPr>
          <a:xfrm>
            <a:off x="5075238" y="2425700"/>
            <a:ext cx="3303587" cy="952500"/>
          </a:xfrm>
          <a:prstGeom prst="cloudCallout">
            <a:avLst>
              <a:gd name="adj1" fmla="val -48303"/>
              <a:gd name="adj2" fmla="val 5589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“upper-left beak”</a:t>
            </a:r>
            <a:r>
              <a:rPr lang="zh-TW" altLang="en-US"/>
              <a:t> </a:t>
            </a:r>
            <a:r>
              <a:rPr lang="en-US" altLang="zh-TW"/>
              <a:t>detector</a:t>
            </a:r>
            <a:endParaRPr lang="zh-TW" altLang="en-US"/>
          </a:p>
        </p:txBody>
      </p:sp>
      <p:sp>
        <p:nvSpPr>
          <p:cNvPr id="11" name="矩形 11">
            <a:extLst>
              <a:ext uri="{FF2B5EF4-FFF2-40B4-BE49-F238E27FC236}">
                <a16:creationId xmlns:a16="http://schemas.microsoft.com/office/drawing/2014/main" id="{7B5B7B69-B615-4FA2-85AD-202621485270}"/>
              </a:ext>
            </a:extLst>
          </p:cNvPr>
          <p:cNvSpPr/>
          <p:nvPr/>
        </p:nvSpPr>
        <p:spPr>
          <a:xfrm>
            <a:off x="1289050" y="2628900"/>
            <a:ext cx="406400" cy="37941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2" name="矩形 12">
            <a:extLst>
              <a:ext uri="{FF2B5EF4-FFF2-40B4-BE49-F238E27FC236}">
                <a16:creationId xmlns:a16="http://schemas.microsoft.com/office/drawing/2014/main" id="{FB9541B8-5F29-4BE9-B760-DF02CC521D03}"/>
              </a:ext>
            </a:extLst>
          </p:cNvPr>
          <p:cNvSpPr/>
          <p:nvPr/>
        </p:nvSpPr>
        <p:spPr>
          <a:xfrm>
            <a:off x="1803400" y="4994275"/>
            <a:ext cx="406400" cy="37941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pic>
        <p:nvPicPr>
          <p:cNvPr id="13" name="圖片 4">
            <a:extLst>
              <a:ext uri="{FF2B5EF4-FFF2-40B4-BE49-F238E27FC236}">
                <a16:creationId xmlns:a16="http://schemas.microsoft.com/office/drawing/2014/main" id="{CF01B0F1-74BD-481E-9A25-F2752E7BFE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3475" y="4652963"/>
            <a:ext cx="229552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雲朵形圖說文字 30">
            <a:extLst>
              <a:ext uri="{FF2B5EF4-FFF2-40B4-BE49-F238E27FC236}">
                <a16:creationId xmlns:a16="http://schemas.microsoft.com/office/drawing/2014/main" id="{3DB4499F-13DF-4805-A8F8-0F960AD0832F}"/>
              </a:ext>
            </a:extLst>
          </p:cNvPr>
          <p:cNvSpPr/>
          <p:nvPr/>
        </p:nvSpPr>
        <p:spPr>
          <a:xfrm>
            <a:off x="5075306" y="5513706"/>
            <a:ext cx="3303662" cy="951706"/>
          </a:xfrm>
          <a:prstGeom prst="cloudCallout">
            <a:avLst>
              <a:gd name="adj1" fmla="val -40531"/>
              <a:gd name="adj2" fmla="val -6065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000000"/>
                </a:solidFill>
              </a:rPr>
              <a:t>“middle beak”</a:t>
            </a:r>
            <a:r>
              <a:rPr lang="zh-TW" altLang="en-US">
                <a:solidFill>
                  <a:srgbClr val="000000"/>
                </a:solidFill>
              </a:rPr>
              <a:t> </a:t>
            </a:r>
            <a:r>
              <a:rPr lang="en-US" altLang="zh-TW">
                <a:solidFill>
                  <a:srgbClr val="000000"/>
                </a:solidFill>
              </a:rPr>
              <a:t>detector</a:t>
            </a:r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15" name="矩形 5">
            <a:extLst>
              <a:ext uri="{FF2B5EF4-FFF2-40B4-BE49-F238E27FC236}">
                <a16:creationId xmlns:a16="http://schemas.microsoft.com/office/drawing/2014/main" id="{BCED994F-C5A6-420B-B4AC-F9CBC4EFA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038600"/>
            <a:ext cx="3657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They can be compressed</a:t>
            </a:r>
          </a:p>
          <a:p>
            <a:pPr eaLnBrk="1" hangingPunct="1"/>
            <a:r>
              <a:rPr lang="en-US" altLang="zh-TW"/>
              <a:t> to the same parameters.</a:t>
            </a:r>
            <a:endParaRPr lang="zh-TW" altLang="en-US"/>
          </a:p>
        </p:txBody>
      </p:sp>
      <p:cxnSp>
        <p:nvCxnSpPr>
          <p:cNvPr id="17" name="直線單箭頭接點 7">
            <a:extLst>
              <a:ext uri="{FF2B5EF4-FFF2-40B4-BE49-F238E27FC236}">
                <a16:creationId xmlns:a16="http://schemas.microsoft.com/office/drawing/2014/main" id="{25FD8F10-92F9-4970-9D22-F050554CFAE5}"/>
              </a:ext>
            </a:extLst>
          </p:cNvPr>
          <p:cNvCxnSpPr/>
          <p:nvPr/>
        </p:nvCxnSpPr>
        <p:spPr>
          <a:xfrm>
            <a:off x="4445000" y="3768725"/>
            <a:ext cx="0" cy="1339850"/>
          </a:xfrm>
          <a:prstGeom prst="straightConnector1">
            <a:avLst/>
          </a:prstGeom>
          <a:ln w="762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4DE4A406-224B-415B-A657-496D78FC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s-ES"/>
              <a:t>A convolutional layer</a:t>
            </a:r>
          </a:p>
        </p:txBody>
      </p:sp>
      <p:pic>
        <p:nvPicPr>
          <p:cNvPr id="17410" name="Picture 3">
            <a:extLst>
              <a:ext uri="{FF2B5EF4-FFF2-40B4-BE49-F238E27FC236}">
                <a16:creationId xmlns:a16="http://schemas.microsoft.com/office/drawing/2014/main" id="{C28DF09C-4B3E-4C5E-B8F6-2E55ACA881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124200"/>
            <a:ext cx="3848100" cy="316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TextBox 4">
            <a:extLst>
              <a:ext uri="{FF2B5EF4-FFF2-40B4-BE49-F238E27FC236}">
                <a16:creationId xmlns:a16="http://schemas.microsoft.com/office/drawing/2014/main" id="{D10CF599-951E-4366-A8AB-D2F4C9695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5486400"/>
            <a:ext cx="838200" cy="36988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s-ES" sz="1800"/>
              <a:t>A filter</a:t>
            </a:r>
          </a:p>
        </p:txBody>
      </p:sp>
      <p:sp>
        <p:nvSpPr>
          <p:cNvPr id="17412" name="TextBox 5">
            <a:extLst>
              <a:ext uri="{FF2B5EF4-FFF2-40B4-BE49-F238E27FC236}">
                <a16:creationId xmlns:a16="http://schemas.microsoft.com/office/drawing/2014/main" id="{11C52385-76A1-474B-A655-133729855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84820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s-ES"/>
              <a:t>A CNN is a neural network with some convolutional layers </a:t>
            </a:r>
          </a:p>
          <a:p>
            <a:pPr eaLnBrk="1" hangingPunct="1"/>
            <a:r>
              <a:rPr lang="en-US" altLang="es-ES"/>
              <a:t>(and some other layers).  A convolutional layer has a number </a:t>
            </a:r>
          </a:p>
          <a:p>
            <a:pPr eaLnBrk="1" hangingPunct="1"/>
            <a:r>
              <a:rPr lang="en-US" altLang="es-ES"/>
              <a:t>of filters that does convolutional operation. </a:t>
            </a:r>
          </a:p>
        </p:txBody>
      </p:sp>
      <p:sp>
        <p:nvSpPr>
          <p:cNvPr id="17413" name="TextBox 6">
            <a:extLst>
              <a:ext uri="{FF2B5EF4-FFF2-40B4-BE49-F238E27FC236}">
                <a16:creationId xmlns:a16="http://schemas.microsoft.com/office/drawing/2014/main" id="{3E3F53F6-7F40-42FD-BEBA-0C5130259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429000"/>
            <a:ext cx="1609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s-ES" sz="1800"/>
              <a:t>Beak detector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70ED918-D4E2-43E1-A7AD-5FE91C8BC16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95800" y="3810000"/>
            <a:ext cx="0" cy="30480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標題 1">
            <a:extLst>
              <a:ext uri="{FF2B5EF4-FFF2-40B4-BE49-F238E27FC236}">
                <a16:creationId xmlns:a16="http://schemas.microsoft.com/office/drawing/2014/main" id="{14ECABAC-5ED2-494C-B0FD-22639D491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r>
              <a:rPr lang="en-US" altLang="zh-TW"/>
              <a:t>Convolution</a:t>
            </a:r>
            <a:endParaRPr lang="zh-TW" altLang="en-US"/>
          </a:p>
        </p:txBody>
      </p:sp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id="{ECB2AD23-5680-4A7C-B58B-679617F2919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85838" y="2398713"/>
          <a:ext cx="2873376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文字方塊 4">
            <a:extLst>
              <a:ext uri="{FF2B5EF4-FFF2-40B4-BE49-F238E27FC236}">
                <a16:creationId xmlns:a16="http://schemas.microsoft.com/office/drawing/2014/main" id="{9490E93D-4076-4A12-B868-7AC25E5D5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363" y="5389563"/>
            <a:ext cx="23463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6 x 6 image</a:t>
            </a:r>
            <a:endParaRPr lang="zh-TW" altLang="en-US"/>
          </a:p>
        </p:txBody>
      </p:sp>
      <p:graphicFrame>
        <p:nvGraphicFramePr>
          <p:cNvPr id="7" name="表格 5">
            <a:extLst>
              <a:ext uri="{FF2B5EF4-FFF2-40B4-BE49-F238E27FC236}">
                <a16:creationId xmlns:a16="http://schemas.microsoft.com/office/drawing/2014/main" id="{E6CD6929-B60F-4613-BFD8-DD98F9E4C4BE}"/>
              </a:ext>
            </a:extLst>
          </p:cNvPr>
          <p:cNvGraphicFramePr>
            <a:graphicFrameLocks noGrp="1"/>
          </p:cNvGraphicFramePr>
          <p:nvPr/>
        </p:nvGraphicFramePr>
        <p:xfrm>
          <a:off x="5259388" y="2068513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文字方塊 6">
            <a:extLst>
              <a:ext uri="{FF2B5EF4-FFF2-40B4-BE49-F238E27FC236}">
                <a16:creationId xmlns:a16="http://schemas.microsoft.com/office/drawing/2014/main" id="{3A2419BC-F79F-43B7-85B4-DC33B542A3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1325" y="2420938"/>
            <a:ext cx="1447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Filter 1</a:t>
            </a:r>
            <a:endParaRPr lang="zh-TW" altLang="en-US"/>
          </a:p>
        </p:txBody>
      </p:sp>
      <p:graphicFrame>
        <p:nvGraphicFramePr>
          <p:cNvPr id="9" name="表格 7">
            <a:extLst>
              <a:ext uri="{FF2B5EF4-FFF2-40B4-BE49-F238E27FC236}">
                <a16:creationId xmlns:a16="http://schemas.microsoft.com/office/drawing/2014/main" id="{3256FC84-E6A9-444F-AF05-D12D7BC65DCC}"/>
              </a:ext>
            </a:extLst>
          </p:cNvPr>
          <p:cNvGraphicFramePr>
            <a:graphicFrameLocks noGrp="1"/>
          </p:cNvGraphicFramePr>
          <p:nvPr/>
        </p:nvGraphicFramePr>
        <p:xfrm>
          <a:off x="5259388" y="3694113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文字方塊 8">
            <a:extLst>
              <a:ext uri="{FF2B5EF4-FFF2-40B4-BE49-F238E27FC236}">
                <a16:creationId xmlns:a16="http://schemas.microsoft.com/office/drawing/2014/main" id="{B73AF316-6356-4DBF-B33B-633FF1ADB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1325" y="4032250"/>
            <a:ext cx="1447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Filter 2</a:t>
            </a:r>
            <a:endParaRPr lang="zh-TW" altLang="en-US"/>
          </a:p>
        </p:txBody>
      </p:sp>
      <p:sp>
        <p:nvSpPr>
          <p:cNvPr id="11" name="文字方塊 9">
            <a:extLst>
              <a:ext uri="{FF2B5EF4-FFF2-40B4-BE49-F238E27FC236}">
                <a16:creationId xmlns:a16="http://schemas.microsoft.com/office/drawing/2014/main" id="{66AE97C4-4ACE-4AAA-AC57-C94A94070042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830094" y="5234782"/>
            <a:ext cx="7080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2800" b="1"/>
              <a:t>……</a:t>
            </a:r>
            <a:endParaRPr lang="zh-TW" altLang="en-US" sz="2800" b="1"/>
          </a:p>
        </p:txBody>
      </p:sp>
      <p:sp>
        <p:nvSpPr>
          <p:cNvPr id="12" name="文字方塊 10">
            <a:extLst>
              <a:ext uri="{FF2B5EF4-FFF2-40B4-BE49-F238E27FC236}">
                <a16:creationId xmlns:a16="http://schemas.microsoft.com/office/drawing/2014/main" id="{4BFFEF52-5C15-4209-8199-6C730C706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004888"/>
            <a:ext cx="39624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b="1">
                <a:solidFill>
                  <a:srgbClr val="FF0000"/>
                </a:solidFill>
              </a:rPr>
              <a:t>These are the network parameters to be learned.</a:t>
            </a:r>
            <a:endParaRPr lang="zh-TW" altLang="en-US" b="1">
              <a:solidFill>
                <a:srgbClr val="FF0000"/>
              </a:solidFill>
            </a:endParaRPr>
          </a:p>
        </p:txBody>
      </p:sp>
      <p:sp>
        <p:nvSpPr>
          <p:cNvPr id="15" name="文字方塊 12">
            <a:extLst>
              <a:ext uri="{FF2B5EF4-FFF2-40B4-BE49-F238E27FC236}">
                <a16:creationId xmlns:a16="http://schemas.microsoft.com/office/drawing/2014/main" id="{7B2E5339-4FD7-4062-A862-6834F8A46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3350" y="5849938"/>
            <a:ext cx="35560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Each filter detects a small pattern (3 x 3). </a:t>
            </a:r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1" grpId="0"/>
      <p:bldP spid="12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標題 1">
            <a:extLst>
              <a:ext uri="{FF2B5EF4-FFF2-40B4-BE49-F238E27FC236}">
                <a16:creationId xmlns:a16="http://schemas.microsoft.com/office/drawing/2014/main" id="{B525494E-6535-4305-A2E0-3EA79502E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r>
              <a:rPr lang="en-US" altLang="zh-TW"/>
              <a:t>Convolution</a:t>
            </a:r>
            <a:endParaRPr lang="zh-TW" altLang="en-US"/>
          </a:p>
        </p:txBody>
      </p:sp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id="{361E62D1-F677-43E7-9475-C065ED0E4F0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85838" y="2398713"/>
          <a:ext cx="2873376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509" name="文字方塊 4">
            <a:extLst>
              <a:ext uri="{FF2B5EF4-FFF2-40B4-BE49-F238E27FC236}">
                <a16:creationId xmlns:a16="http://schemas.microsoft.com/office/drawing/2014/main" id="{18F7E0A7-B596-4C09-8DEC-375399B8BE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363" y="5389563"/>
            <a:ext cx="23463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6 x 6 image</a:t>
            </a:r>
            <a:endParaRPr lang="zh-TW" altLang="en-US"/>
          </a:p>
        </p:txBody>
      </p:sp>
      <p:graphicFrame>
        <p:nvGraphicFramePr>
          <p:cNvPr id="7" name="表格 5">
            <a:extLst>
              <a:ext uri="{FF2B5EF4-FFF2-40B4-BE49-F238E27FC236}">
                <a16:creationId xmlns:a16="http://schemas.microsoft.com/office/drawing/2014/main" id="{BC9CD8FF-9000-441C-ADA8-7115767BA8D5}"/>
              </a:ext>
            </a:extLst>
          </p:cNvPr>
          <p:cNvGraphicFramePr>
            <a:graphicFrameLocks noGrp="1"/>
          </p:cNvGraphicFramePr>
          <p:nvPr/>
        </p:nvGraphicFramePr>
        <p:xfrm>
          <a:off x="5564188" y="477838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528" name="文字方塊 6">
            <a:extLst>
              <a:ext uri="{FF2B5EF4-FFF2-40B4-BE49-F238E27FC236}">
                <a16:creationId xmlns:a16="http://schemas.microsoft.com/office/drawing/2014/main" id="{FA101BAA-B99E-4383-975A-3ADAAF869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6613" y="933450"/>
            <a:ext cx="1447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Filter 1</a:t>
            </a:r>
            <a:endParaRPr lang="zh-TW" altLang="en-US"/>
          </a:p>
        </p:txBody>
      </p:sp>
      <p:sp>
        <p:nvSpPr>
          <p:cNvPr id="9" name="矩形 2">
            <a:extLst>
              <a:ext uri="{FF2B5EF4-FFF2-40B4-BE49-F238E27FC236}">
                <a16:creationId xmlns:a16="http://schemas.microsoft.com/office/drawing/2014/main" id="{F5B0B8C6-EB75-4439-962C-29270FC2D895}"/>
              </a:ext>
            </a:extLst>
          </p:cNvPr>
          <p:cNvSpPr/>
          <p:nvPr/>
        </p:nvSpPr>
        <p:spPr>
          <a:xfrm>
            <a:off x="985838" y="2398713"/>
            <a:ext cx="1416050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0" name="橢圓 11">
            <a:extLst>
              <a:ext uri="{FF2B5EF4-FFF2-40B4-BE49-F238E27FC236}">
                <a16:creationId xmlns:a16="http://schemas.microsoft.com/office/drawing/2014/main" id="{D3DC86F3-0EBF-41AD-B91E-DEDDDA2C5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3" y="2787650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1" name="橢圓 12">
            <a:extLst>
              <a:ext uri="{FF2B5EF4-FFF2-40B4-BE49-F238E27FC236}">
                <a16:creationId xmlns:a16="http://schemas.microsoft.com/office/drawing/2014/main" id="{2FC040E6-5556-4940-B85E-E29AA98E6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188" y="2787650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2" name="矩形 27">
            <a:extLst>
              <a:ext uri="{FF2B5EF4-FFF2-40B4-BE49-F238E27FC236}">
                <a16:creationId xmlns:a16="http://schemas.microsoft.com/office/drawing/2014/main" id="{B1E3A3D5-A5EE-463A-8621-F266ABBCC6C2}"/>
              </a:ext>
            </a:extLst>
          </p:cNvPr>
          <p:cNvSpPr/>
          <p:nvPr/>
        </p:nvSpPr>
        <p:spPr>
          <a:xfrm>
            <a:off x="1484313" y="2398713"/>
            <a:ext cx="1417637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3" name="矩形 33">
            <a:extLst>
              <a:ext uri="{FF2B5EF4-FFF2-40B4-BE49-F238E27FC236}">
                <a16:creationId xmlns:a16="http://schemas.microsoft.com/office/drawing/2014/main" id="{04D07B78-8493-40F2-B54C-235912D80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6813" y="1731963"/>
            <a:ext cx="12080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s</a:t>
            </a:r>
            <a:r>
              <a:rPr lang="zh-TW" altLang="en-US"/>
              <a:t>tride</a:t>
            </a:r>
            <a:r>
              <a:rPr lang="en-US" altLang="zh-TW"/>
              <a:t>=1</a:t>
            </a:r>
            <a:endParaRPr lang="zh-TW" alt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5FAF60B-941F-457A-B659-793629B9ACB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962400" y="3124200"/>
            <a:ext cx="685800" cy="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80EBCA4-B471-4535-9C04-A3A93C577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438400"/>
            <a:ext cx="9540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s-ES" sz="1800"/>
              <a:t>Dot </a:t>
            </a:r>
          </a:p>
          <a:p>
            <a:pPr eaLnBrk="1" hangingPunct="1"/>
            <a:r>
              <a:rPr lang="en-US" altLang="es-ES" sz="1800"/>
              <a:t>product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1" grpId="0" animBg="1"/>
      <p:bldP spid="12" grpId="0" animBg="1"/>
      <p:bldP spid="13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標題 1">
            <a:extLst>
              <a:ext uri="{FF2B5EF4-FFF2-40B4-BE49-F238E27FC236}">
                <a16:creationId xmlns:a16="http://schemas.microsoft.com/office/drawing/2014/main" id="{E74309B8-77DE-4CB2-A9EE-4D3A5DD8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r>
              <a:rPr lang="en-US" altLang="zh-TW"/>
              <a:t>Convolution</a:t>
            </a:r>
            <a:endParaRPr lang="zh-TW" altLang="en-US"/>
          </a:p>
        </p:txBody>
      </p:sp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id="{9A02398D-9463-4319-B6A8-6133940524D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85838" y="2398713"/>
          <a:ext cx="2873376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533" name="文字方塊 4">
            <a:extLst>
              <a:ext uri="{FF2B5EF4-FFF2-40B4-BE49-F238E27FC236}">
                <a16:creationId xmlns:a16="http://schemas.microsoft.com/office/drawing/2014/main" id="{8FDC1293-0A64-4D84-8758-D5F96AD78D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363" y="5389563"/>
            <a:ext cx="23463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6 x 6 image</a:t>
            </a:r>
            <a:endParaRPr lang="zh-TW" altLang="en-US"/>
          </a:p>
        </p:txBody>
      </p:sp>
      <p:graphicFrame>
        <p:nvGraphicFramePr>
          <p:cNvPr id="7" name="表格 5">
            <a:extLst>
              <a:ext uri="{FF2B5EF4-FFF2-40B4-BE49-F238E27FC236}">
                <a16:creationId xmlns:a16="http://schemas.microsoft.com/office/drawing/2014/main" id="{9EAAD33C-A984-4E53-BB52-3461C10904F8}"/>
              </a:ext>
            </a:extLst>
          </p:cNvPr>
          <p:cNvGraphicFramePr>
            <a:graphicFrameLocks noGrp="1"/>
          </p:cNvGraphicFramePr>
          <p:nvPr/>
        </p:nvGraphicFramePr>
        <p:xfrm>
          <a:off x="5564188" y="477838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552" name="文字方塊 6">
            <a:extLst>
              <a:ext uri="{FF2B5EF4-FFF2-40B4-BE49-F238E27FC236}">
                <a16:creationId xmlns:a16="http://schemas.microsoft.com/office/drawing/2014/main" id="{8C09D1A5-A9A3-412C-BD5D-FDF3CC6C3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6613" y="933450"/>
            <a:ext cx="1447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Filter 1</a:t>
            </a:r>
            <a:endParaRPr lang="zh-TW" altLang="en-US"/>
          </a:p>
        </p:txBody>
      </p:sp>
      <p:sp>
        <p:nvSpPr>
          <p:cNvPr id="9" name="矩形 2">
            <a:extLst>
              <a:ext uri="{FF2B5EF4-FFF2-40B4-BE49-F238E27FC236}">
                <a16:creationId xmlns:a16="http://schemas.microsoft.com/office/drawing/2014/main" id="{3CA483A2-DAE1-4286-989F-49DCE4B12774}"/>
              </a:ext>
            </a:extLst>
          </p:cNvPr>
          <p:cNvSpPr/>
          <p:nvPr/>
        </p:nvSpPr>
        <p:spPr>
          <a:xfrm>
            <a:off x="985838" y="2398713"/>
            <a:ext cx="1416050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0" name="橢圓 11">
            <a:extLst>
              <a:ext uri="{FF2B5EF4-FFF2-40B4-BE49-F238E27FC236}">
                <a16:creationId xmlns:a16="http://schemas.microsoft.com/office/drawing/2014/main" id="{47582A05-2963-4259-B7AB-77F60BDA8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3" y="2787650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1" name="橢圓 12">
            <a:extLst>
              <a:ext uri="{FF2B5EF4-FFF2-40B4-BE49-F238E27FC236}">
                <a16:creationId xmlns:a16="http://schemas.microsoft.com/office/drawing/2014/main" id="{EA4FB704-7D5F-4EFD-B189-CDE5F7E10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188" y="2787650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2" name="矩形 27">
            <a:extLst>
              <a:ext uri="{FF2B5EF4-FFF2-40B4-BE49-F238E27FC236}">
                <a16:creationId xmlns:a16="http://schemas.microsoft.com/office/drawing/2014/main" id="{93E8134A-5107-409E-BFF5-389A4D1F5099}"/>
              </a:ext>
            </a:extLst>
          </p:cNvPr>
          <p:cNvSpPr/>
          <p:nvPr/>
        </p:nvSpPr>
        <p:spPr>
          <a:xfrm>
            <a:off x="1963738" y="2398713"/>
            <a:ext cx="1416050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0557" name="矩形 33">
            <a:extLst>
              <a:ext uri="{FF2B5EF4-FFF2-40B4-BE49-F238E27FC236}">
                <a16:creationId xmlns:a16="http://schemas.microsoft.com/office/drawing/2014/main" id="{8AC8AD6C-A340-4D52-BA48-72B908A8B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6813" y="1731963"/>
            <a:ext cx="1447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If s</a:t>
            </a:r>
            <a:r>
              <a:rPr lang="zh-TW" altLang="en-US"/>
              <a:t>tride</a:t>
            </a:r>
            <a:r>
              <a:rPr lang="en-US" altLang="zh-TW"/>
              <a:t>=2</a:t>
            </a:r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標題 1">
            <a:extLst>
              <a:ext uri="{FF2B5EF4-FFF2-40B4-BE49-F238E27FC236}">
                <a16:creationId xmlns:a16="http://schemas.microsoft.com/office/drawing/2014/main" id="{47023B0E-146B-4BAA-AEFE-D77312ECF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r>
              <a:rPr lang="en-US" altLang="zh-TW"/>
              <a:t>Convolution</a:t>
            </a:r>
            <a:endParaRPr lang="zh-TW" altLang="en-US"/>
          </a:p>
        </p:txBody>
      </p:sp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id="{D46F2E3B-D00B-4233-936F-034A524A777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85838" y="2398713"/>
          <a:ext cx="2873376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557" name="文字方塊 4">
            <a:extLst>
              <a:ext uri="{FF2B5EF4-FFF2-40B4-BE49-F238E27FC236}">
                <a16:creationId xmlns:a16="http://schemas.microsoft.com/office/drawing/2014/main" id="{84DA8708-E4CC-4791-B1C5-EFFEAC123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363" y="5389563"/>
            <a:ext cx="23463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6 x 6 image</a:t>
            </a:r>
            <a:endParaRPr lang="zh-TW" altLang="en-US"/>
          </a:p>
        </p:txBody>
      </p:sp>
      <p:graphicFrame>
        <p:nvGraphicFramePr>
          <p:cNvPr id="7" name="表格 5">
            <a:extLst>
              <a:ext uri="{FF2B5EF4-FFF2-40B4-BE49-F238E27FC236}">
                <a16:creationId xmlns:a16="http://schemas.microsoft.com/office/drawing/2014/main" id="{1F87BCF2-BD35-434F-BDCC-C39D11A6E0B3}"/>
              </a:ext>
            </a:extLst>
          </p:cNvPr>
          <p:cNvGraphicFramePr>
            <a:graphicFrameLocks noGrp="1"/>
          </p:cNvGraphicFramePr>
          <p:nvPr/>
        </p:nvGraphicFramePr>
        <p:xfrm>
          <a:off x="5564188" y="477838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576" name="文字方塊 6">
            <a:extLst>
              <a:ext uri="{FF2B5EF4-FFF2-40B4-BE49-F238E27FC236}">
                <a16:creationId xmlns:a16="http://schemas.microsoft.com/office/drawing/2014/main" id="{81881A7A-41F2-42E1-AE95-5F9EFBB12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6613" y="933450"/>
            <a:ext cx="1447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Filter 1</a:t>
            </a:r>
            <a:endParaRPr lang="zh-TW" altLang="en-US"/>
          </a:p>
        </p:txBody>
      </p:sp>
      <p:sp>
        <p:nvSpPr>
          <p:cNvPr id="9" name="矩形 2">
            <a:extLst>
              <a:ext uri="{FF2B5EF4-FFF2-40B4-BE49-F238E27FC236}">
                <a16:creationId xmlns:a16="http://schemas.microsoft.com/office/drawing/2014/main" id="{F1E687FF-2D50-4882-ABDE-90176448E122}"/>
              </a:ext>
            </a:extLst>
          </p:cNvPr>
          <p:cNvSpPr/>
          <p:nvPr/>
        </p:nvSpPr>
        <p:spPr>
          <a:xfrm>
            <a:off x="985838" y="2398713"/>
            <a:ext cx="1416050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0" name="橢圓 11">
            <a:extLst>
              <a:ext uri="{FF2B5EF4-FFF2-40B4-BE49-F238E27FC236}">
                <a16:creationId xmlns:a16="http://schemas.microsoft.com/office/drawing/2014/main" id="{45631675-FB5F-4068-A1F5-1BA70CF48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3" y="2787650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1" name="橢圓 12">
            <a:extLst>
              <a:ext uri="{FF2B5EF4-FFF2-40B4-BE49-F238E27FC236}">
                <a16:creationId xmlns:a16="http://schemas.microsoft.com/office/drawing/2014/main" id="{D1B81631-9684-4B9A-9826-C0937A55C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188" y="2787650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2" name="橢圓 13">
            <a:extLst>
              <a:ext uri="{FF2B5EF4-FFF2-40B4-BE49-F238E27FC236}">
                <a16:creationId xmlns:a16="http://schemas.microsoft.com/office/drawing/2014/main" id="{372CF13D-9745-4FDB-AA99-A1BCB1B30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563" y="2787650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3" name="橢圓 14">
            <a:extLst>
              <a:ext uri="{FF2B5EF4-FFF2-40B4-BE49-F238E27FC236}">
                <a16:creationId xmlns:a16="http://schemas.microsoft.com/office/drawing/2014/main" id="{60C336D3-2E5B-4BA7-A088-5116E1E70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938" y="2787650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4" name="橢圓 15">
            <a:extLst>
              <a:ext uri="{FF2B5EF4-FFF2-40B4-BE49-F238E27FC236}">
                <a16:creationId xmlns:a16="http://schemas.microsoft.com/office/drawing/2014/main" id="{39F96664-ABC0-4996-9BBC-5818FB8C6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3" y="3587750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5" name="橢圓 16">
            <a:extLst>
              <a:ext uri="{FF2B5EF4-FFF2-40B4-BE49-F238E27FC236}">
                <a16:creationId xmlns:a16="http://schemas.microsoft.com/office/drawing/2014/main" id="{1BC6C34E-2FA2-4266-BADF-2263C2358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188" y="3587750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6" name="橢圓 17">
            <a:extLst>
              <a:ext uri="{FF2B5EF4-FFF2-40B4-BE49-F238E27FC236}">
                <a16:creationId xmlns:a16="http://schemas.microsoft.com/office/drawing/2014/main" id="{09BB49C9-EDBD-4DC5-AC5D-9A424F9E7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563" y="3587750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0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7" name="橢圓 18">
            <a:extLst>
              <a:ext uri="{FF2B5EF4-FFF2-40B4-BE49-F238E27FC236}">
                <a16:creationId xmlns:a16="http://schemas.microsoft.com/office/drawing/2014/main" id="{3DCB02B0-DECB-4225-A56A-EAAAC0A7A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938" y="3587750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8" name="橢圓 19">
            <a:extLst>
              <a:ext uri="{FF2B5EF4-FFF2-40B4-BE49-F238E27FC236}">
                <a16:creationId xmlns:a16="http://schemas.microsoft.com/office/drawing/2014/main" id="{984B3D72-AA3F-49FA-AA1F-DCA8960BA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3" y="4446588"/>
            <a:ext cx="719137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9" name="橢圓 20">
            <a:extLst>
              <a:ext uri="{FF2B5EF4-FFF2-40B4-BE49-F238E27FC236}">
                <a16:creationId xmlns:a16="http://schemas.microsoft.com/office/drawing/2014/main" id="{1AC870FF-C9C8-4446-A35E-5E499BD5A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188" y="4446588"/>
            <a:ext cx="719137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0" name="橢圓 21">
            <a:extLst>
              <a:ext uri="{FF2B5EF4-FFF2-40B4-BE49-F238E27FC236}">
                <a16:creationId xmlns:a16="http://schemas.microsoft.com/office/drawing/2014/main" id="{91837068-C2A8-4AE2-A43C-A2FD41AD1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563" y="4446588"/>
            <a:ext cx="720725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0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1" name="橢圓 22">
            <a:extLst>
              <a:ext uri="{FF2B5EF4-FFF2-40B4-BE49-F238E27FC236}">
                <a16:creationId xmlns:a16="http://schemas.microsoft.com/office/drawing/2014/main" id="{5541916A-F0E7-4036-82AE-B5D1EC7D6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938" y="4446588"/>
            <a:ext cx="720725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2" name="橢圓 23">
            <a:extLst>
              <a:ext uri="{FF2B5EF4-FFF2-40B4-BE49-F238E27FC236}">
                <a16:creationId xmlns:a16="http://schemas.microsoft.com/office/drawing/2014/main" id="{A9026B42-A1A6-43E2-A527-E165D7542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2338" y="5259388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3" name="橢圓 24">
            <a:extLst>
              <a:ext uri="{FF2B5EF4-FFF2-40B4-BE49-F238E27FC236}">
                <a16:creationId xmlns:a16="http://schemas.microsoft.com/office/drawing/2014/main" id="{C9214699-BCD0-498F-AC58-E5CFD95E4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188" y="5246688"/>
            <a:ext cx="719137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-2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4" name="橢圓 25">
            <a:extLst>
              <a:ext uri="{FF2B5EF4-FFF2-40B4-BE49-F238E27FC236}">
                <a16:creationId xmlns:a16="http://schemas.microsoft.com/office/drawing/2014/main" id="{F18B4513-257F-43B8-9DB5-ACAA7FE24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563" y="5246688"/>
            <a:ext cx="720725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-2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5" name="橢圓 26">
            <a:extLst>
              <a:ext uri="{FF2B5EF4-FFF2-40B4-BE49-F238E27FC236}">
                <a16:creationId xmlns:a16="http://schemas.microsoft.com/office/drawing/2014/main" id="{7F91E6B9-7D7B-45A1-95D9-0276B7488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938" y="5246688"/>
            <a:ext cx="720725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6" name="矩形 27">
            <a:extLst>
              <a:ext uri="{FF2B5EF4-FFF2-40B4-BE49-F238E27FC236}">
                <a16:creationId xmlns:a16="http://schemas.microsoft.com/office/drawing/2014/main" id="{96CB5CBB-05A4-408C-B09D-D22382B10E57}"/>
              </a:ext>
            </a:extLst>
          </p:cNvPr>
          <p:cNvSpPr/>
          <p:nvPr/>
        </p:nvSpPr>
        <p:spPr>
          <a:xfrm>
            <a:off x="1484313" y="2398713"/>
            <a:ext cx="1417637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7" name="矩形 28">
            <a:extLst>
              <a:ext uri="{FF2B5EF4-FFF2-40B4-BE49-F238E27FC236}">
                <a16:creationId xmlns:a16="http://schemas.microsoft.com/office/drawing/2014/main" id="{79214E52-81B4-4690-A32B-50EDC789DC09}"/>
              </a:ext>
            </a:extLst>
          </p:cNvPr>
          <p:cNvSpPr/>
          <p:nvPr/>
        </p:nvSpPr>
        <p:spPr>
          <a:xfrm>
            <a:off x="1930400" y="2401888"/>
            <a:ext cx="1417638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8" name="矩形 29">
            <a:extLst>
              <a:ext uri="{FF2B5EF4-FFF2-40B4-BE49-F238E27FC236}">
                <a16:creationId xmlns:a16="http://schemas.microsoft.com/office/drawing/2014/main" id="{ACCAE79E-6900-48F8-80C3-2A8D921A8C89}"/>
              </a:ext>
            </a:extLst>
          </p:cNvPr>
          <p:cNvSpPr/>
          <p:nvPr/>
        </p:nvSpPr>
        <p:spPr>
          <a:xfrm>
            <a:off x="2433638" y="2405063"/>
            <a:ext cx="1416050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9" name="矩形 30">
            <a:extLst>
              <a:ext uri="{FF2B5EF4-FFF2-40B4-BE49-F238E27FC236}">
                <a16:creationId xmlns:a16="http://schemas.microsoft.com/office/drawing/2014/main" id="{473A3266-DD62-4F42-B442-5733E2B135CE}"/>
              </a:ext>
            </a:extLst>
          </p:cNvPr>
          <p:cNvSpPr/>
          <p:nvPr/>
        </p:nvSpPr>
        <p:spPr>
          <a:xfrm>
            <a:off x="985838" y="2809875"/>
            <a:ext cx="1416050" cy="138271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1598" name="矩形 33">
            <a:extLst>
              <a:ext uri="{FF2B5EF4-FFF2-40B4-BE49-F238E27FC236}">
                <a16:creationId xmlns:a16="http://schemas.microsoft.com/office/drawing/2014/main" id="{7D9FEE93-6356-4314-A004-D786B417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6813" y="1731963"/>
            <a:ext cx="12080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s</a:t>
            </a:r>
            <a:r>
              <a:rPr lang="zh-TW" altLang="en-US"/>
              <a:t>tride</a:t>
            </a:r>
            <a:r>
              <a:rPr lang="en-US" altLang="zh-TW"/>
              <a:t>=1</a:t>
            </a:r>
            <a:endParaRPr lang="zh-TW" altLang="en-US"/>
          </a:p>
        </p:txBody>
      </p:sp>
      <p:sp>
        <p:nvSpPr>
          <p:cNvPr id="31" name="矩形 31">
            <a:extLst>
              <a:ext uri="{FF2B5EF4-FFF2-40B4-BE49-F238E27FC236}">
                <a16:creationId xmlns:a16="http://schemas.microsoft.com/office/drawing/2014/main" id="{F2E8C857-299F-45A2-A13E-E81E9C59732A}"/>
              </a:ext>
            </a:extLst>
          </p:cNvPr>
          <p:cNvSpPr/>
          <p:nvPr/>
        </p:nvSpPr>
        <p:spPr>
          <a:xfrm>
            <a:off x="2433638" y="3767138"/>
            <a:ext cx="1416050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2" name="矩形 7">
            <a:extLst>
              <a:ext uri="{FF2B5EF4-FFF2-40B4-BE49-F238E27FC236}">
                <a16:creationId xmlns:a16="http://schemas.microsoft.com/office/drawing/2014/main" id="{18B63F9E-217D-4037-BEAD-E98B2AF6C048}"/>
              </a:ext>
            </a:extLst>
          </p:cNvPr>
          <p:cNvSpPr/>
          <p:nvPr/>
        </p:nvSpPr>
        <p:spPr>
          <a:xfrm>
            <a:off x="5564188" y="477838"/>
            <a:ext cx="523875" cy="455612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3" name="矩形 35">
            <a:extLst>
              <a:ext uri="{FF2B5EF4-FFF2-40B4-BE49-F238E27FC236}">
                <a16:creationId xmlns:a16="http://schemas.microsoft.com/office/drawing/2014/main" id="{24D6F0B2-9935-4EE5-A6ED-CAFF94177FF0}"/>
              </a:ext>
            </a:extLst>
          </p:cNvPr>
          <p:cNvSpPr/>
          <p:nvPr/>
        </p:nvSpPr>
        <p:spPr>
          <a:xfrm>
            <a:off x="6119813" y="936625"/>
            <a:ext cx="525462" cy="455613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4" name="矩形 36">
            <a:extLst>
              <a:ext uri="{FF2B5EF4-FFF2-40B4-BE49-F238E27FC236}">
                <a16:creationId xmlns:a16="http://schemas.microsoft.com/office/drawing/2014/main" id="{D55C0205-89CA-483F-AFB1-7CCF7307E850}"/>
              </a:ext>
            </a:extLst>
          </p:cNvPr>
          <p:cNvSpPr/>
          <p:nvPr/>
        </p:nvSpPr>
        <p:spPr>
          <a:xfrm>
            <a:off x="6645275" y="1404938"/>
            <a:ext cx="523875" cy="455612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cxnSp>
        <p:nvCxnSpPr>
          <p:cNvPr id="35" name="直線接點 9">
            <a:extLst>
              <a:ext uri="{FF2B5EF4-FFF2-40B4-BE49-F238E27FC236}">
                <a16:creationId xmlns:a16="http://schemas.microsoft.com/office/drawing/2014/main" id="{B2221E95-4784-457E-AAF4-103E068DB30A}"/>
              </a:ext>
            </a:extLst>
          </p:cNvPr>
          <p:cNvCxnSpPr/>
          <p:nvPr/>
        </p:nvCxnSpPr>
        <p:spPr>
          <a:xfrm>
            <a:off x="5564188" y="477838"/>
            <a:ext cx="1604962" cy="1382712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7">
            <a:extLst>
              <a:ext uri="{FF2B5EF4-FFF2-40B4-BE49-F238E27FC236}">
                <a16:creationId xmlns:a16="http://schemas.microsoft.com/office/drawing/2014/main" id="{C875B73D-195C-42FC-B9C9-F4BB2CCE461B}"/>
              </a:ext>
            </a:extLst>
          </p:cNvPr>
          <p:cNvSpPr/>
          <p:nvPr/>
        </p:nvSpPr>
        <p:spPr>
          <a:xfrm>
            <a:off x="4713288" y="2786063"/>
            <a:ext cx="728662" cy="708025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7" name="矩形 38">
            <a:extLst>
              <a:ext uri="{FF2B5EF4-FFF2-40B4-BE49-F238E27FC236}">
                <a16:creationId xmlns:a16="http://schemas.microsoft.com/office/drawing/2014/main" id="{FF9A12E4-9376-4B77-9111-94237D959014}"/>
              </a:ext>
            </a:extLst>
          </p:cNvPr>
          <p:cNvSpPr/>
          <p:nvPr/>
        </p:nvSpPr>
        <p:spPr>
          <a:xfrm>
            <a:off x="4732338" y="5262563"/>
            <a:ext cx="728662" cy="708025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cxnSp>
        <p:nvCxnSpPr>
          <p:cNvPr id="39" name="直線接點 40">
            <a:extLst>
              <a:ext uri="{FF2B5EF4-FFF2-40B4-BE49-F238E27FC236}">
                <a16:creationId xmlns:a16="http://schemas.microsoft.com/office/drawing/2014/main" id="{BFE14433-9FC2-42D8-85BE-F17F01F7B732}"/>
              </a:ext>
            </a:extLst>
          </p:cNvPr>
          <p:cNvCxnSpPr/>
          <p:nvPr/>
        </p:nvCxnSpPr>
        <p:spPr>
          <a:xfrm>
            <a:off x="928688" y="2425700"/>
            <a:ext cx="1606550" cy="1382713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41">
            <a:extLst>
              <a:ext uri="{FF2B5EF4-FFF2-40B4-BE49-F238E27FC236}">
                <a16:creationId xmlns:a16="http://schemas.microsoft.com/office/drawing/2014/main" id="{510696B2-8863-4985-99FF-8A18B237F7EB}"/>
              </a:ext>
            </a:extLst>
          </p:cNvPr>
          <p:cNvCxnSpPr/>
          <p:nvPr/>
        </p:nvCxnSpPr>
        <p:spPr>
          <a:xfrm>
            <a:off x="881063" y="3760788"/>
            <a:ext cx="1604962" cy="1382712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1" grpId="0" animBg="1"/>
      <p:bldP spid="31" grpId="1" animBg="1"/>
      <p:bldP spid="32" grpId="0" animBg="1"/>
      <p:bldP spid="33" grpId="0" animBg="1"/>
      <p:bldP spid="34" grpId="0" animBg="1"/>
      <p:bldP spid="36" grpId="0" animBg="1"/>
      <p:bldP spid="3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標題 1">
            <a:extLst>
              <a:ext uri="{FF2B5EF4-FFF2-40B4-BE49-F238E27FC236}">
                <a16:creationId xmlns:a16="http://schemas.microsoft.com/office/drawing/2014/main" id="{3FE99404-EE4B-402B-8E6E-0D5F0C44D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r>
              <a:rPr lang="en-US" altLang="zh-TW"/>
              <a:t>Convolution</a:t>
            </a:r>
            <a:endParaRPr lang="zh-TW" altLang="en-US"/>
          </a:p>
        </p:txBody>
      </p:sp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id="{40E0C0EB-B7C8-480F-AA52-33FF6F43E16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85838" y="2398713"/>
          <a:ext cx="2873376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581" name="文字方塊 4">
            <a:extLst>
              <a:ext uri="{FF2B5EF4-FFF2-40B4-BE49-F238E27FC236}">
                <a16:creationId xmlns:a16="http://schemas.microsoft.com/office/drawing/2014/main" id="{0910E00B-37F3-4A37-BAA7-C4647769A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363" y="5389563"/>
            <a:ext cx="23463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6 x 6 image</a:t>
            </a:r>
            <a:endParaRPr lang="zh-TW" altLang="en-US"/>
          </a:p>
        </p:txBody>
      </p:sp>
      <p:sp>
        <p:nvSpPr>
          <p:cNvPr id="7" name="橢圓 11">
            <a:extLst>
              <a:ext uri="{FF2B5EF4-FFF2-40B4-BE49-F238E27FC236}">
                <a16:creationId xmlns:a16="http://schemas.microsoft.com/office/drawing/2014/main" id="{B014EA8F-8887-4BCA-8C8A-D25102654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3" y="2787650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8" name="橢圓 12">
            <a:extLst>
              <a:ext uri="{FF2B5EF4-FFF2-40B4-BE49-F238E27FC236}">
                <a16:creationId xmlns:a16="http://schemas.microsoft.com/office/drawing/2014/main" id="{6A9C91F3-E92C-47D8-BE0D-AFFD35F3E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188" y="2787650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9" name="橢圓 13">
            <a:extLst>
              <a:ext uri="{FF2B5EF4-FFF2-40B4-BE49-F238E27FC236}">
                <a16:creationId xmlns:a16="http://schemas.microsoft.com/office/drawing/2014/main" id="{0EC956F1-39D7-4F04-8251-5D03BA55A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563" y="2787650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0" name="橢圓 14">
            <a:extLst>
              <a:ext uri="{FF2B5EF4-FFF2-40B4-BE49-F238E27FC236}">
                <a16:creationId xmlns:a16="http://schemas.microsoft.com/office/drawing/2014/main" id="{96ADF7D9-61A7-42EA-8A49-9DB91142A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938" y="2787650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1" name="橢圓 15">
            <a:extLst>
              <a:ext uri="{FF2B5EF4-FFF2-40B4-BE49-F238E27FC236}">
                <a16:creationId xmlns:a16="http://schemas.microsoft.com/office/drawing/2014/main" id="{00569244-3717-41E3-B72F-9751F1B15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3" y="3587750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2" name="橢圓 16">
            <a:extLst>
              <a:ext uri="{FF2B5EF4-FFF2-40B4-BE49-F238E27FC236}">
                <a16:creationId xmlns:a16="http://schemas.microsoft.com/office/drawing/2014/main" id="{7946EFFB-9074-4715-A0AA-37A24B756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188" y="3587750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3" name="橢圓 17">
            <a:extLst>
              <a:ext uri="{FF2B5EF4-FFF2-40B4-BE49-F238E27FC236}">
                <a16:creationId xmlns:a16="http://schemas.microsoft.com/office/drawing/2014/main" id="{72FF2727-FD07-4B7C-8EB0-1A19FB3DB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563" y="3587750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0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4" name="橢圓 18">
            <a:extLst>
              <a:ext uri="{FF2B5EF4-FFF2-40B4-BE49-F238E27FC236}">
                <a16:creationId xmlns:a16="http://schemas.microsoft.com/office/drawing/2014/main" id="{3DF811B9-4436-4E88-BE1D-7FF744BE2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938" y="3587750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5" name="橢圓 19">
            <a:extLst>
              <a:ext uri="{FF2B5EF4-FFF2-40B4-BE49-F238E27FC236}">
                <a16:creationId xmlns:a16="http://schemas.microsoft.com/office/drawing/2014/main" id="{C3596DCE-7056-4A3F-A42D-7E297C21E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3" y="4446588"/>
            <a:ext cx="719137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6" name="橢圓 20">
            <a:extLst>
              <a:ext uri="{FF2B5EF4-FFF2-40B4-BE49-F238E27FC236}">
                <a16:creationId xmlns:a16="http://schemas.microsoft.com/office/drawing/2014/main" id="{40368D95-1A18-4392-AAA6-AC6782918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188" y="4446588"/>
            <a:ext cx="719137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7" name="橢圓 21">
            <a:extLst>
              <a:ext uri="{FF2B5EF4-FFF2-40B4-BE49-F238E27FC236}">
                <a16:creationId xmlns:a16="http://schemas.microsoft.com/office/drawing/2014/main" id="{7B1DC7D2-47E2-4639-9DDF-E545EE5BA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563" y="4446588"/>
            <a:ext cx="720725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0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8" name="橢圓 22">
            <a:extLst>
              <a:ext uri="{FF2B5EF4-FFF2-40B4-BE49-F238E27FC236}">
                <a16:creationId xmlns:a16="http://schemas.microsoft.com/office/drawing/2014/main" id="{752BB5AD-63B1-4BA6-A4ED-2AFE10BBC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938" y="4446588"/>
            <a:ext cx="720725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9" name="橢圓 23">
            <a:extLst>
              <a:ext uri="{FF2B5EF4-FFF2-40B4-BE49-F238E27FC236}">
                <a16:creationId xmlns:a16="http://schemas.microsoft.com/office/drawing/2014/main" id="{D974E751-1C76-4DD2-9FC8-50482E4C2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3" y="5246688"/>
            <a:ext cx="719137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0" name="橢圓 24">
            <a:extLst>
              <a:ext uri="{FF2B5EF4-FFF2-40B4-BE49-F238E27FC236}">
                <a16:creationId xmlns:a16="http://schemas.microsoft.com/office/drawing/2014/main" id="{2E98A4CD-E0D8-4953-AE7A-4032F456E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188" y="5246688"/>
            <a:ext cx="719137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-2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1" name="橢圓 25">
            <a:extLst>
              <a:ext uri="{FF2B5EF4-FFF2-40B4-BE49-F238E27FC236}">
                <a16:creationId xmlns:a16="http://schemas.microsoft.com/office/drawing/2014/main" id="{92E9F2E1-F665-4F74-AD1D-EDBEAC933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563" y="5246688"/>
            <a:ext cx="720725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-2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2" name="橢圓 26">
            <a:extLst>
              <a:ext uri="{FF2B5EF4-FFF2-40B4-BE49-F238E27FC236}">
                <a16:creationId xmlns:a16="http://schemas.microsoft.com/office/drawing/2014/main" id="{D0B5C9F8-C391-4825-997D-F6756A361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938" y="5246688"/>
            <a:ext cx="720725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graphicFrame>
        <p:nvGraphicFramePr>
          <p:cNvPr id="23" name="表格 34">
            <a:extLst>
              <a:ext uri="{FF2B5EF4-FFF2-40B4-BE49-F238E27FC236}">
                <a16:creationId xmlns:a16="http://schemas.microsoft.com/office/drawing/2014/main" id="{E9FDE050-53A5-4F11-82FD-47BB8727BBBF}"/>
              </a:ext>
            </a:extLst>
          </p:cNvPr>
          <p:cNvGraphicFramePr>
            <a:graphicFrameLocks noGrp="1"/>
          </p:cNvGraphicFramePr>
          <p:nvPr/>
        </p:nvGraphicFramePr>
        <p:xfrm>
          <a:off x="5686425" y="365125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616" name="文字方塊 35">
            <a:extLst>
              <a:ext uri="{FF2B5EF4-FFF2-40B4-BE49-F238E27FC236}">
                <a16:creationId xmlns:a16="http://schemas.microsoft.com/office/drawing/2014/main" id="{9D294F24-C4F1-46EE-B29A-7A43FFDED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850" y="820738"/>
            <a:ext cx="1447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</a:rPr>
              <a:t>Filter 2</a:t>
            </a:r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25" name="矩形 36">
            <a:extLst>
              <a:ext uri="{FF2B5EF4-FFF2-40B4-BE49-F238E27FC236}">
                <a16:creationId xmlns:a16="http://schemas.microsoft.com/office/drawing/2014/main" id="{2A37C1E7-3901-45A9-AA90-A174CE2BD156}"/>
              </a:ext>
            </a:extLst>
          </p:cNvPr>
          <p:cNvSpPr/>
          <p:nvPr/>
        </p:nvSpPr>
        <p:spPr>
          <a:xfrm>
            <a:off x="985838" y="2398713"/>
            <a:ext cx="1416050" cy="1382712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6" name="矩形 37">
            <a:extLst>
              <a:ext uri="{FF2B5EF4-FFF2-40B4-BE49-F238E27FC236}">
                <a16:creationId xmlns:a16="http://schemas.microsoft.com/office/drawing/2014/main" id="{E8AFD83C-631E-4999-8830-A513BB4514DB}"/>
              </a:ext>
            </a:extLst>
          </p:cNvPr>
          <p:cNvSpPr/>
          <p:nvPr/>
        </p:nvSpPr>
        <p:spPr>
          <a:xfrm>
            <a:off x="1489075" y="2398713"/>
            <a:ext cx="1417638" cy="1382712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7" name="矩形 38">
            <a:extLst>
              <a:ext uri="{FF2B5EF4-FFF2-40B4-BE49-F238E27FC236}">
                <a16:creationId xmlns:a16="http://schemas.microsoft.com/office/drawing/2014/main" id="{B45C5C79-38C8-4626-99DD-3249953A0F3F}"/>
              </a:ext>
            </a:extLst>
          </p:cNvPr>
          <p:cNvSpPr/>
          <p:nvPr/>
        </p:nvSpPr>
        <p:spPr>
          <a:xfrm>
            <a:off x="1930400" y="2400300"/>
            <a:ext cx="1417638" cy="1382713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8" name="矩形 39">
            <a:extLst>
              <a:ext uri="{FF2B5EF4-FFF2-40B4-BE49-F238E27FC236}">
                <a16:creationId xmlns:a16="http://schemas.microsoft.com/office/drawing/2014/main" id="{FED9383B-D8DF-42E2-BF7B-D58D8923A336}"/>
              </a:ext>
            </a:extLst>
          </p:cNvPr>
          <p:cNvSpPr/>
          <p:nvPr/>
        </p:nvSpPr>
        <p:spPr>
          <a:xfrm>
            <a:off x="2406650" y="2398713"/>
            <a:ext cx="1417638" cy="1382712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9" name="矩形 40">
            <a:extLst>
              <a:ext uri="{FF2B5EF4-FFF2-40B4-BE49-F238E27FC236}">
                <a16:creationId xmlns:a16="http://schemas.microsoft.com/office/drawing/2014/main" id="{FEBAEE8F-AF9E-4CB3-A43B-B1124A8D5DC2}"/>
              </a:ext>
            </a:extLst>
          </p:cNvPr>
          <p:cNvSpPr/>
          <p:nvPr/>
        </p:nvSpPr>
        <p:spPr>
          <a:xfrm>
            <a:off x="985838" y="2809875"/>
            <a:ext cx="1416050" cy="1382713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0" name="橢圓 41">
            <a:extLst>
              <a:ext uri="{FF2B5EF4-FFF2-40B4-BE49-F238E27FC236}">
                <a16:creationId xmlns:a16="http://schemas.microsoft.com/office/drawing/2014/main" id="{FA4DCC49-C976-4879-811E-D5A2030BC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2995613"/>
            <a:ext cx="720725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1" name="橢圓 42">
            <a:extLst>
              <a:ext uri="{FF2B5EF4-FFF2-40B4-BE49-F238E27FC236}">
                <a16:creationId xmlns:a16="http://schemas.microsoft.com/office/drawing/2014/main" id="{7FA0BD3F-3359-4A55-9451-106ACEEED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0" y="2995613"/>
            <a:ext cx="720725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2" name="橢圓 43">
            <a:extLst>
              <a:ext uri="{FF2B5EF4-FFF2-40B4-BE49-F238E27FC236}">
                <a16:creationId xmlns:a16="http://schemas.microsoft.com/office/drawing/2014/main" id="{4BDF6D40-D79D-49EC-A918-47393991B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713" y="2995613"/>
            <a:ext cx="719137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3" name="橢圓 44">
            <a:extLst>
              <a:ext uri="{FF2B5EF4-FFF2-40B4-BE49-F238E27FC236}">
                <a16:creationId xmlns:a16="http://schemas.microsoft.com/office/drawing/2014/main" id="{0E209EBA-4C54-4100-BDAF-B7597F1AA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1088" y="2995613"/>
            <a:ext cx="720725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4" name="橢圓 45">
            <a:extLst>
              <a:ext uri="{FF2B5EF4-FFF2-40B4-BE49-F238E27FC236}">
                <a16:creationId xmlns:a16="http://schemas.microsoft.com/office/drawing/2014/main" id="{C25E385D-A1B0-405F-BF73-F0EA945C5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3795713"/>
            <a:ext cx="720725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5" name="橢圓 46">
            <a:extLst>
              <a:ext uri="{FF2B5EF4-FFF2-40B4-BE49-F238E27FC236}">
                <a16:creationId xmlns:a16="http://schemas.microsoft.com/office/drawing/2014/main" id="{89A39698-A4A0-43D4-A3FA-E46666645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0" y="3795713"/>
            <a:ext cx="720725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6" name="橢圓 47">
            <a:extLst>
              <a:ext uri="{FF2B5EF4-FFF2-40B4-BE49-F238E27FC236}">
                <a16:creationId xmlns:a16="http://schemas.microsoft.com/office/drawing/2014/main" id="{2981AB00-43EC-4AAB-89F6-1256EF27C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713" y="3795713"/>
            <a:ext cx="719137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-2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7" name="橢圓 48">
            <a:extLst>
              <a:ext uri="{FF2B5EF4-FFF2-40B4-BE49-F238E27FC236}">
                <a16:creationId xmlns:a16="http://schemas.microsoft.com/office/drawing/2014/main" id="{0991554B-6F04-4C97-AF0D-63FCC5964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1088" y="3795713"/>
            <a:ext cx="720725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8" name="橢圓 49">
            <a:extLst>
              <a:ext uri="{FF2B5EF4-FFF2-40B4-BE49-F238E27FC236}">
                <a16:creationId xmlns:a16="http://schemas.microsoft.com/office/drawing/2014/main" id="{B66A57C5-5947-48AF-B8A1-370072920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4654550"/>
            <a:ext cx="720725" cy="719138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9" name="橢圓 50">
            <a:extLst>
              <a:ext uri="{FF2B5EF4-FFF2-40B4-BE49-F238E27FC236}">
                <a16:creationId xmlns:a16="http://schemas.microsoft.com/office/drawing/2014/main" id="{C2DD4AEB-7ED3-437A-BD51-F5C702E59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0" y="4654550"/>
            <a:ext cx="720725" cy="719138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0" name="橢圓 51">
            <a:extLst>
              <a:ext uri="{FF2B5EF4-FFF2-40B4-BE49-F238E27FC236}">
                <a16:creationId xmlns:a16="http://schemas.microsoft.com/office/drawing/2014/main" id="{403AE523-8842-4557-8C10-3D1D2D71E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713" y="4654550"/>
            <a:ext cx="719137" cy="719138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-2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1" name="橢圓 52">
            <a:extLst>
              <a:ext uri="{FF2B5EF4-FFF2-40B4-BE49-F238E27FC236}">
                <a16:creationId xmlns:a16="http://schemas.microsoft.com/office/drawing/2014/main" id="{4D36E608-4AC5-4B34-B978-0D95BD84A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1088" y="4654550"/>
            <a:ext cx="720725" cy="719138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2" name="橢圓 53">
            <a:extLst>
              <a:ext uri="{FF2B5EF4-FFF2-40B4-BE49-F238E27FC236}">
                <a16:creationId xmlns:a16="http://schemas.microsoft.com/office/drawing/2014/main" id="{96BA18BD-A126-41DB-A481-60CCBD1EC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5454650"/>
            <a:ext cx="720725" cy="719138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3" name="橢圓 54">
            <a:extLst>
              <a:ext uri="{FF2B5EF4-FFF2-40B4-BE49-F238E27FC236}">
                <a16:creationId xmlns:a16="http://schemas.microsoft.com/office/drawing/2014/main" id="{DDE13AFD-85C4-4027-9B11-6EE7CAC4F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0" y="5454650"/>
            <a:ext cx="720725" cy="719138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0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4" name="橢圓 55">
            <a:extLst>
              <a:ext uri="{FF2B5EF4-FFF2-40B4-BE49-F238E27FC236}">
                <a16:creationId xmlns:a16="http://schemas.microsoft.com/office/drawing/2014/main" id="{29FD58BF-29CC-41C2-9B7F-2D0614B98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713" y="5454650"/>
            <a:ext cx="719137" cy="719138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-4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5" name="橢圓 56">
            <a:extLst>
              <a:ext uri="{FF2B5EF4-FFF2-40B4-BE49-F238E27FC236}">
                <a16:creationId xmlns:a16="http://schemas.microsoft.com/office/drawing/2014/main" id="{A6BCDAA4-3C45-4B23-BBD5-E1747D56A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1088" y="5454650"/>
            <a:ext cx="720725" cy="719138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6" name="文字方塊 2">
            <a:extLst>
              <a:ext uri="{FF2B5EF4-FFF2-40B4-BE49-F238E27FC236}">
                <a16:creationId xmlns:a16="http://schemas.microsoft.com/office/drawing/2014/main" id="{B157C961-7E90-4C41-A56F-762F4A167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2057400"/>
            <a:ext cx="4572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2800">
                <a:solidFill>
                  <a:srgbClr val="0000FF"/>
                </a:solidFill>
              </a:rPr>
              <a:t>Repeat this for each filter</a:t>
            </a:r>
            <a:endParaRPr lang="zh-TW" altLang="en-US" sz="2800">
              <a:solidFill>
                <a:srgbClr val="0000FF"/>
              </a:solidFill>
            </a:endParaRPr>
          </a:p>
        </p:txBody>
      </p:sp>
      <p:sp>
        <p:nvSpPr>
          <p:cNvPr id="47" name="矩形 57">
            <a:extLst>
              <a:ext uri="{FF2B5EF4-FFF2-40B4-BE49-F238E27FC236}">
                <a16:creationId xmlns:a16="http://schemas.microsoft.com/office/drawing/2014/main" id="{18C27F29-3AAD-4E8E-8798-BD587B69F0AC}"/>
              </a:ext>
            </a:extLst>
          </p:cNvPr>
          <p:cNvSpPr/>
          <p:nvPr/>
        </p:nvSpPr>
        <p:spPr>
          <a:xfrm>
            <a:off x="2416175" y="3783013"/>
            <a:ext cx="1416050" cy="1382712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2640" name="矩形 58">
            <a:extLst>
              <a:ext uri="{FF2B5EF4-FFF2-40B4-BE49-F238E27FC236}">
                <a16:creationId xmlns:a16="http://schemas.microsoft.com/office/drawing/2014/main" id="{F19D711B-C2B4-4B04-8811-B84A758DB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6813" y="1731963"/>
            <a:ext cx="12080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s</a:t>
            </a:r>
            <a:r>
              <a:rPr lang="zh-TW" altLang="en-US"/>
              <a:t>tride</a:t>
            </a:r>
            <a:r>
              <a:rPr lang="en-US" altLang="zh-TW"/>
              <a:t>=1</a:t>
            </a:r>
            <a:endParaRPr lang="zh-TW" altLang="en-US"/>
          </a:p>
        </p:txBody>
      </p:sp>
      <p:sp>
        <p:nvSpPr>
          <p:cNvPr id="49" name="文字方塊 59">
            <a:extLst>
              <a:ext uri="{FF2B5EF4-FFF2-40B4-BE49-F238E27FC236}">
                <a16:creationId xmlns:a16="http://schemas.microsoft.com/office/drawing/2014/main" id="{0D3EA65B-131E-4C9D-AFE2-E595F2B75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6172200"/>
            <a:ext cx="3657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 sz="2000">
                <a:solidFill>
                  <a:srgbClr val="FF0000"/>
                </a:solidFill>
              </a:rPr>
              <a:t>Two 4 x 4 images</a:t>
            </a:r>
          </a:p>
          <a:p>
            <a:pPr algn="ctr" eaLnBrk="1" hangingPunct="1"/>
            <a:r>
              <a:rPr lang="en-US" altLang="zh-TW" sz="2000">
                <a:solidFill>
                  <a:srgbClr val="FF0000"/>
                </a:solidFill>
              </a:rPr>
              <a:t>Forming 2 x 4 x 4 matrix</a:t>
            </a:r>
            <a:endParaRPr lang="zh-TW" altLang="en-US" sz="2000">
              <a:solidFill>
                <a:srgbClr val="FF0000"/>
              </a:solidFill>
            </a:endParaRPr>
          </a:p>
        </p:txBody>
      </p:sp>
      <p:sp>
        <p:nvSpPr>
          <p:cNvPr id="50" name="矩形 5">
            <a:extLst>
              <a:ext uri="{FF2B5EF4-FFF2-40B4-BE49-F238E27FC236}">
                <a16:creationId xmlns:a16="http://schemas.microsoft.com/office/drawing/2014/main" id="{FB6F42FB-3EE2-479B-A002-BDEEA75312B7}"/>
              </a:ext>
            </a:extLst>
          </p:cNvPr>
          <p:cNvSpPr/>
          <p:nvPr/>
        </p:nvSpPr>
        <p:spPr>
          <a:xfrm>
            <a:off x="5334000" y="4038600"/>
            <a:ext cx="2320925" cy="97313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800" dirty="0">
                <a:solidFill>
                  <a:srgbClr val="000000"/>
                </a:solidFill>
              </a:rPr>
              <a:t>Feature</a:t>
            </a:r>
          </a:p>
          <a:p>
            <a:pPr algn="ctr">
              <a:defRPr/>
            </a:pPr>
            <a:r>
              <a:rPr lang="en-US" altLang="zh-TW" sz="2800" dirty="0">
                <a:solidFill>
                  <a:srgbClr val="000000"/>
                </a:solidFill>
              </a:rPr>
              <a:t>Map</a:t>
            </a:r>
            <a:endParaRPr lang="zh-TW" altLang="en-US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/>
      <p:bldP spid="47" grpId="0" animBg="1"/>
      <p:bldP spid="49" grpId="0"/>
      <p:bldP spid="5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標題 1">
            <a:extLst>
              <a:ext uri="{FF2B5EF4-FFF2-40B4-BE49-F238E27FC236}">
                <a16:creationId xmlns:a16="http://schemas.microsoft.com/office/drawing/2014/main" id="{67AB0B9D-ADC4-4C19-8C8B-D32D75AB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r>
              <a:rPr lang="en-US" altLang="zh-TW"/>
              <a:t>Color image: RGB 3 channels</a:t>
            </a:r>
            <a:endParaRPr lang="zh-TW" altLang="en-US"/>
          </a:p>
        </p:txBody>
      </p:sp>
      <p:graphicFrame>
        <p:nvGraphicFramePr>
          <p:cNvPr id="6" name="內容版面配置區 3">
            <a:extLst>
              <a:ext uri="{FF2B5EF4-FFF2-40B4-BE49-F238E27FC236}">
                <a16:creationId xmlns:a16="http://schemas.microsoft.com/office/drawing/2014/main" id="{8F973ADD-4611-45C0-B055-7F9655348B46}"/>
              </a:ext>
            </a:extLst>
          </p:cNvPr>
          <p:cNvGraphicFramePr>
            <a:graphicFrameLocks/>
          </p:cNvGraphicFramePr>
          <p:nvPr/>
        </p:nvGraphicFramePr>
        <p:xfrm>
          <a:off x="4954588" y="3441700"/>
          <a:ext cx="2873376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3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內容版面配置區 3">
            <a:extLst>
              <a:ext uri="{FF2B5EF4-FFF2-40B4-BE49-F238E27FC236}">
                <a16:creationId xmlns:a16="http://schemas.microsoft.com/office/drawing/2014/main" id="{5EB04DF2-937C-447C-AC13-DB95D949BA8C}"/>
              </a:ext>
            </a:extLst>
          </p:cNvPr>
          <p:cNvGraphicFramePr>
            <a:graphicFrameLocks/>
          </p:cNvGraphicFramePr>
          <p:nvPr/>
        </p:nvGraphicFramePr>
        <p:xfrm>
          <a:off x="5118100" y="3648075"/>
          <a:ext cx="2873376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內容版面配置區 3">
            <a:extLst>
              <a:ext uri="{FF2B5EF4-FFF2-40B4-BE49-F238E27FC236}">
                <a16:creationId xmlns:a16="http://schemas.microsoft.com/office/drawing/2014/main" id="{42A9AC61-A7EF-4C7F-8538-037E817159D1}"/>
              </a:ext>
            </a:extLst>
          </p:cNvPr>
          <p:cNvGraphicFramePr>
            <a:graphicFrameLocks/>
          </p:cNvGraphicFramePr>
          <p:nvPr/>
        </p:nvGraphicFramePr>
        <p:xfrm>
          <a:off x="5324475" y="3849688"/>
          <a:ext cx="2873376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7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0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5B5FB3F1-40A7-40E2-8A30-42FA6021F4FC}"/>
              </a:ext>
            </a:extLst>
          </p:cNvPr>
          <p:cNvGraphicFramePr>
            <a:graphicFrameLocks noGrp="1"/>
          </p:cNvGraphicFramePr>
          <p:nvPr/>
        </p:nvGraphicFramePr>
        <p:xfrm>
          <a:off x="2967038" y="1614488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831DEE04-C9A2-4EB7-AFA0-A4A84FAEB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6775" y="2341563"/>
            <a:ext cx="1447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Filter 1</a:t>
            </a:r>
            <a:endParaRPr lang="zh-TW" altLang="en-US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8C131C08-B507-46A0-BA18-AB208797E554}"/>
              </a:ext>
            </a:extLst>
          </p:cNvPr>
          <p:cNvGraphicFramePr>
            <a:graphicFrameLocks noGrp="1"/>
          </p:cNvGraphicFramePr>
          <p:nvPr/>
        </p:nvGraphicFramePr>
        <p:xfrm>
          <a:off x="5972175" y="1573213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51579CE4-90EA-4511-B1E2-5F2AE9B0A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0325" y="2301875"/>
            <a:ext cx="14493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Filter 2</a:t>
            </a:r>
            <a:endParaRPr lang="zh-TW" altLang="en-US"/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74A77796-B95D-4E14-84F5-9454010A574C}"/>
              </a:ext>
            </a:extLst>
          </p:cNvPr>
          <p:cNvGraphicFramePr>
            <a:graphicFrameLocks noGrp="1"/>
          </p:cNvGraphicFramePr>
          <p:nvPr/>
        </p:nvGraphicFramePr>
        <p:xfrm>
          <a:off x="3119438" y="1766888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382A9F5E-B10C-4D42-AB5C-8FE6076C8BDC}"/>
              </a:ext>
            </a:extLst>
          </p:cNvPr>
          <p:cNvGraphicFramePr>
            <a:graphicFrameLocks noGrp="1"/>
          </p:cNvGraphicFramePr>
          <p:nvPr/>
        </p:nvGraphicFramePr>
        <p:xfrm>
          <a:off x="3271838" y="1882775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5AC43080-5352-4EFF-9CE0-F0F0C60B63D3}"/>
              </a:ext>
            </a:extLst>
          </p:cNvPr>
          <p:cNvGraphicFramePr>
            <a:graphicFrameLocks noGrp="1"/>
          </p:cNvGraphicFramePr>
          <p:nvPr/>
        </p:nvGraphicFramePr>
        <p:xfrm>
          <a:off x="6124575" y="1708150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9E379518-DECF-4DFA-9C83-9B7A5B674098}"/>
              </a:ext>
            </a:extLst>
          </p:cNvPr>
          <p:cNvGraphicFramePr>
            <a:graphicFrameLocks noGrp="1"/>
          </p:cNvGraphicFramePr>
          <p:nvPr/>
        </p:nvGraphicFramePr>
        <p:xfrm>
          <a:off x="6276975" y="1860550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向右箭號 4">
            <a:extLst>
              <a:ext uri="{FF2B5EF4-FFF2-40B4-BE49-F238E27FC236}">
                <a16:creationId xmlns:a16="http://schemas.microsoft.com/office/drawing/2014/main" id="{F4D0787B-C63B-49A1-B5B9-B3BD732A5E93}"/>
              </a:ext>
            </a:extLst>
          </p:cNvPr>
          <p:cNvSpPr/>
          <p:nvPr/>
        </p:nvSpPr>
        <p:spPr>
          <a:xfrm>
            <a:off x="4295775" y="4379913"/>
            <a:ext cx="508000" cy="868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1D501387-A481-4C1D-9EF9-3F8BD0189899}"/>
              </a:ext>
            </a:extLst>
          </p:cNvPr>
          <p:cNvGrpSpPr>
            <a:grpSpLocks/>
          </p:cNvGrpSpPr>
          <p:nvPr/>
        </p:nvGrpSpPr>
        <p:grpSpPr bwMode="auto">
          <a:xfrm>
            <a:off x="354013" y="3059113"/>
            <a:ext cx="3927475" cy="3630612"/>
            <a:chOff x="353684" y="3059766"/>
            <a:chExt cx="3927508" cy="3629534"/>
          </a:xfrm>
        </p:grpSpPr>
        <p:pic>
          <p:nvPicPr>
            <p:cNvPr id="23819" name="圖片 3">
              <a:extLst>
                <a:ext uri="{FF2B5EF4-FFF2-40B4-BE49-F238E27FC236}">
                  <a16:creationId xmlns:a16="http://schemas.microsoft.com/office/drawing/2014/main" id="{0524CCE5-EA46-4F88-8224-404AEB38CC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122" y="3442427"/>
              <a:ext cx="3907070" cy="32468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820" name="文字方塊 16">
              <a:extLst>
                <a:ext uri="{FF2B5EF4-FFF2-40B4-BE49-F238E27FC236}">
                  <a16:creationId xmlns:a16="http://schemas.microsoft.com/office/drawing/2014/main" id="{18400575-F540-47A6-BF6B-F2BBB1DEA5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684" y="3059766"/>
              <a:ext cx="19976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TW"/>
                <a:t>Color image</a:t>
              </a:r>
              <a:endParaRPr lang="zh-TW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535D1090-A2E6-4C4D-BE4E-E18070CA27D7}"/>
              </a:ext>
            </a:extLst>
          </p:cNvPr>
          <p:cNvGraphicFramePr>
            <a:graphicFrameLocks/>
          </p:cNvGraphicFramePr>
          <p:nvPr/>
        </p:nvGraphicFramePr>
        <p:xfrm>
          <a:off x="1450975" y="1289050"/>
          <a:ext cx="1804986" cy="17240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8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08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08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34" marB="2873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628" name="文字方塊 4">
            <a:extLst>
              <a:ext uri="{FF2B5EF4-FFF2-40B4-BE49-F238E27FC236}">
                <a16:creationId xmlns:a16="http://schemas.microsoft.com/office/drawing/2014/main" id="{BAEB8FBE-3103-441C-842E-DA583C69A9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75" y="3013075"/>
            <a:ext cx="1246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image</a:t>
            </a:r>
            <a:endParaRPr lang="zh-TW" altLang="en-US"/>
          </a:p>
        </p:txBody>
      </p:sp>
      <p:pic>
        <p:nvPicPr>
          <p:cNvPr id="24629" name="圖片 5">
            <a:extLst>
              <a:ext uri="{FF2B5EF4-FFF2-40B4-BE49-F238E27FC236}">
                <a16:creationId xmlns:a16="http://schemas.microsoft.com/office/drawing/2014/main" id="{0B428727-D754-4853-B580-9C664B6A6F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2463" y="1312863"/>
            <a:ext cx="1916112" cy="187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向右箭號 62">
            <a:extLst>
              <a:ext uri="{FF2B5EF4-FFF2-40B4-BE49-F238E27FC236}">
                <a16:creationId xmlns:a16="http://schemas.microsoft.com/office/drawing/2014/main" id="{C8EAA5E0-7F91-4940-B3BB-B633110EAA97}"/>
              </a:ext>
            </a:extLst>
          </p:cNvPr>
          <p:cNvSpPr/>
          <p:nvPr/>
        </p:nvSpPr>
        <p:spPr>
          <a:xfrm>
            <a:off x="3673475" y="2151063"/>
            <a:ext cx="1881188" cy="6667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4631" name="文字方塊 7">
            <a:extLst>
              <a:ext uri="{FF2B5EF4-FFF2-40B4-BE49-F238E27FC236}">
                <a16:creationId xmlns:a16="http://schemas.microsoft.com/office/drawing/2014/main" id="{7A07B892-04DF-4516-9827-A0213EAC0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743200"/>
            <a:ext cx="20050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convolution</a:t>
            </a:r>
            <a:endParaRPr lang="zh-TW" altLang="en-US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C4E31CF-F510-482B-85D7-5BF5959609BC}"/>
              </a:ext>
            </a:extLst>
          </p:cNvPr>
          <p:cNvGraphicFramePr>
            <a:graphicFrameLocks noGrp="1"/>
          </p:cNvGraphicFramePr>
          <p:nvPr/>
        </p:nvGraphicFramePr>
        <p:xfrm>
          <a:off x="4586288" y="1268413"/>
          <a:ext cx="963612" cy="8143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1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14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4319" marR="54319" marT="27146" marB="2714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54319" marR="54319" marT="27146" marB="2714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4319" marR="54319" marT="27146" marB="2714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4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4319" marR="54319" marT="27146" marB="2714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54319" marR="54319" marT="27146" marB="2714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4319" marR="54319" marT="27146" marB="2714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4319" marR="54319" marT="27146" marB="2714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54319" marR="54319" marT="27146" marB="2714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4319" marR="54319" marT="27146" marB="2714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B3119118-967D-4E09-9D8F-F7119A8ECD68}"/>
              </a:ext>
            </a:extLst>
          </p:cNvPr>
          <p:cNvGraphicFramePr>
            <a:graphicFrameLocks noGrp="1"/>
          </p:cNvGraphicFramePr>
          <p:nvPr/>
        </p:nvGraphicFramePr>
        <p:xfrm>
          <a:off x="3503613" y="1273175"/>
          <a:ext cx="947736" cy="8016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5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72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53424" marR="53424" marT="26701" marB="2670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3424" marR="53424" marT="26701" marB="2670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3424" marR="53424" marT="26701" marB="2670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2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3424" marR="53424" marT="26701" marB="2670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53424" marR="53424" marT="26701" marB="2670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3424" marR="53424" marT="26701" marB="2670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2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3424" marR="53424" marT="26701" marB="2670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3424" marR="53424" marT="26701" marB="2670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53424" marR="53424" marT="26701" marB="2670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矩形 11">
            <a:extLst>
              <a:ext uri="{FF2B5EF4-FFF2-40B4-BE49-F238E27FC236}">
                <a16:creationId xmlns:a16="http://schemas.microsoft.com/office/drawing/2014/main" id="{6F10FE8F-CF9D-4A74-854A-EA0F348B6941}"/>
              </a:ext>
            </a:extLst>
          </p:cNvPr>
          <p:cNvSpPr/>
          <p:nvPr/>
        </p:nvSpPr>
        <p:spPr>
          <a:xfrm>
            <a:off x="1041400" y="1046163"/>
            <a:ext cx="7089775" cy="26035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2" name="矩形 39">
            <a:extLst>
              <a:ext uri="{FF2B5EF4-FFF2-40B4-BE49-F238E27FC236}">
                <a16:creationId xmlns:a16="http://schemas.microsoft.com/office/drawing/2014/main" id="{FF4DB92E-C8C7-44C6-A17A-CC791C384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2088" y="3898900"/>
            <a:ext cx="498475" cy="2624138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3" name="矩形 40">
            <a:extLst>
              <a:ext uri="{FF2B5EF4-FFF2-40B4-BE49-F238E27FC236}">
                <a16:creationId xmlns:a16="http://schemas.microsoft.com/office/drawing/2014/main" id="{2299F23C-4414-4250-8035-B676B4A22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350" y="4616450"/>
            <a:ext cx="342900" cy="342900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4" name="矩形 41">
            <a:extLst>
              <a:ext uri="{FF2B5EF4-FFF2-40B4-BE49-F238E27FC236}">
                <a16:creationId xmlns:a16="http://schemas.microsoft.com/office/drawing/2014/main" id="{625A4308-487D-4C0C-95F5-0871AB5DF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6700" y="4044950"/>
            <a:ext cx="342900" cy="342900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dk1"/>
              </a:solidFill>
              <a:latin typeface="+mn-lt"/>
              <a:ea typeface="+mn-ea"/>
            </a:endParaRPr>
          </a:p>
        </p:txBody>
      </p:sp>
      <p:graphicFrame>
        <p:nvGraphicFramePr>
          <p:cNvPr id="24672" name="Object 12">
            <a:extLst>
              <a:ext uri="{FF2B5EF4-FFF2-40B4-BE49-F238E27FC236}">
                <a16:creationId xmlns:a16="http://schemas.microsoft.com/office/drawing/2014/main" id="{75BDBD56-06FF-4366-839D-DB7E81D9C7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59400" y="3949700"/>
          <a:ext cx="325438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方程式" r:id="rId4" imgW="3505200" imgH="4978400" progId="Equation.3">
                  <p:embed/>
                </p:oleObj>
              </mc:Choice>
              <mc:Fallback>
                <p:oleObj name="方程式" r:id="rId4" imgW="3505200" imgH="4978400" progId="Equation.3">
                  <p:embed/>
                  <p:pic>
                    <p:nvPicPr>
                      <p:cNvPr id="24672" name="Object 12">
                        <a:extLst>
                          <a:ext uri="{FF2B5EF4-FFF2-40B4-BE49-F238E27FC236}">
                            <a16:creationId xmlns:a16="http://schemas.microsoft.com/office/drawing/2014/main" id="{75BDBD56-06FF-4366-839D-DB7E81D9C7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9400" y="3949700"/>
                        <a:ext cx="325438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3" name="Object 12">
            <a:extLst>
              <a:ext uri="{FF2B5EF4-FFF2-40B4-BE49-F238E27FC236}">
                <a16:creationId xmlns:a16="http://schemas.microsoft.com/office/drawing/2014/main" id="{0E57F8E3-91F7-477A-B273-9AEF277AE0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4533900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方程式" r:id="rId6" imgW="3797300" imgH="4978400" progId="Equation.3">
                  <p:embed/>
                </p:oleObj>
              </mc:Choice>
              <mc:Fallback>
                <p:oleObj name="方程式" r:id="rId6" imgW="3797300" imgH="4978400" progId="Equation.3">
                  <p:embed/>
                  <p:pic>
                    <p:nvPicPr>
                      <p:cNvPr id="24673" name="Object 12">
                        <a:extLst>
                          <a:ext uri="{FF2B5EF4-FFF2-40B4-BE49-F238E27FC236}">
                            <a16:creationId xmlns:a16="http://schemas.microsoft.com/office/drawing/2014/main" id="{0E57F8E3-91F7-477A-B273-9AEF277AE0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4533900"/>
                        <a:ext cx="352425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44">
            <a:extLst>
              <a:ext uri="{FF2B5EF4-FFF2-40B4-BE49-F238E27FC236}">
                <a16:creationId xmlns:a16="http://schemas.microsoft.com/office/drawing/2014/main" id="{A3CBA824-486C-4D6F-95CB-B300F51D9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0" y="3870325"/>
            <a:ext cx="746125" cy="2676525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8" name="橢圓 45">
            <a:extLst>
              <a:ext uri="{FF2B5EF4-FFF2-40B4-BE49-F238E27FC236}">
                <a16:creationId xmlns:a16="http://schemas.microsoft.com/office/drawing/2014/main" id="{E5187D66-2CB8-41C7-8C6E-BC18C681A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3886200"/>
            <a:ext cx="574675" cy="57467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9" name="橢圓 46">
            <a:extLst>
              <a:ext uri="{FF2B5EF4-FFF2-40B4-BE49-F238E27FC236}">
                <a16:creationId xmlns:a16="http://schemas.microsoft.com/office/drawing/2014/main" id="{E00BBD41-3445-41C1-BE98-7AD47F84E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263" y="4660900"/>
            <a:ext cx="573087" cy="573088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0" name="橢圓 47">
            <a:extLst>
              <a:ext uri="{FF2B5EF4-FFF2-40B4-BE49-F238E27FC236}">
                <a16:creationId xmlns:a16="http://schemas.microsoft.com/office/drawing/2014/main" id="{FB1F9100-86BB-424D-A609-DC2999372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3563" y="5888038"/>
            <a:ext cx="574675" cy="57467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4678" name="文字方塊 48">
            <a:extLst>
              <a:ext uri="{FF2B5EF4-FFF2-40B4-BE49-F238E27FC236}">
                <a16:creationId xmlns:a16="http://schemas.microsoft.com/office/drawing/2014/main" id="{2E7595FB-4A2E-4ED8-9567-8F1198FAD8A1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6911976" y="5310187"/>
            <a:ext cx="768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 sz="2800"/>
              <a:t>……</a:t>
            </a:r>
            <a:endParaRPr lang="zh-TW" altLang="en-US" sz="2800"/>
          </a:p>
        </p:txBody>
      </p:sp>
      <p:sp>
        <p:nvSpPr>
          <p:cNvPr id="22" name="矩形 49">
            <a:extLst>
              <a:ext uri="{FF2B5EF4-FFF2-40B4-BE49-F238E27FC236}">
                <a16:creationId xmlns:a16="http://schemas.microsoft.com/office/drawing/2014/main" id="{FD6997F1-DFD1-4F66-A9D1-D840F5383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9875" y="6013450"/>
            <a:ext cx="342900" cy="342900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dk1"/>
              </a:solidFill>
              <a:latin typeface="+mn-lt"/>
              <a:ea typeface="+mn-ea"/>
            </a:endParaRPr>
          </a:p>
        </p:txBody>
      </p:sp>
      <p:graphicFrame>
        <p:nvGraphicFramePr>
          <p:cNvPr id="24680" name="Object 12">
            <a:extLst>
              <a:ext uri="{FF2B5EF4-FFF2-40B4-BE49-F238E27FC236}">
                <a16:creationId xmlns:a16="http://schemas.microsoft.com/office/drawing/2014/main" id="{FC3CA49B-6005-41D8-BCC7-F5FA5C80BF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19713" y="5918200"/>
          <a:ext cx="4619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方程式" r:id="rId8" imgW="4978400" imgH="5270500" progId="Equation.3">
                  <p:embed/>
                </p:oleObj>
              </mc:Choice>
              <mc:Fallback>
                <p:oleObj name="方程式" r:id="rId8" imgW="4978400" imgH="5270500" progId="Equation.3">
                  <p:embed/>
                  <p:pic>
                    <p:nvPicPr>
                      <p:cNvPr id="24680" name="Object 12">
                        <a:extLst>
                          <a:ext uri="{FF2B5EF4-FFF2-40B4-BE49-F238E27FC236}">
                            <a16:creationId xmlns:a16="http://schemas.microsoft.com/office/drawing/2014/main" id="{FC3CA49B-6005-41D8-BCC7-F5FA5C80BF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9713" y="5918200"/>
                        <a:ext cx="461962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81" name="文字方塊 51">
            <a:extLst>
              <a:ext uri="{FF2B5EF4-FFF2-40B4-BE49-F238E27FC236}">
                <a16:creationId xmlns:a16="http://schemas.microsoft.com/office/drawing/2014/main" id="{0B2A38E1-DDC1-4F57-9E55-0D66779EFC51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241132" y="5260181"/>
            <a:ext cx="7683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 sz="2800"/>
              <a:t>……</a:t>
            </a:r>
            <a:endParaRPr lang="zh-TW" altLang="en-US" sz="2800"/>
          </a:p>
        </p:txBody>
      </p:sp>
      <p:cxnSp>
        <p:nvCxnSpPr>
          <p:cNvPr id="25" name="直線單箭頭接點 52">
            <a:extLst>
              <a:ext uri="{FF2B5EF4-FFF2-40B4-BE49-F238E27FC236}">
                <a16:creationId xmlns:a16="http://schemas.microsoft.com/office/drawing/2014/main" id="{9F5B1D8A-792A-428D-ACBF-324BFFDEA19B}"/>
              </a:ext>
            </a:extLst>
          </p:cNvPr>
          <p:cNvCxnSpPr>
            <a:endCxn id="18" idx="2"/>
          </p:cNvCxnSpPr>
          <p:nvPr/>
        </p:nvCxnSpPr>
        <p:spPr>
          <a:xfrm flipV="1">
            <a:off x="5695950" y="4173538"/>
            <a:ext cx="1238250" cy="127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53">
            <a:extLst>
              <a:ext uri="{FF2B5EF4-FFF2-40B4-BE49-F238E27FC236}">
                <a16:creationId xmlns:a16="http://schemas.microsoft.com/office/drawing/2014/main" id="{4D7B2F46-1AD7-4EFC-8DF1-94AEFACBD1FC}"/>
              </a:ext>
            </a:extLst>
          </p:cNvPr>
          <p:cNvCxnSpPr>
            <a:stCxn id="14" idx="3"/>
            <a:endCxn id="19" idx="2"/>
          </p:cNvCxnSpPr>
          <p:nvPr/>
        </p:nvCxnSpPr>
        <p:spPr>
          <a:xfrm>
            <a:off x="5689600" y="4216400"/>
            <a:ext cx="1236663" cy="73025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54">
            <a:extLst>
              <a:ext uri="{FF2B5EF4-FFF2-40B4-BE49-F238E27FC236}">
                <a16:creationId xmlns:a16="http://schemas.microsoft.com/office/drawing/2014/main" id="{DC4BBA8B-9799-4168-B745-4C2112AEDBF2}"/>
              </a:ext>
            </a:extLst>
          </p:cNvPr>
          <p:cNvCxnSpPr>
            <a:stCxn id="14" idx="3"/>
            <a:endCxn id="20" idx="2"/>
          </p:cNvCxnSpPr>
          <p:nvPr/>
        </p:nvCxnSpPr>
        <p:spPr>
          <a:xfrm>
            <a:off x="5689600" y="4216400"/>
            <a:ext cx="1223963" cy="195897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55">
            <a:extLst>
              <a:ext uri="{FF2B5EF4-FFF2-40B4-BE49-F238E27FC236}">
                <a16:creationId xmlns:a16="http://schemas.microsoft.com/office/drawing/2014/main" id="{3328BB88-768C-475E-B69A-1AF986A0D6EF}"/>
              </a:ext>
            </a:extLst>
          </p:cNvPr>
          <p:cNvCxnSpPr>
            <a:endCxn id="18" idx="2"/>
          </p:cNvCxnSpPr>
          <p:nvPr/>
        </p:nvCxnSpPr>
        <p:spPr>
          <a:xfrm flipV="1">
            <a:off x="5727700" y="4173538"/>
            <a:ext cx="1206500" cy="5953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56">
            <a:extLst>
              <a:ext uri="{FF2B5EF4-FFF2-40B4-BE49-F238E27FC236}">
                <a16:creationId xmlns:a16="http://schemas.microsoft.com/office/drawing/2014/main" id="{409E9BC6-9B1B-425C-9E90-CAF4017AEE8B}"/>
              </a:ext>
            </a:extLst>
          </p:cNvPr>
          <p:cNvCxnSpPr>
            <a:stCxn id="13" idx="3"/>
            <a:endCxn id="19" idx="2"/>
          </p:cNvCxnSpPr>
          <p:nvPr/>
        </p:nvCxnSpPr>
        <p:spPr>
          <a:xfrm>
            <a:off x="5683250" y="4787900"/>
            <a:ext cx="1243013" cy="15875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57">
            <a:extLst>
              <a:ext uri="{FF2B5EF4-FFF2-40B4-BE49-F238E27FC236}">
                <a16:creationId xmlns:a16="http://schemas.microsoft.com/office/drawing/2014/main" id="{3DE454E5-9917-4599-A478-7FFDB6E72EB4}"/>
              </a:ext>
            </a:extLst>
          </p:cNvPr>
          <p:cNvCxnSpPr>
            <a:stCxn id="13" idx="3"/>
            <a:endCxn id="20" idx="2"/>
          </p:cNvCxnSpPr>
          <p:nvPr/>
        </p:nvCxnSpPr>
        <p:spPr>
          <a:xfrm>
            <a:off x="5683250" y="4787900"/>
            <a:ext cx="1230313" cy="138747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58">
            <a:extLst>
              <a:ext uri="{FF2B5EF4-FFF2-40B4-BE49-F238E27FC236}">
                <a16:creationId xmlns:a16="http://schemas.microsoft.com/office/drawing/2014/main" id="{DD2FA631-F46E-4C39-B647-289209E50DB0}"/>
              </a:ext>
            </a:extLst>
          </p:cNvPr>
          <p:cNvCxnSpPr>
            <a:endCxn id="18" idx="2"/>
          </p:cNvCxnSpPr>
          <p:nvPr/>
        </p:nvCxnSpPr>
        <p:spPr>
          <a:xfrm flipV="1">
            <a:off x="5792788" y="4173538"/>
            <a:ext cx="1141412" cy="19939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59">
            <a:extLst>
              <a:ext uri="{FF2B5EF4-FFF2-40B4-BE49-F238E27FC236}">
                <a16:creationId xmlns:a16="http://schemas.microsoft.com/office/drawing/2014/main" id="{F9E31A19-7CD6-4E28-A6C8-8DA03C944D43}"/>
              </a:ext>
            </a:extLst>
          </p:cNvPr>
          <p:cNvCxnSpPr>
            <a:endCxn id="19" idx="2"/>
          </p:cNvCxnSpPr>
          <p:nvPr/>
        </p:nvCxnSpPr>
        <p:spPr>
          <a:xfrm flipV="1">
            <a:off x="5781675" y="4946650"/>
            <a:ext cx="1144588" cy="12160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60">
            <a:extLst>
              <a:ext uri="{FF2B5EF4-FFF2-40B4-BE49-F238E27FC236}">
                <a16:creationId xmlns:a16="http://schemas.microsoft.com/office/drawing/2014/main" id="{8249D17D-09FC-442B-9706-98858926A95D}"/>
              </a:ext>
            </a:extLst>
          </p:cNvPr>
          <p:cNvCxnSpPr>
            <a:endCxn id="20" idx="2"/>
          </p:cNvCxnSpPr>
          <p:nvPr/>
        </p:nvCxnSpPr>
        <p:spPr>
          <a:xfrm>
            <a:off x="5781675" y="6162675"/>
            <a:ext cx="1131888" cy="127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內容版面配置區 3">
            <a:extLst>
              <a:ext uri="{FF2B5EF4-FFF2-40B4-BE49-F238E27FC236}">
                <a16:creationId xmlns:a16="http://schemas.microsoft.com/office/drawing/2014/main" id="{6B00ECA4-2F60-4142-905C-71BD02108E47}"/>
              </a:ext>
            </a:extLst>
          </p:cNvPr>
          <p:cNvGraphicFramePr>
            <a:graphicFrameLocks/>
          </p:cNvGraphicFramePr>
          <p:nvPr/>
        </p:nvGraphicFramePr>
        <p:xfrm>
          <a:off x="3332163" y="4275138"/>
          <a:ext cx="1804986" cy="17224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8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08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08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0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07" marB="2870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0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0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0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0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0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742" name="矩形 68">
            <a:extLst>
              <a:ext uri="{FF2B5EF4-FFF2-40B4-BE49-F238E27FC236}">
                <a16:creationId xmlns:a16="http://schemas.microsoft.com/office/drawing/2014/main" id="{0C6E0E25-760B-4AB3-94AE-406AB1AAD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88" y="150813"/>
            <a:ext cx="5638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3200" b="1" i="1" u="sng"/>
              <a:t>Convolution v.s. Fully Connected</a:t>
            </a:r>
            <a:endParaRPr lang="zh-TW" altLang="en-US" sz="3200" b="1" i="1" u="sng"/>
          </a:p>
        </p:txBody>
      </p:sp>
      <p:sp>
        <p:nvSpPr>
          <p:cNvPr id="24743" name="文字方塊 69">
            <a:extLst>
              <a:ext uri="{FF2B5EF4-FFF2-40B4-BE49-F238E27FC236}">
                <a16:creationId xmlns:a16="http://schemas.microsoft.com/office/drawing/2014/main" id="{3DE4E53B-FCBE-4272-A79C-9AD9E9F66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4687888"/>
            <a:ext cx="193675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2800"/>
              <a:t>Fully-connected</a:t>
            </a:r>
            <a:endParaRPr lang="zh-TW" altLang="en-US" sz="2800"/>
          </a:p>
        </p:txBody>
      </p:sp>
      <p:sp>
        <p:nvSpPr>
          <p:cNvPr id="37" name="矩形 71">
            <a:extLst>
              <a:ext uri="{FF2B5EF4-FFF2-40B4-BE49-F238E27FC236}">
                <a16:creationId xmlns:a16="http://schemas.microsoft.com/office/drawing/2014/main" id="{F33BE874-8098-4217-BB65-CC1AA37784F7}"/>
              </a:ext>
            </a:extLst>
          </p:cNvPr>
          <p:cNvSpPr/>
          <p:nvPr/>
        </p:nvSpPr>
        <p:spPr>
          <a:xfrm>
            <a:off x="6732588" y="3797300"/>
            <a:ext cx="915987" cy="274955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8" name="矩形 72">
            <a:extLst>
              <a:ext uri="{FF2B5EF4-FFF2-40B4-BE49-F238E27FC236}">
                <a16:creationId xmlns:a16="http://schemas.microsoft.com/office/drawing/2014/main" id="{1CF6E010-0405-4894-A31A-A75380D82303}"/>
              </a:ext>
            </a:extLst>
          </p:cNvPr>
          <p:cNvSpPr/>
          <p:nvPr/>
        </p:nvSpPr>
        <p:spPr>
          <a:xfrm>
            <a:off x="5667375" y="1233488"/>
            <a:ext cx="2084388" cy="205740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99E55953-7DA1-4720-9E5D-E38236B6EFBD}"/>
              </a:ext>
            </a:extLst>
          </p:cNvPr>
          <p:cNvGraphicFramePr>
            <a:graphicFrameLocks/>
          </p:cNvGraphicFramePr>
          <p:nvPr/>
        </p:nvGraphicFramePr>
        <p:xfrm>
          <a:off x="400050" y="1849438"/>
          <a:ext cx="2873376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652" name="文字方塊 4">
            <a:extLst>
              <a:ext uri="{FF2B5EF4-FFF2-40B4-BE49-F238E27FC236}">
                <a16:creationId xmlns:a16="http://schemas.microsoft.com/office/drawing/2014/main" id="{68AE9F01-7F33-418F-89A1-6C3E867096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5" y="4640263"/>
            <a:ext cx="2347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6 x 6 image</a:t>
            </a:r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DC97FE6-07E7-42AA-BA54-6130D34A8738}"/>
              </a:ext>
            </a:extLst>
          </p:cNvPr>
          <p:cNvGraphicFramePr>
            <a:graphicFrameLocks noGrp="1"/>
          </p:cNvGraphicFramePr>
          <p:nvPr/>
        </p:nvGraphicFramePr>
        <p:xfrm>
          <a:off x="400050" y="152400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7E923D84-D5B3-43C1-A9F0-78FCE10A9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6263" y="236538"/>
            <a:ext cx="1447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Filter 1</a:t>
            </a:r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12E5CC-6BF6-42FE-9D1E-3E2495C33C3E}"/>
              </a:ext>
            </a:extLst>
          </p:cNvPr>
          <p:cNvSpPr/>
          <p:nvPr/>
        </p:nvSpPr>
        <p:spPr>
          <a:xfrm>
            <a:off x="400050" y="1849438"/>
            <a:ext cx="1417638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pic>
        <p:nvPicPr>
          <p:cNvPr id="9" name="圖片 31">
            <a:extLst>
              <a:ext uri="{FF2B5EF4-FFF2-40B4-BE49-F238E27FC236}">
                <a16:creationId xmlns:a16="http://schemas.microsoft.com/office/drawing/2014/main" id="{E74DB64D-32FD-4FD3-B758-0A1AFAD2A6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375" y="1196975"/>
            <a:ext cx="2239963" cy="2227263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42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線單箭頭接點 33">
            <a:extLst>
              <a:ext uri="{FF2B5EF4-FFF2-40B4-BE49-F238E27FC236}">
                <a16:creationId xmlns:a16="http://schemas.microsoft.com/office/drawing/2014/main" id="{92E51BA3-B4B7-43BF-A3FC-AD0163DF3129}"/>
              </a:ext>
            </a:extLst>
          </p:cNvPr>
          <p:cNvCxnSpPr/>
          <p:nvPr/>
        </p:nvCxnSpPr>
        <p:spPr>
          <a:xfrm>
            <a:off x="2022475" y="838200"/>
            <a:ext cx="860425" cy="5699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34">
            <a:extLst>
              <a:ext uri="{FF2B5EF4-FFF2-40B4-BE49-F238E27FC236}">
                <a16:creationId xmlns:a16="http://schemas.microsoft.com/office/drawing/2014/main" id="{2795F977-F865-4F0F-9963-E0FC31574653}"/>
              </a:ext>
            </a:extLst>
          </p:cNvPr>
          <p:cNvCxnSpPr/>
          <p:nvPr/>
        </p:nvCxnSpPr>
        <p:spPr>
          <a:xfrm flipV="1">
            <a:off x="1839913" y="1571625"/>
            <a:ext cx="1042987" cy="965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37">
            <a:extLst>
              <a:ext uri="{FF2B5EF4-FFF2-40B4-BE49-F238E27FC236}">
                <a16:creationId xmlns:a16="http://schemas.microsoft.com/office/drawing/2014/main" id="{290C171D-1AE3-4846-9716-158F138BF6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125" y="49213"/>
            <a:ext cx="387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1</a:t>
            </a:r>
            <a:endParaRPr lang="zh-TW" altLang="en-US"/>
          </a:p>
        </p:txBody>
      </p:sp>
      <p:sp>
        <p:nvSpPr>
          <p:cNvPr id="13" name="文字方塊 38">
            <a:extLst>
              <a:ext uri="{FF2B5EF4-FFF2-40B4-BE49-F238E27FC236}">
                <a16:creationId xmlns:a16="http://schemas.microsoft.com/office/drawing/2014/main" id="{8F5E206C-1D80-40FE-90B1-A5D7C318B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125" y="511175"/>
            <a:ext cx="387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2</a:t>
            </a:r>
            <a:endParaRPr lang="zh-TW" altLang="en-US"/>
          </a:p>
        </p:txBody>
      </p:sp>
      <p:sp>
        <p:nvSpPr>
          <p:cNvPr id="14" name="文字方塊 39">
            <a:extLst>
              <a:ext uri="{FF2B5EF4-FFF2-40B4-BE49-F238E27FC236}">
                <a16:creationId xmlns:a16="http://schemas.microsoft.com/office/drawing/2014/main" id="{64B9F071-9339-453A-9E7D-B262135E8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125" y="960438"/>
            <a:ext cx="387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3</a:t>
            </a:r>
            <a:endParaRPr lang="zh-TW" altLang="en-US"/>
          </a:p>
        </p:txBody>
      </p:sp>
      <p:sp>
        <p:nvSpPr>
          <p:cNvPr id="15" name="文字方塊 40">
            <a:extLst>
              <a:ext uri="{FF2B5EF4-FFF2-40B4-BE49-F238E27FC236}">
                <a16:creationId xmlns:a16="http://schemas.microsoft.com/office/drawing/2014/main" id="{27585B5F-3F7E-43B2-94DF-B7D8736BB78B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308600" y="1811338"/>
            <a:ext cx="8207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 sz="2800" b="1"/>
              <a:t>…</a:t>
            </a:r>
            <a:endParaRPr lang="zh-TW" altLang="en-US" sz="2800" b="1"/>
          </a:p>
        </p:txBody>
      </p:sp>
      <p:sp>
        <p:nvSpPr>
          <p:cNvPr id="17" name="文字方塊 42">
            <a:extLst>
              <a:ext uri="{FF2B5EF4-FFF2-40B4-BE49-F238E27FC236}">
                <a16:creationId xmlns:a16="http://schemas.microsoft.com/office/drawing/2014/main" id="{A1963803-9D91-4E1A-92D4-5D68EC45F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000" y="2701925"/>
            <a:ext cx="3873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8</a:t>
            </a:r>
            <a:endParaRPr lang="zh-TW" altLang="en-US"/>
          </a:p>
        </p:txBody>
      </p:sp>
      <p:sp>
        <p:nvSpPr>
          <p:cNvPr id="18" name="文字方塊 43">
            <a:extLst>
              <a:ext uri="{FF2B5EF4-FFF2-40B4-BE49-F238E27FC236}">
                <a16:creationId xmlns:a16="http://schemas.microsoft.com/office/drawing/2014/main" id="{A9A0F110-DAA3-4BE5-9BD3-CD0443CBD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000" y="3151188"/>
            <a:ext cx="387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9</a:t>
            </a:r>
            <a:endParaRPr lang="zh-TW" altLang="en-US"/>
          </a:p>
        </p:txBody>
      </p:sp>
      <p:sp>
        <p:nvSpPr>
          <p:cNvPr id="19" name="文字方塊 44">
            <a:extLst>
              <a:ext uri="{FF2B5EF4-FFF2-40B4-BE49-F238E27FC236}">
                <a16:creationId xmlns:a16="http://schemas.microsoft.com/office/drawing/2014/main" id="{24EE67E7-2743-4F4F-8A35-06AA3E288B87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446713" y="3987800"/>
            <a:ext cx="539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 sz="2800" b="1"/>
              <a:t>…</a:t>
            </a:r>
            <a:endParaRPr lang="zh-TW" altLang="en-US" sz="2800" b="1"/>
          </a:p>
        </p:txBody>
      </p:sp>
      <p:sp>
        <p:nvSpPr>
          <p:cNvPr id="20" name="文字方塊 45">
            <a:extLst>
              <a:ext uri="{FF2B5EF4-FFF2-40B4-BE49-F238E27FC236}">
                <a16:creationId xmlns:a16="http://schemas.microsoft.com/office/drawing/2014/main" id="{51007906-BED4-405A-86E8-594FB9CCB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0" y="4438650"/>
            <a:ext cx="5222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13</a:t>
            </a:r>
            <a:endParaRPr lang="zh-TW" altLang="en-US"/>
          </a:p>
        </p:txBody>
      </p:sp>
      <p:sp>
        <p:nvSpPr>
          <p:cNvPr id="21" name="文字方塊 46">
            <a:extLst>
              <a:ext uri="{FF2B5EF4-FFF2-40B4-BE49-F238E27FC236}">
                <a16:creationId xmlns:a16="http://schemas.microsoft.com/office/drawing/2014/main" id="{51948A4B-23BF-4E51-ABB8-C668FDCC1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5900" y="4902200"/>
            <a:ext cx="523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14</a:t>
            </a:r>
            <a:endParaRPr lang="zh-TW" altLang="en-US"/>
          </a:p>
        </p:txBody>
      </p:sp>
      <p:sp>
        <p:nvSpPr>
          <p:cNvPr id="22" name="文字方塊 47">
            <a:extLst>
              <a:ext uri="{FF2B5EF4-FFF2-40B4-BE49-F238E27FC236}">
                <a16:creationId xmlns:a16="http://schemas.microsoft.com/office/drawing/2014/main" id="{8DDF0D45-7366-4923-B65E-ADC172C31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5900" y="5380038"/>
            <a:ext cx="596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15</a:t>
            </a:r>
            <a:endParaRPr lang="zh-TW" altLang="en-US"/>
          </a:p>
        </p:txBody>
      </p:sp>
      <p:sp>
        <p:nvSpPr>
          <p:cNvPr id="23" name="文字方塊 48">
            <a:extLst>
              <a:ext uri="{FF2B5EF4-FFF2-40B4-BE49-F238E27FC236}">
                <a16:creationId xmlns:a16="http://schemas.microsoft.com/office/drawing/2014/main" id="{BC63A98F-7B0B-4DC8-9072-0B0BA557DC6B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495131" y="6217444"/>
            <a:ext cx="4238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 sz="2800" b="1"/>
              <a:t>…</a:t>
            </a:r>
            <a:endParaRPr lang="zh-TW" altLang="en-US" sz="2800" b="1"/>
          </a:p>
        </p:txBody>
      </p:sp>
      <p:sp>
        <p:nvSpPr>
          <p:cNvPr id="24" name="文字方塊 49">
            <a:extLst>
              <a:ext uri="{FF2B5EF4-FFF2-40B4-BE49-F238E27FC236}">
                <a16:creationId xmlns:a16="http://schemas.microsoft.com/office/drawing/2014/main" id="{B7287824-69B0-4D21-AC3F-5EA5CB9A4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6050" y="5303838"/>
            <a:ext cx="2370138" cy="1200150"/>
          </a:xfrm>
          <a:prstGeom prst="rect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Only connect to 9 inputs, not fully connected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5" name="文字方塊 50">
            <a:extLst>
              <a:ext uri="{FF2B5EF4-FFF2-40B4-BE49-F238E27FC236}">
                <a16:creationId xmlns:a16="http://schemas.microsoft.com/office/drawing/2014/main" id="{E50E0AEE-155C-4FFF-A901-2734ECEFF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4650" y="1408113"/>
            <a:ext cx="3889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4:</a:t>
            </a:r>
            <a:endParaRPr lang="zh-TW" altLang="en-US"/>
          </a:p>
        </p:txBody>
      </p:sp>
      <p:sp>
        <p:nvSpPr>
          <p:cNvPr id="26" name="文字方塊 51">
            <a:extLst>
              <a:ext uri="{FF2B5EF4-FFF2-40B4-BE49-F238E27FC236}">
                <a16:creationId xmlns:a16="http://schemas.microsoft.com/office/drawing/2014/main" id="{16D59A94-412F-4366-99AB-8DE1A0F9A5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9225" y="3562350"/>
            <a:ext cx="639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TW"/>
              <a:t>10:</a:t>
            </a:r>
            <a:endParaRPr lang="zh-TW" altLang="en-US"/>
          </a:p>
        </p:txBody>
      </p:sp>
      <p:sp>
        <p:nvSpPr>
          <p:cNvPr id="27" name="文字方塊 52">
            <a:extLst>
              <a:ext uri="{FF2B5EF4-FFF2-40B4-BE49-F238E27FC236}">
                <a16:creationId xmlns:a16="http://schemas.microsoft.com/office/drawing/2014/main" id="{B2CBE61C-F3C2-4E51-ABF5-F78823AAD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1138" y="5789613"/>
            <a:ext cx="596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16</a:t>
            </a:r>
            <a:endParaRPr lang="zh-TW" altLang="en-US"/>
          </a:p>
        </p:txBody>
      </p:sp>
      <p:sp>
        <p:nvSpPr>
          <p:cNvPr id="28" name="矩形 54">
            <a:extLst>
              <a:ext uri="{FF2B5EF4-FFF2-40B4-BE49-F238E27FC236}">
                <a16:creationId xmlns:a16="http://schemas.microsoft.com/office/drawing/2014/main" id="{1F4FEF24-F390-4455-AA22-BC2486348F43}"/>
              </a:ext>
            </a:extLst>
          </p:cNvPr>
          <p:cNvSpPr/>
          <p:nvPr/>
        </p:nvSpPr>
        <p:spPr>
          <a:xfrm>
            <a:off x="5888038" y="146050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9" name="矩形 55">
            <a:extLst>
              <a:ext uri="{FF2B5EF4-FFF2-40B4-BE49-F238E27FC236}">
                <a16:creationId xmlns:a16="http://schemas.microsoft.com/office/drawing/2014/main" id="{A326348A-5A48-4A76-922A-212A40D7FB08}"/>
              </a:ext>
            </a:extLst>
          </p:cNvPr>
          <p:cNvSpPr/>
          <p:nvPr/>
        </p:nvSpPr>
        <p:spPr>
          <a:xfrm>
            <a:off x="5888038" y="614363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0" name="矩形 56">
            <a:extLst>
              <a:ext uri="{FF2B5EF4-FFF2-40B4-BE49-F238E27FC236}">
                <a16:creationId xmlns:a16="http://schemas.microsoft.com/office/drawing/2014/main" id="{A3F66ED7-EE54-4CC3-9ED7-3EC19C4BB0A7}"/>
              </a:ext>
            </a:extLst>
          </p:cNvPr>
          <p:cNvSpPr/>
          <p:nvPr/>
        </p:nvSpPr>
        <p:spPr>
          <a:xfrm>
            <a:off x="5888038" y="1057275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1" name="矩形 57">
            <a:extLst>
              <a:ext uri="{FF2B5EF4-FFF2-40B4-BE49-F238E27FC236}">
                <a16:creationId xmlns:a16="http://schemas.microsoft.com/office/drawing/2014/main" id="{19DDF75F-988B-44F3-BEA0-8226C8B97B54}"/>
              </a:ext>
            </a:extLst>
          </p:cNvPr>
          <p:cNvSpPr/>
          <p:nvPr/>
        </p:nvSpPr>
        <p:spPr>
          <a:xfrm>
            <a:off x="5888038" y="1517650"/>
            <a:ext cx="269875" cy="2714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2" name="矩形 58">
            <a:extLst>
              <a:ext uri="{FF2B5EF4-FFF2-40B4-BE49-F238E27FC236}">
                <a16:creationId xmlns:a16="http://schemas.microsoft.com/office/drawing/2014/main" id="{AF902D73-C4E9-441C-B9B8-6A8E86A65AFE}"/>
              </a:ext>
            </a:extLst>
          </p:cNvPr>
          <p:cNvSpPr/>
          <p:nvPr/>
        </p:nvSpPr>
        <p:spPr>
          <a:xfrm>
            <a:off x="5888038" y="2355850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3" name="矩形 59">
            <a:extLst>
              <a:ext uri="{FF2B5EF4-FFF2-40B4-BE49-F238E27FC236}">
                <a16:creationId xmlns:a16="http://schemas.microsoft.com/office/drawing/2014/main" id="{1B54A56F-D85C-4946-A998-DBA07A0843E6}"/>
              </a:ext>
            </a:extLst>
          </p:cNvPr>
          <p:cNvSpPr/>
          <p:nvPr/>
        </p:nvSpPr>
        <p:spPr>
          <a:xfrm>
            <a:off x="5888038" y="2825750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34" name="矩形 60">
            <a:extLst>
              <a:ext uri="{FF2B5EF4-FFF2-40B4-BE49-F238E27FC236}">
                <a16:creationId xmlns:a16="http://schemas.microsoft.com/office/drawing/2014/main" id="{98A8EF47-495A-4343-92F1-DFB040C0C78E}"/>
              </a:ext>
            </a:extLst>
          </p:cNvPr>
          <p:cNvSpPr/>
          <p:nvPr/>
        </p:nvSpPr>
        <p:spPr>
          <a:xfrm>
            <a:off x="5888038" y="3267075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5" name="矩形 61">
            <a:extLst>
              <a:ext uri="{FF2B5EF4-FFF2-40B4-BE49-F238E27FC236}">
                <a16:creationId xmlns:a16="http://schemas.microsoft.com/office/drawing/2014/main" id="{943146FD-6EB3-4F82-99C4-9C342E117B76}"/>
              </a:ext>
            </a:extLst>
          </p:cNvPr>
          <p:cNvSpPr/>
          <p:nvPr/>
        </p:nvSpPr>
        <p:spPr>
          <a:xfrm>
            <a:off x="5888038" y="3729038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6" name="矩形 62">
            <a:extLst>
              <a:ext uri="{FF2B5EF4-FFF2-40B4-BE49-F238E27FC236}">
                <a16:creationId xmlns:a16="http://schemas.microsoft.com/office/drawing/2014/main" id="{091C55B5-619A-40A8-B146-4E24E929542B}"/>
              </a:ext>
            </a:extLst>
          </p:cNvPr>
          <p:cNvSpPr/>
          <p:nvPr/>
        </p:nvSpPr>
        <p:spPr>
          <a:xfrm>
            <a:off x="5888038" y="4519613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7" name="矩形 63">
            <a:extLst>
              <a:ext uri="{FF2B5EF4-FFF2-40B4-BE49-F238E27FC236}">
                <a16:creationId xmlns:a16="http://schemas.microsoft.com/office/drawing/2014/main" id="{58F93778-7683-4F9E-BBE5-7525DDEDE785}"/>
              </a:ext>
            </a:extLst>
          </p:cNvPr>
          <p:cNvSpPr/>
          <p:nvPr/>
        </p:nvSpPr>
        <p:spPr>
          <a:xfrm>
            <a:off x="5888038" y="4987925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8" name="矩形 64">
            <a:extLst>
              <a:ext uri="{FF2B5EF4-FFF2-40B4-BE49-F238E27FC236}">
                <a16:creationId xmlns:a16="http://schemas.microsoft.com/office/drawing/2014/main" id="{F55F0462-8906-4B62-AAB5-B177589F9DE4}"/>
              </a:ext>
            </a:extLst>
          </p:cNvPr>
          <p:cNvSpPr/>
          <p:nvPr/>
        </p:nvSpPr>
        <p:spPr>
          <a:xfrm>
            <a:off x="5888038" y="5430838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39" name="矩形 65">
            <a:extLst>
              <a:ext uri="{FF2B5EF4-FFF2-40B4-BE49-F238E27FC236}">
                <a16:creationId xmlns:a16="http://schemas.microsoft.com/office/drawing/2014/main" id="{F9D98E15-6963-4AE5-B6C9-5A2861611DD1}"/>
              </a:ext>
            </a:extLst>
          </p:cNvPr>
          <p:cNvSpPr/>
          <p:nvPr/>
        </p:nvSpPr>
        <p:spPr>
          <a:xfrm>
            <a:off x="5888038" y="5892800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1</a:t>
            </a:r>
            <a:endParaRPr lang="zh-TW" altLang="en-US" sz="2400" dirty="0"/>
          </a:p>
        </p:txBody>
      </p:sp>
      <p:cxnSp>
        <p:nvCxnSpPr>
          <p:cNvPr id="40" name="直線單箭頭接點 67">
            <a:extLst>
              <a:ext uri="{FF2B5EF4-FFF2-40B4-BE49-F238E27FC236}">
                <a16:creationId xmlns:a16="http://schemas.microsoft.com/office/drawing/2014/main" id="{53B5B838-97DD-4F1D-8927-C199C5DB2E6A}"/>
              </a:ext>
            </a:extLst>
          </p:cNvPr>
          <p:cNvCxnSpPr>
            <a:stCxn id="28" idx="3"/>
          </p:cNvCxnSpPr>
          <p:nvPr/>
        </p:nvCxnSpPr>
        <p:spPr>
          <a:xfrm>
            <a:off x="6157913" y="280988"/>
            <a:ext cx="1420812" cy="127635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68">
            <a:extLst>
              <a:ext uri="{FF2B5EF4-FFF2-40B4-BE49-F238E27FC236}">
                <a16:creationId xmlns:a16="http://schemas.microsoft.com/office/drawing/2014/main" id="{9E828C29-2F0F-4E99-A6B9-8807169B9AA7}"/>
              </a:ext>
            </a:extLst>
          </p:cNvPr>
          <p:cNvCxnSpPr>
            <a:stCxn id="29" idx="3"/>
          </p:cNvCxnSpPr>
          <p:nvPr/>
        </p:nvCxnSpPr>
        <p:spPr>
          <a:xfrm>
            <a:off x="6157913" y="749300"/>
            <a:ext cx="1420812" cy="8080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70">
            <a:extLst>
              <a:ext uri="{FF2B5EF4-FFF2-40B4-BE49-F238E27FC236}">
                <a16:creationId xmlns:a16="http://schemas.microsoft.com/office/drawing/2014/main" id="{BF8168EC-BCFE-478B-81F7-0C4211A994A7}"/>
              </a:ext>
            </a:extLst>
          </p:cNvPr>
          <p:cNvCxnSpPr>
            <a:stCxn id="30" idx="3"/>
          </p:cNvCxnSpPr>
          <p:nvPr/>
        </p:nvCxnSpPr>
        <p:spPr>
          <a:xfrm>
            <a:off x="6157913" y="1192213"/>
            <a:ext cx="1420812" cy="365125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78">
            <a:extLst>
              <a:ext uri="{FF2B5EF4-FFF2-40B4-BE49-F238E27FC236}">
                <a16:creationId xmlns:a16="http://schemas.microsoft.com/office/drawing/2014/main" id="{DF15512F-50C8-4D41-A211-CCA670EBD250}"/>
              </a:ext>
            </a:extLst>
          </p:cNvPr>
          <p:cNvCxnSpPr/>
          <p:nvPr/>
        </p:nvCxnSpPr>
        <p:spPr>
          <a:xfrm flipV="1">
            <a:off x="6176963" y="1597025"/>
            <a:ext cx="1350962" cy="893763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79">
            <a:extLst>
              <a:ext uri="{FF2B5EF4-FFF2-40B4-BE49-F238E27FC236}">
                <a16:creationId xmlns:a16="http://schemas.microsoft.com/office/drawing/2014/main" id="{847ADA6A-D469-4396-ABB8-0F1058CC195B}"/>
              </a:ext>
            </a:extLst>
          </p:cNvPr>
          <p:cNvCxnSpPr>
            <a:endCxn id="49" idx="2"/>
          </p:cNvCxnSpPr>
          <p:nvPr/>
        </p:nvCxnSpPr>
        <p:spPr>
          <a:xfrm flipV="1">
            <a:off x="6176963" y="1536700"/>
            <a:ext cx="1371600" cy="1416050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80">
            <a:extLst>
              <a:ext uri="{FF2B5EF4-FFF2-40B4-BE49-F238E27FC236}">
                <a16:creationId xmlns:a16="http://schemas.microsoft.com/office/drawing/2014/main" id="{FBCE131A-74EF-47F5-AF97-65FE5225335B}"/>
              </a:ext>
            </a:extLst>
          </p:cNvPr>
          <p:cNvCxnSpPr>
            <a:endCxn id="49" idx="2"/>
          </p:cNvCxnSpPr>
          <p:nvPr/>
        </p:nvCxnSpPr>
        <p:spPr>
          <a:xfrm flipV="1">
            <a:off x="6176963" y="1536700"/>
            <a:ext cx="1371600" cy="18637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81">
            <a:extLst>
              <a:ext uri="{FF2B5EF4-FFF2-40B4-BE49-F238E27FC236}">
                <a16:creationId xmlns:a16="http://schemas.microsoft.com/office/drawing/2014/main" id="{E4DD8693-6A64-43D1-A536-6EF8539ECD90}"/>
              </a:ext>
            </a:extLst>
          </p:cNvPr>
          <p:cNvCxnSpPr>
            <a:stCxn id="36" idx="3"/>
          </p:cNvCxnSpPr>
          <p:nvPr/>
        </p:nvCxnSpPr>
        <p:spPr>
          <a:xfrm flipV="1">
            <a:off x="6157913" y="1644650"/>
            <a:ext cx="1350962" cy="300990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82">
            <a:extLst>
              <a:ext uri="{FF2B5EF4-FFF2-40B4-BE49-F238E27FC236}">
                <a16:creationId xmlns:a16="http://schemas.microsoft.com/office/drawing/2014/main" id="{7BE9EC3D-1177-403F-A934-4438D7378366}"/>
              </a:ext>
            </a:extLst>
          </p:cNvPr>
          <p:cNvCxnSpPr>
            <a:endCxn id="49" idx="2"/>
          </p:cNvCxnSpPr>
          <p:nvPr/>
        </p:nvCxnSpPr>
        <p:spPr>
          <a:xfrm flipV="1">
            <a:off x="6157913" y="1536700"/>
            <a:ext cx="1390650" cy="356552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83">
            <a:extLst>
              <a:ext uri="{FF2B5EF4-FFF2-40B4-BE49-F238E27FC236}">
                <a16:creationId xmlns:a16="http://schemas.microsoft.com/office/drawing/2014/main" id="{038F7157-F735-4C7E-A07B-A73A3F212F20}"/>
              </a:ext>
            </a:extLst>
          </p:cNvPr>
          <p:cNvCxnSpPr>
            <a:endCxn id="49" idx="2"/>
          </p:cNvCxnSpPr>
          <p:nvPr/>
        </p:nvCxnSpPr>
        <p:spPr>
          <a:xfrm flipV="1">
            <a:off x="6157913" y="1536700"/>
            <a:ext cx="1390650" cy="401320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橢圓 108">
            <a:extLst>
              <a:ext uri="{FF2B5EF4-FFF2-40B4-BE49-F238E27FC236}">
                <a16:creationId xmlns:a16="http://schemas.microsoft.com/office/drawing/2014/main" id="{3972639A-B676-48CC-A2E8-F22F2391C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8563" y="1177925"/>
            <a:ext cx="720725" cy="7191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0" name="橢圓 116">
            <a:extLst>
              <a:ext uri="{FF2B5EF4-FFF2-40B4-BE49-F238E27FC236}">
                <a16:creationId xmlns:a16="http://schemas.microsoft.com/office/drawing/2014/main" id="{D9980EF4-A056-4512-8964-ED5A010C7E39}"/>
              </a:ext>
            </a:extLst>
          </p:cNvPr>
          <p:cNvSpPr/>
          <p:nvPr/>
        </p:nvSpPr>
        <p:spPr>
          <a:xfrm>
            <a:off x="446088" y="160338"/>
            <a:ext cx="455612" cy="455612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1" name="橢圓 117">
            <a:extLst>
              <a:ext uri="{FF2B5EF4-FFF2-40B4-BE49-F238E27FC236}">
                <a16:creationId xmlns:a16="http://schemas.microsoft.com/office/drawing/2014/main" id="{9FAA2AE1-855B-424C-8BA5-A0F5BB437F31}"/>
              </a:ext>
            </a:extLst>
          </p:cNvPr>
          <p:cNvSpPr/>
          <p:nvPr/>
        </p:nvSpPr>
        <p:spPr>
          <a:xfrm>
            <a:off x="998538" y="131763"/>
            <a:ext cx="455612" cy="45561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2" name="橢圓 118">
            <a:extLst>
              <a:ext uri="{FF2B5EF4-FFF2-40B4-BE49-F238E27FC236}">
                <a16:creationId xmlns:a16="http://schemas.microsoft.com/office/drawing/2014/main" id="{A9FD7D40-B5FB-4CBF-B07B-2E011D6A4B07}"/>
              </a:ext>
            </a:extLst>
          </p:cNvPr>
          <p:cNvSpPr/>
          <p:nvPr/>
        </p:nvSpPr>
        <p:spPr>
          <a:xfrm>
            <a:off x="1509713" y="146050"/>
            <a:ext cx="455612" cy="454025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3" name="橢圓 119">
            <a:extLst>
              <a:ext uri="{FF2B5EF4-FFF2-40B4-BE49-F238E27FC236}">
                <a16:creationId xmlns:a16="http://schemas.microsoft.com/office/drawing/2014/main" id="{5AEF9951-D7D3-4D68-A111-7A18C1E3F024}"/>
              </a:ext>
            </a:extLst>
          </p:cNvPr>
          <p:cNvSpPr/>
          <p:nvPr/>
        </p:nvSpPr>
        <p:spPr>
          <a:xfrm>
            <a:off x="446088" y="619125"/>
            <a:ext cx="455612" cy="455613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4" name="橢圓 120">
            <a:extLst>
              <a:ext uri="{FF2B5EF4-FFF2-40B4-BE49-F238E27FC236}">
                <a16:creationId xmlns:a16="http://schemas.microsoft.com/office/drawing/2014/main" id="{656ACDAE-B107-4C00-8690-8D8C1ABD4A6C}"/>
              </a:ext>
            </a:extLst>
          </p:cNvPr>
          <p:cNvSpPr/>
          <p:nvPr/>
        </p:nvSpPr>
        <p:spPr>
          <a:xfrm>
            <a:off x="998538" y="590550"/>
            <a:ext cx="455612" cy="455613"/>
          </a:xfrm>
          <a:prstGeom prst="ellipse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5" name="橢圓 121">
            <a:extLst>
              <a:ext uri="{FF2B5EF4-FFF2-40B4-BE49-F238E27FC236}">
                <a16:creationId xmlns:a16="http://schemas.microsoft.com/office/drawing/2014/main" id="{C5233A9A-D806-4CAD-AA34-7CC49E73AF2E}"/>
              </a:ext>
            </a:extLst>
          </p:cNvPr>
          <p:cNvSpPr/>
          <p:nvPr/>
        </p:nvSpPr>
        <p:spPr>
          <a:xfrm>
            <a:off x="1509713" y="603250"/>
            <a:ext cx="455612" cy="455613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6" name="橢圓 122">
            <a:extLst>
              <a:ext uri="{FF2B5EF4-FFF2-40B4-BE49-F238E27FC236}">
                <a16:creationId xmlns:a16="http://schemas.microsoft.com/office/drawing/2014/main" id="{078EAF5D-0B73-475B-A3F9-62EC02A867BE}"/>
              </a:ext>
            </a:extLst>
          </p:cNvPr>
          <p:cNvSpPr/>
          <p:nvPr/>
        </p:nvSpPr>
        <p:spPr>
          <a:xfrm>
            <a:off x="458788" y="1074738"/>
            <a:ext cx="455612" cy="455612"/>
          </a:xfrm>
          <a:prstGeom prst="ellipse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7" name="橢圓 123">
            <a:extLst>
              <a:ext uri="{FF2B5EF4-FFF2-40B4-BE49-F238E27FC236}">
                <a16:creationId xmlns:a16="http://schemas.microsoft.com/office/drawing/2014/main" id="{0C08DF6C-E28D-482D-821E-90D4B4A26BBE}"/>
              </a:ext>
            </a:extLst>
          </p:cNvPr>
          <p:cNvSpPr/>
          <p:nvPr/>
        </p:nvSpPr>
        <p:spPr>
          <a:xfrm>
            <a:off x="1011238" y="1046163"/>
            <a:ext cx="455612" cy="455612"/>
          </a:xfrm>
          <a:prstGeom prst="ellipse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8" name="橢圓 124">
            <a:extLst>
              <a:ext uri="{FF2B5EF4-FFF2-40B4-BE49-F238E27FC236}">
                <a16:creationId xmlns:a16="http://schemas.microsoft.com/office/drawing/2014/main" id="{EE3B2DFF-1FDE-4309-8E89-028A4CE05961}"/>
              </a:ext>
            </a:extLst>
          </p:cNvPr>
          <p:cNvSpPr/>
          <p:nvPr/>
        </p:nvSpPr>
        <p:spPr>
          <a:xfrm>
            <a:off x="1522413" y="1058863"/>
            <a:ext cx="455612" cy="455612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9" name="文字方塊 66">
            <a:extLst>
              <a:ext uri="{FF2B5EF4-FFF2-40B4-BE49-F238E27FC236}">
                <a16:creationId xmlns:a16="http://schemas.microsoft.com/office/drawing/2014/main" id="{08D0C579-5AC7-43B0-BDDA-D1757A7EC22B}"/>
              </a:ext>
            </a:extLst>
          </p:cNvPr>
          <p:cNvSpPr txBox="1"/>
          <p:nvPr/>
        </p:nvSpPr>
        <p:spPr>
          <a:xfrm>
            <a:off x="381000" y="5258561"/>
            <a:ext cx="3276600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zh-TW" sz="2800" dirty="0">
                <a:solidFill>
                  <a:srgbClr val="000000"/>
                </a:solidFill>
              </a:rPr>
              <a:t>fewer parameters!</a:t>
            </a:r>
            <a:endParaRPr lang="zh-TW" altLang="en-US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2" grpId="0"/>
      <p:bldP spid="13" grpId="0"/>
      <p:bldP spid="14" grpId="0"/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 animBg="1"/>
      <p:bldP spid="25" grpId="0"/>
      <p:bldP spid="26" grpId="0"/>
      <p:bldP spid="27" grpId="0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D988ADBA-61D1-459B-A18B-FF3395FA59DA}"/>
              </a:ext>
            </a:extLst>
          </p:cNvPr>
          <p:cNvGraphicFramePr>
            <a:graphicFrameLocks/>
          </p:cNvGraphicFramePr>
          <p:nvPr/>
        </p:nvGraphicFramePr>
        <p:xfrm>
          <a:off x="400050" y="1849438"/>
          <a:ext cx="2873376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8F743A37-6C28-44A4-BE66-D3BD3EB16960}"/>
              </a:ext>
            </a:extLst>
          </p:cNvPr>
          <p:cNvGraphicFramePr>
            <a:graphicFrameLocks noGrp="1"/>
          </p:cNvGraphicFramePr>
          <p:nvPr/>
        </p:nvGraphicFramePr>
        <p:xfrm>
          <a:off x="400050" y="152400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694" name="文字方塊 6">
            <a:extLst>
              <a:ext uri="{FF2B5EF4-FFF2-40B4-BE49-F238E27FC236}">
                <a16:creationId xmlns:a16="http://schemas.microsoft.com/office/drawing/2014/main" id="{19201B24-96D1-4D64-8429-4C069B84E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2475" y="606425"/>
            <a:ext cx="1447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Filter 1</a:t>
            </a:r>
            <a:endParaRPr lang="zh-TW" altLang="en-US"/>
          </a:p>
        </p:txBody>
      </p:sp>
      <p:sp>
        <p:nvSpPr>
          <p:cNvPr id="7" name="矩形 7">
            <a:extLst>
              <a:ext uri="{FF2B5EF4-FFF2-40B4-BE49-F238E27FC236}">
                <a16:creationId xmlns:a16="http://schemas.microsoft.com/office/drawing/2014/main" id="{D4E3FF4B-6E85-49BD-9E04-0B63D6200774}"/>
              </a:ext>
            </a:extLst>
          </p:cNvPr>
          <p:cNvSpPr/>
          <p:nvPr/>
        </p:nvSpPr>
        <p:spPr>
          <a:xfrm>
            <a:off x="911225" y="1835150"/>
            <a:ext cx="1417638" cy="13811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6696" name="文字方塊 37">
            <a:extLst>
              <a:ext uri="{FF2B5EF4-FFF2-40B4-BE49-F238E27FC236}">
                <a16:creationId xmlns:a16="http://schemas.microsoft.com/office/drawing/2014/main" id="{450159AD-2BE4-4578-89F7-EE3ECBE9FA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125" y="49213"/>
            <a:ext cx="387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1:</a:t>
            </a:r>
            <a:endParaRPr lang="zh-TW" altLang="en-US"/>
          </a:p>
        </p:txBody>
      </p:sp>
      <p:sp>
        <p:nvSpPr>
          <p:cNvPr id="26697" name="文字方塊 38">
            <a:extLst>
              <a:ext uri="{FF2B5EF4-FFF2-40B4-BE49-F238E27FC236}">
                <a16:creationId xmlns:a16="http://schemas.microsoft.com/office/drawing/2014/main" id="{A0933770-27FB-4343-A194-D144C42D1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125" y="511175"/>
            <a:ext cx="387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2:</a:t>
            </a:r>
            <a:endParaRPr lang="zh-TW" altLang="en-US"/>
          </a:p>
        </p:txBody>
      </p:sp>
      <p:sp>
        <p:nvSpPr>
          <p:cNvPr id="26698" name="文字方塊 39">
            <a:extLst>
              <a:ext uri="{FF2B5EF4-FFF2-40B4-BE49-F238E27FC236}">
                <a16:creationId xmlns:a16="http://schemas.microsoft.com/office/drawing/2014/main" id="{05F2D246-23C9-459D-AE86-7B7105838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125" y="960438"/>
            <a:ext cx="387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3:</a:t>
            </a:r>
            <a:endParaRPr lang="zh-TW" altLang="en-US"/>
          </a:p>
        </p:txBody>
      </p:sp>
      <p:sp>
        <p:nvSpPr>
          <p:cNvPr id="26699" name="文字方塊 40">
            <a:extLst>
              <a:ext uri="{FF2B5EF4-FFF2-40B4-BE49-F238E27FC236}">
                <a16:creationId xmlns:a16="http://schemas.microsoft.com/office/drawing/2014/main" id="{EE43CF77-D0A1-4708-8268-0E89CA56DC86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308600" y="1811338"/>
            <a:ext cx="8207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 sz="2800" b="1"/>
              <a:t>…</a:t>
            </a:r>
            <a:endParaRPr lang="zh-TW" altLang="en-US" sz="2800" b="1"/>
          </a:p>
        </p:txBody>
      </p:sp>
      <p:sp>
        <p:nvSpPr>
          <p:cNvPr id="26700" name="文字方塊 41">
            <a:extLst>
              <a:ext uri="{FF2B5EF4-FFF2-40B4-BE49-F238E27FC236}">
                <a16:creationId xmlns:a16="http://schemas.microsoft.com/office/drawing/2014/main" id="{45B0F3E5-AADF-4841-A926-87EAE50F4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000" y="2239963"/>
            <a:ext cx="387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7:</a:t>
            </a:r>
            <a:endParaRPr lang="zh-TW" altLang="en-US"/>
          </a:p>
        </p:txBody>
      </p:sp>
      <p:sp>
        <p:nvSpPr>
          <p:cNvPr id="26701" name="文字方塊 42">
            <a:extLst>
              <a:ext uri="{FF2B5EF4-FFF2-40B4-BE49-F238E27FC236}">
                <a16:creationId xmlns:a16="http://schemas.microsoft.com/office/drawing/2014/main" id="{144898D6-9C06-4BA3-A64C-9104EA533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000" y="2701925"/>
            <a:ext cx="3873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8:</a:t>
            </a:r>
            <a:endParaRPr lang="zh-TW" altLang="en-US"/>
          </a:p>
        </p:txBody>
      </p:sp>
      <p:sp>
        <p:nvSpPr>
          <p:cNvPr id="26702" name="文字方塊 43">
            <a:extLst>
              <a:ext uri="{FF2B5EF4-FFF2-40B4-BE49-F238E27FC236}">
                <a16:creationId xmlns:a16="http://schemas.microsoft.com/office/drawing/2014/main" id="{C72F8F14-3093-45DD-877F-3DC6AEC41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000" y="3151188"/>
            <a:ext cx="387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9:</a:t>
            </a:r>
            <a:endParaRPr lang="zh-TW" altLang="en-US"/>
          </a:p>
        </p:txBody>
      </p:sp>
      <p:sp>
        <p:nvSpPr>
          <p:cNvPr id="26703" name="文字方塊 44">
            <a:extLst>
              <a:ext uri="{FF2B5EF4-FFF2-40B4-BE49-F238E27FC236}">
                <a16:creationId xmlns:a16="http://schemas.microsoft.com/office/drawing/2014/main" id="{1F64E10B-407F-4353-BEF9-44138CF64D6C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446713" y="3987800"/>
            <a:ext cx="539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 sz="2800" b="1"/>
              <a:t>…</a:t>
            </a:r>
            <a:endParaRPr lang="zh-TW" altLang="en-US" sz="2800" b="1"/>
          </a:p>
        </p:txBody>
      </p:sp>
      <p:sp>
        <p:nvSpPr>
          <p:cNvPr id="26704" name="文字方塊 45">
            <a:extLst>
              <a:ext uri="{FF2B5EF4-FFF2-40B4-BE49-F238E27FC236}">
                <a16:creationId xmlns:a16="http://schemas.microsoft.com/office/drawing/2014/main" id="{B51D46A7-5842-45E9-B036-64BFBC505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0" y="4438650"/>
            <a:ext cx="5222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13:</a:t>
            </a:r>
            <a:endParaRPr lang="zh-TW" altLang="en-US"/>
          </a:p>
        </p:txBody>
      </p:sp>
      <p:sp>
        <p:nvSpPr>
          <p:cNvPr id="26705" name="文字方塊 46">
            <a:extLst>
              <a:ext uri="{FF2B5EF4-FFF2-40B4-BE49-F238E27FC236}">
                <a16:creationId xmlns:a16="http://schemas.microsoft.com/office/drawing/2014/main" id="{D759CD6C-A574-44FA-9E3C-C887902C8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5900" y="4902200"/>
            <a:ext cx="523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14:</a:t>
            </a:r>
            <a:endParaRPr lang="zh-TW" altLang="en-US"/>
          </a:p>
        </p:txBody>
      </p:sp>
      <p:sp>
        <p:nvSpPr>
          <p:cNvPr id="26706" name="文字方塊 47">
            <a:extLst>
              <a:ext uri="{FF2B5EF4-FFF2-40B4-BE49-F238E27FC236}">
                <a16:creationId xmlns:a16="http://schemas.microsoft.com/office/drawing/2014/main" id="{9C15909D-2C85-4AD1-B924-5934A8994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5900" y="5380038"/>
            <a:ext cx="596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15:</a:t>
            </a:r>
            <a:endParaRPr lang="zh-TW" altLang="en-US"/>
          </a:p>
        </p:txBody>
      </p:sp>
      <p:sp>
        <p:nvSpPr>
          <p:cNvPr id="26707" name="文字方塊 48">
            <a:extLst>
              <a:ext uri="{FF2B5EF4-FFF2-40B4-BE49-F238E27FC236}">
                <a16:creationId xmlns:a16="http://schemas.microsoft.com/office/drawing/2014/main" id="{1C32D731-02BF-408C-B3B6-682DB66175BA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495131" y="6217444"/>
            <a:ext cx="4238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 sz="2800" b="1"/>
              <a:t>…</a:t>
            </a:r>
            <a:endParaRPr lang="zh-TW" altLang="en-US" sz="2800" b="1"/>
          </a:p>
        </p:txBody>
      </p:sp>
      <p:sp>
        <p:nvSpPr>
          <p:cNvPr id="26708" name="文字方塊 50">
            <a:extLst>
              <a:ext uri="{FF2B5EF4-FFF2-40B4-BE49-F238E27FC236}">
                <a16:creationId xmlns:a16="http://schemas.microsoft.com/office/drawing/2014/main" id="{53E81D6C-BFDC-4730-BCAE-1804963FC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4650" y="1408113"/>
            <a:ext cx="3889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4:</a:t>
            </a:r>
            <a:endParaRPr lang="zh-TW" altLang="en-US"/>
          </a:p>
        </p:txBody>
      </p:sp>
      <p:sp>
        <p:nvSpPr>
          <p:cNvPr id="26709" name="文字方塊 51">
            <a:extLst>
              <a:ext uri="{FF2B5EF4-FFF2-40B4-BE49-F238E27FC236}">
                <a16:creationId xmlns:a16="http://schemas.microsoft.com/office/drawing/2014/main" id="{C5BBE65C-0CAC-4969-9748-2CCB23970A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9225" y="3562350"/>
            <a:ext cx="639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TW"/>
              <a:t>10:</a:t>
            </a:r>
            <a:endParaRPr lang="zh-TW" altLang="en-US"/>
          </a:p>
        </p:txBody>
      </p:sp>
      <p:sp>
        <p:nvSpPr>
          <p:cNvPr id="26710" name="文字方塊 52">
            <a:extLst>
              <a:ext uri="{FF2B5EF4-FFF2-40B4-BE49-F238E27FC236}">
                <a16:creationId xmlns:a16="http://schemas.microsoft.com/office/drawing/2014/main" id="{C364ACEF-43EB-4E7E-9EF3-659B6B680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1138" y="5789613"/>
            <a:ext cx="596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16:</a:t>
            </a:r>
            <a:endParaRPr lang="zh-TW" altLang="en-US"/>
          </a:p>
        </p:txBody>
      </p:sp>
      <p:sp>
        <p:nvSpPr>
          <p:cNvPr id="23" name="矩形 54">
            <a:extLst>
              <a:ext uri="{FF2B5EF4-FFF2-40B4-BE49-F238E27FC236}">
                <a16:creationId xmlns:a16="http://schemas.microsoft.com/office/drawing/2014/main" id="{230D8BC1-8CF1-4A21-B2F8-36AEB60554C6}"/>
              </a:ext>
            </a:extLst>
          </p:cNvPr>
          <p:cNvSpPr/>
          <p:nvPr/>
        </p:nvSpPr>
        <p:spPr>
          <a:xfrm>
            <a:off x="5888038" y="146050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4" name="矩形 55">
            <a:extLst>
              <a:ext uri="{FF2B5EF4-FFF2-40B4-BE49-F238E27FC236}">
                <a16:creationId xmlns:a16="http://schemas.microsoft.com/office/drawing/2014/main" id="{8790FA4E-7D00-4BA4-A441-7EDF72FB09A4}"/>
              </a:ext>
            </a:extLst>
          </p:cNvPr>
          <p:cNvSpPr/>
          <p:nvPr/>
        </p:nvSpPr>
        <p:spPr>
          <a:xfrm>
            <a:off x="5888038" y="614363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5" name="矩形 56">
            <a:extLst>
              <a:ext uri="{FF2B5EF4-FFF2-40B4-BE49-F238E27FC236}">
                <a16:creationId xmlns:a16="http://schemas.microsoft.com/office/drawing/2014/main" id="{30DFCEF7-97FD-4ED4-9AAC-6D2A658BAC42}"/>
              </a:ext>
            </a:extLst>
          </p:cNvPr>
          <p:cNvSpPr/>
          <p:nvPr/>
        </p:nvSpPr>
        <p:spPr>
          <a:xfrm>
            <a:off x="5888038" y="1057275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6" name="矩形 57">
            <a:extLst>
              <a:ext uri="{FF2B5EF4-FFF2-40B4-BE49-F238E27FC236}">
                <a16:creationId xmlns:a16="http://schemas.microsoft.com/office/drawing/2014/main" id="{B231B4BE-3C8C-450C-AFC5-B6C663F43659}"/>
              </a:ext>
            </a:extLst>
          </p:cNvPr>
          <p:cNvSpPr/>
          <p:nvPr/>
        </p:nvSpPr>
        <p:spPr>
          <a:xfrm>
            <a:off x="5888038" y="1517650"/>
            <a:ext cx="269875" cy="2714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7" name="矩形 58">
            <a:extLst>
              <a:ext uri="{FF2B5EF4-FFF2-40B4-BE49-F238E27FC236}">
                <a16:creationId xmlns:a16="http://schemas.microsoft.com/office/drawing/2014/main" id="{320A6FD3-3DA4-439D-AFFE-5591985EB5E2}"/>
              </a:ext>
            </a:extLst>
          </p:cNvPr>
          <p:cNvSpPr/>
          <p:nvPr/>
        </p:nvSpPr>
        <p:spPr>
          <a:xfrm>
            <a:off x="5888038" y="2355850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8" name="矩形 59">
            <a:extLst>
              <a:ext uri="{FF2B5EF4-FFF2-40B4-BE49-F238E27FC236}">
                <a16:creationId xmlns:a16="http://schemas.microsoft.com/office/drawing/2014/main" id="{6F270D70-C598-40DC-A0D4-60B473052FE5}"/>
              </a:ext>
            </a:extLst>
          </p:cNvPr>
          <p:cNvSpPr/>
          <p:nvPr/>
        </p:nvSpPr>
        <p:spPr>
          <a:xfrm>
            <a:off x="5888038" y="2825750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9" name="矩形 60">
            <a:extLst>
              <a:ext uri="{FF2B5EF4-FFF2-40B4-BE49-F238E27FC236}">
                <a16:creationId xmlns:a16="http://schemas.microsoft.com/office/drawing/2014/main" id="{C769596F-3A50-4F33-9DAA-D57F7BE6FF34}"/>
              </a:ext>
            </a:extLst>
          </p:cNvPr>
          <p:cNvSpPr/>
          <p:nvPr/>
        </p:nvSpPr>
        <p:spPr>
          <a:xfrm>
            <a:off x="5888038" y="3267075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0" name="矩形 61">
            <a:extLst>
              <a:ext uri="{FF2B5EF4-FFF2-40B4-BE49-F238E27FC236}">
                <a16:creationId xmlns:a16="http://schemas.microsoft.com/office/drawing/2014/main" id="{CEA6B8C3-7DA5-457C-B2A0-6F48E54D4618}"/>
              </a:ext>
            </a:extLst>
          </p:cNvPr>
          <p:cNvSpPr/>
          <p:nvPr/>
        </p:nvSpPr>
        <p:spPr>
          <a:xfrm>
            <a:off x="5888038" y="3729038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1" name="矩形 62">
            <a:extLst>
              <a:ext uri="{FF2B5EF4-FFF2-40B4-BE49-F238E27FC236}">
                <a16:creationId xmlns:a16="http://schemas.microsoft.com/office/drawing/2014/main" id="{6CC41D18-592D-426E-B45C-4B25CDF44842}"/>
              </a:ext>
            </a:extLst>
          </p:cNvPr>
          <p:cNvSpPr/>
          <p:nvPr/>
        </p:nvSpPr>
        <p:spPr>
          <a:xfrm>
            <a:off x="5888038" y="4519613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2" name="矩形 63">
            <a:extLst>
              <a:ext uri="{FF2B5EF4-FFF2-40B4-BE49-F238E27FC236}">
                <a16:creationId xmlns:a16="http://schemas.microsoft.com/office/drawing/2014/main" id="{C978312D-2F4B-40AD-B1BB-6B4B7E8AFF8B}"/>
              </a:ext>
            </a:extLst>
          </p:cNvPr>
          <p:cNvSpPr/>
          <p:nvPr/>
        </p:nvSpPr>
        <p:spPr>
          <a:xfrm>
            <a:off x="5888038" y="4987925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3" name="矩形 64">
            <a:extLst>
              <a:ext uri="{FF2B5EF4-FFF2-40B4-BE49-F238E27FC236}">
                <a16:creationId xmlns:a16="http://schemas.microsoft.com/office/drawing/2014/main" id="{655A8986-CF35-46A8-A2CC-32358753491E}"/>
              </a:ext>
            </a:extLst>
          </p:cNvPr>
          <p:cNvSpPr/>
          <p:nvPr/>
        </p:nvSpPr>
        <p:spPr>
          <a:xfrm>
            <a:off x="5888038" y="5430838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34" name="矩形 65">
            <a:extLst>
              <a:ext uri="{FF2B5EF4-FFF2-40B4-BE49-F238E27FC236}">
                <a16:creationId xmlns:a16="http://schemas.microsoft.com/office/drawing/2014/main" id="{1EE40D54-973A-4E01-BCFE-E8035C56D031}"/>
              </a:ext>
            </a:extLst>
          </p:cNvPr>
          <p:cNvSpPr/>
          <p:nvPr/>
        </p:nvSpPr>
        <p:spPr>
          <a:xfrm>
            <a:off x="5888038" y="5892800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1</a:t>
            </a:r>
            <a:endParaRPr lang="zh-TW" altLang="en-US" sz="2400" dirty="0"/>
          </a:p>
        </p:txBody>
      </p:sp>
      <p:cxnSp>
        <p:nvCxnSpPr>
          <p:cNvPr id="35" name="直線單箭頭接點 67">
            <a:extLst>
              <a:ext uri="{FF2B5EF4-FFF2-40B4-BE49-F238E27FC236}">
                <a16:creationId xmlns:a16="http://schemas.microsoft.com/office/drawing/2014/main" id="{023D764B-1E04-4B18-8606-7400249E7511}"/>
              </a:ext>
            </a:extLst>
          </p:cNvPr>
          <p:cNvCxnSpPr>
            <a:stCxn id="23" idx="3"/>
          </p:cNvCxnSpPr>
          <p:nvPr/>
        </p:nvCxnSpPr>
        <p:spPr>
          <a:xfrm>
            <a:off x="6157913" y="280988"/>
            <a:ext cx="1420812" cy="127635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68">
            <a:extLst>
              <a:ext uri="{FF2B5EF4-FFF2-40B4-BE49-F238E27FC236}">
                <a16:creationId xmlns:a16="http://schemas.microsoft.com/office/drawing/2014/main" id="{F4AEB5A8-12FD-4F53-B7AF-7A237636C9A3}"/>
              </a:ext>
            </a:extLst>
          </p:cNvPr>
          <p:cNvCxnSpPr>
            <a:stCxn id="24" idx="3"/>
          </p:cNvCxnSpPr>
          <p:nvPr/>
        </p:nvCxnSpPr>
        <p:spPr>
          <a:xfrm>
            <a:off x="6157913" y="749300"/>
            <a:ext cx="1420812" cy="8080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70">
            <a:extLst>
              <a:ext uri="{FF2B5EF4-FFF2-40B4-BE49-F238E27FC236}">
                <a16:creationId xmlns:a16="http://schemas.microsoft.com/office/drawing/2014/main" id="{D4A0E34D-5DBA-4C52-9724-A0C7BB3C01CB}"/>
              </a:ext>
            </a:extLst>
          </p:cNvPr>
          <p:cNvCxnSpPr>
            <a:stCxn id="25" idx="3"/>
          </p:cNvCxnSpPr>
          <p:nvPr/>
        </p:nvCxnSpPr>
        <p:spPr>
          <a:xfrm>
            <a:off x="6157913" y="1192213"/>
            <a:ext cx="1420812" cy="365125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78">
            <a:extLst>
              <a:ext uri="{FF2B5EF4-FFF2-40B4-BE49-F238E27FC236}">
                <a16:creationId xmlns:a16="http://schemas.microsoft.com/office/drawing/2014/main" id="{E032BB85-3D91-43E6-97C9-E7EA2DDFB112}"/>
              </a:ext>
            </a:extLst>
          </p:cNvPr>
          <p:cNvCxnSpPr/>
          <p:nvPr/>
        </p:nvCxnSpPr>
        <p:spPr>
          <a:xfrm flipV="1">
            <a:off x="6176963" y="1597025"/>
            <a:ext cx="1350962" cy="893763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79">
            <a:extLst>
              <a:ext uri="{FF2B5EF4-FFF2-40B4-BE49-F238E27FC236}">
                <a16:creationId xmlns:a16="http://schemas.microsoft.com/office/drawing/2014/main" id="{3989BF11-1786-4393-9BE2-F45965990785}"/>
              </a:ext>
            </a:extLst>
          </p:cNvPr>
          <p:cNvCxnSpPr>
            <a:endCxn id="44" idx="2"/>
          </p:cNvCxnSpPr>
          <p:nvPr/>
        </p:nvCxnSpPr>
        <p:spPr>
          <a:xfrm flipV="1">
            <a:off x="6176963" y="1536700"/>
            <a:ext cx="1371600" cy="1416050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80">
            <a:extLst>
              <a:ext uri="{FF2B5EF4-FFF2-40B4-BE49-F238E27FC236}">
                <a16:creationId xmlns:a16="http://schemas.microsoft.com/office/drawing/2014/main" id="{FC8E03CD-258E-4F82-8687-E9CD1DE62C64}"/>
              </a:ext>
            </a:extLst>
          </p:cNvPr>
          <p:cNvCxnSpPr>
            <a:endCxn id="44" idx="2"/>
          </p:cNvCxnSpPr>
          <p:nvPr/>
        </p:nvCxnSpPr>
        <p:spPr>
          <a:xfrm flipV="1">
            <a:off x="6176963" y="1536700"/>
            <a:ext cx="1371600" cy="18637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81">
            <a:extLst>
              <a:ext uri="{FF2B5EF4-FFF2-40B4-BE49-F238E27FC236}">
                <a16:creationId xmlns:a16="http://schemas.microsoft.com/office/drawing/2014/main" id="{9FC591BE-F979-4E95-A6F8-1ADF278EC5DB}"/>
              </a:ext>
            </a:extLst>
          </p:cNvPr>
          <p:cNvCxnSpPr>
            <a:stCxn id="31" idx="3"/>
          </p:cNvCxnSpPr>
          <p:nvPr/>
        </p:nvCxnSpPr>
        <p:spPr>
          <a:xfrm flipV="1">
            <a:off x="6157913" y="1644650"/>
            <a:ext cx="1350962" cy="300990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82">
            <a:extLst>
              <a:ext uri="{FF2B5EF4-FFF2-40B4-BE49-F238E27FC236}">
                <a16:creationId xmlns:a16="http://schemas.microsoft.com/office/drawing/2014/main" id="{C4042F40-219F-4606-954F-37FDBAF04A63}"/>
              </a:ext>
            </a:extLst>
          </p:cNvPr>
          <p:cNvCxnSpPr>
            <a:endCxn id="44" idx="2"/>
          </p:cNvCxnSpPr>
          <p:nvPr/>
        </p:nvCxnSpPr>
        <p:spPr>
          <a:xfrm flipV="1">
            <a:off x="6157913" y="1536700"/>
            <a:ext cx="1390650" cy="356552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83">
            <a:extLst>
              <a:ext uri="{FF2B5EF4-FFF2-40B4-BE49-F238E27FC236}">
                <a16:creationId xmlns:a16="http://schemas.microsoft.com/office/drawing/2014/main" id="{ECE3C59A-1E32-40A4-AD33-31A7CEF8441B}"/>
              </a:ext>
            </a:extLst>
          </p:cNvPr>
          <p:cNvCxnSpPr>
            <a:endCxn id="44" idx="2"/>
          </p:cNvCxnSpPr>
          <p:nvPr/>
        </p:nvCxnSpPr>
        <p:spPr>
          <a:xfrm flipV="1">
            <a:off x="6157913" y="1536700"/>
            <a:ext cx="1390650" cy="401320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橢圓 108">
            <a:extLst>
              <a:ext uri="{FF2B5EF4-FFF2-40B4-BE49-F238E27FC236}">
                <a16:creationId xmlns:a16="http://schemas.microsoft.com/office/drawing/2014/main" id="{B538DCC5-9A81-4426-B8EC-7719D0ACB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8563" y="1177925"/>
            <a:ext cx="720725" cy="7191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5" name="橢圓 109">
            <a:extLst>
              <a:ext uri="{FF2B5EF4-FFF2-40B4-BE49-F238E27FC236}">
                <a16:creationId xmlns:a16="http://schemas.microsoft.com/office/drawing/2014/main" id="{555D31AE-4E55-42A8-98DE-F50B1FDDF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7925" y="2973388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46" name="橢圓 116">
            <a:extLst>
              <a:ext uri="{FF2B5EF4-FFF2-40B4-BE49-F238E27FC236}">
                <a16:creationId xmlns:a16="http://schemas.microsoft.com/office/drawing/2014/main" id="{8D3C5A8E-0F7E-4C7C-8A3F-E10D24B0E883}"/>
              </a:ext>
            </a:extLst>
          </p:cNvPr>
          <p:cNvSpPr/>
          <p:nvPr/>
        </p:nvSpPr>
        <p:spPr>
          <a:xfrm>
            <a:off x="446088" y="160338"/>
            <a:ext cx="455612" cy="455612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7" name="橢圓 117">
            <a:extLst>
              <a:ext uri="{FF2B5EF4-FFF2-40B4-BE49-F238E27FC236}">
                <a16:creationId xmlns:a16="http://schemas.microsoft.com/office/drawing/2014/main" id="{C6C9B35C-BEC8-4075-8834-D61FE0718B4F}"/>
              </a:ext>
            </a:extLst>
          </p:cNvPr>
          <p:cNvSpPr/>
          <p:nvPr/>
        </p:nvSpPr>
        <p:spPr>
          <a:xfrm>
            <a:off x="998538" y="131763"/>
            <a:ext cx="455612" cy="45561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8" name="橢圓 118">
            <a:extLst>
              <a:ext uri="{FF2B5EF4-FFF2-40B4-BE49-F238E27FC236}">
                <a16:creationId xmlns:a16="http://schemas.microsoft.com/office/drawing/2014/main" id="{123961B9-443E-4487-A05F-00FB6A452DD3}"/>
              </a:ext>
            </a:extLst>
          </p:cNvPr>
          <p:cNvSpPr/>
          <p:nvPr/>
        </p:nvSpPr>
        <p:spPr>
          <a:xfrm>
            <a:off x="1509713" y="146050"/>
            <a:ext cx="455612" cy="454025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9" name="橢圓 119">
            <a:extLst>
              <a:ext uri="{FF2B5EF4-FFF2-40B4-BE49-F238E27FC236}">
                <a16:creationId xmlns:a16="http://schemas.microsoft.com/office/drawing/2014/main" id="{934E7144-18C0-418A-885B-10498D12F273}"/>
              </a:ext>
            </a:extLst>
          </p:cNvPr>
          <p:cNvSpPr/>
          <p:nvPr/>
        </p:nvSpPr>
        <p:spPr>
          <a:xfrm>
            <a:off x="446088" y="619125"/>
            <a:ext cx="455612" cy="455613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0" name="橢圓 120">
            <a:extLst>
              <a:ext uri="{FF2B5EF4-FFF2-40B4-BE49-F238E27FC236}">
                <a16:creationId xmlns:a16="http://schemas.microsoft.com/office/drawing/2014/main" id="{A22A8596-6141-4CE3-85B3-9F619DB1FA49}"/>
              </a:ext>
            </a:extLst>
          </p:cNvPr>
          <p:cNvSpPr/>
          <p:nvPr/>
        </p:nvSpPr>
        <p:spPr>
          <a:xfrm>
            <a:off x="998538" y="590550"/>
            <a:ext cx="455612" cy="455613"/>
          </a:xfrm>
          <a:prstGeom prst="ellipse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1" name="橢圓 121">
            <a:extLst>
              <a:ext uri="{FF2B5EF4-FFF2-40B4-BE49-F238E27FC236}">
                <a16:creationId xmlns:a16="http://schemas.microsoft.com/office/drawing/2014/main" id="{422763AC-7B7A-4D87-A257-AB609B3472CB}"/>
              </a:ext>
            </a:extLst>
          </p:cNvPr>
          <p:cNvSpPr/>
          <p:nvPr/>
        </p:nvSpPr>
        <p:spPr>
          <a:xfrm>
            <a:off x="1509713" y="603250"/>
            <a:ext cx="455612" cy="455613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2" name="橢圓 122">
            <a:extLst>
              <a:ext uri="{FF2B5EF4-FFF2-40B4-BE49-F238E27FC236}">
                <a16:creationId xmlns:a16="http://schemas.microsoft.com/office/drawing/2014/main" id="{E8EF33AC-AB59-4BDC-9E4E-06DB23F52A84}"/>
              </a:ext>
            </a:extLst>
          </p:cNvPr>
          <p:cNvSpPr/>
          <p:nvPr/>
        </p:nvSpPr>
        <p:spPr>
          <a:xfrm>
            <a:off x="458788" y="1074738"/>
            <a:ext cx="455612" cy="455612"/>
          </a:xfrm>
          <a:prstGeom prst="ellipse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3" name="橢圓 123">
            <a:extLst>
              <a:ext uri="{FF2B5EF4-FFF2-40B4-BE49-F238E27FC236}">
                <a16:creationId xmlns:a16="http://schemas.microsoft.com/office/drawing/2014/main" id="{CF9AB553-6F8C-43AF-807F-3B53714EEB19}"/>
              </a:ext>
            </a:extLst>
          </p:cNvPr>
          <p:cNvSpPr/>
          <p:nvPr/>
        </p:nvSpPr>
        <p:spPr>
          <a:xfrm>
            <a:off x="1011238" y="1046163"/>
            <a:ext cx="455612" cy="455612"/>
          </a:xfrm>
          <a:prstGeom prst="ellipse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4" name="橢圓 124">
            <a:extLst>
              <a:ext uri="{FF2B5EF4-FFF2-40B4-BE49-F238E27FC236}">
                <a16:creationId xmlns:a16="http://schemas.microsoft.com/office/drawing/2014/main" id="{953C6E08-3FB5-4641-BFDB-20EE0F843A95}"/>
              </a:ext>
            </a:extLst>
          </p:cNvPr>
          <p:cNvSpPr/>
          <p:nvPr/>
        </p:nvSpPr>
        <p:spPr>
          <a:xfrm>
            <a:off x="1522413" y="1058863"/>
            <a:ext cx="455612" cy="455612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5" name="文字方塊 66">
            <a:extLst>
              <a:ext uri="{FF2B5EF4-FFF2-40B4-BE49-F238E27FC236}">
                <a16:creationId xmlns:a16="http://schemas.microsoft.com/office/drawing/2014/main" id="{371FB345-3B53-4FA2-8C13-8DA5A71A5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0" y="5761038"/>
            <a:ext cx="2628900" cy="460375"/>
          </a:xfrm>
          <a:prstGeom prst="rect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Shared weights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cxnSp>
        <p:nvCxnSpPr>
          <p:cNvPr id="56" name="直線單箭頭接點 71">
            <a:extLst>
              <a:ext uri="{FF2B5EF4-FFF2-40B4-BE49-F238E27FC236}">
                <a16:creationId xmlns:a16="http://schemas.microsoft.com/office/drawing/2014/main" id="{5A51E519-2CB4-4782-81B8-CDA4ADFFA25D}"/>
              </a:ext>
            </a:extLst>
          </p:cNvPr>
          <p:cNvCxnSpPr>
            <a:stCxn id="24" idx="3"/>
            <a:endCxn id="45" idx="2"/>
          </p:cNvCxnSpPr>
          <p:nvPr/>
        </p:nvCxnSpPr>
        <p:spPr>
          <a:xfrm>
            <a:off x="6157913" y="749300"/>
            <a:ext cx="1370012" cy="258445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72">
            <a:extLst>
              <a:ext uri="{FF2B5EF4-FFF2-40B4-BE49-F238E27FC236}">
                <a16:creationId xmlns:a16="http://schemas.microsoft.com/office/drawing/2014/main" id="{0727BF5F-FA39-42CF-83FA-E16E1774F26E}"/>
              </a:ext>
            </a:extLst>
          </p:cNvPr>
          <p:cNvCxnSpPr>
            <a:stCxn id="25" idx="3"/>
            <a:endCxn id="45" idx="2"/>
          </p:cNvCxnSpPr>
          <p:nvPr/>
        </p:nvCxnSpPr>
        <p:spPr>
          <a:xfrm>
            <a:off x="6157913" y="1192213"/>
            <a:ext cx="1370012" cy="21415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73">
            <a:extLst>
              <a:ext uri="{FF2B5EF4-FFF2-40B4-BE49-F238E27FC236}">
                <a16:creationId xmlns:a16="http://schemas.microsoft.com/office/drawing/2014/main" id="{4CA3642A-475F-41E4-943B-42CE6ADC6915}"/>
              </a:ext>
            </a:extLst>
          </p:cNvPr>
          <p:cNvCxnSpPr>
            <a:stCxn id="26" idx="3"/>
            <a:endCxn id="45" idx="2"/>
          </p:cNvCxnSpPr>
          <p:nvPr/>
        </p:nvCxnSpPr>
        <p:spPr>
          <a:xfrm>
            <a:off x="6157913" y="1654175"/>
            <a:ext cx="1370012" cy="1679575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74">
            <a:extLst>
              <a:ext uri="{FF2B5EF4-FFF2-40B4-BE49-F238E27FC236}">
                <a16:creationId xmlns:a16="http://schemas.microsoft.com/office/drawing/2014/main" id="{4D3DA358-5202-4085-B2A0-71BC0B50C02C}"/>
              </a:ext>
            </a:extLst>
          </p:cNvPr>
          <p:cNvCxnSpPr>
            <a:endCxn id="45" idx="2"/>
          </p:cNvCxnSpPr>
          <p:nvPr/>
        </p:nvCxnSpPr>
        <p:spPr>
          <a:xfrm>
            <a:off x="6186488" y="2981325"/>
            <a:ext cx="1341437" cy="352425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75">
            <a:extLst>
              <a:ext uri="{FF2B5EF4-FFF2-40B4-BE49-F238E27FC236}">
                <a16:creationId xmlns:a16="http://schemas.microsoft.com/office/drawing/2014/main" id="{BDA17308-828D-4055-8026-08C2AC5A62D0}"/>
              </a:ext>
            </a:extLst>
          </p:cNvPr>
          <p:cNvCxnSpPr>
            <a:endCxn id="45" idx="2"/>
          </p:cNvCxnSpPr>
          <p:nvPr/>
        </p:nvCxnSpPr>
        <p:spPr>
          <a:xfrm flipV="1">
            <a:off x="6173788" y="3333750"/>
            <a:ext cx="1354137" cy="125413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76">
            <a:extLst>
              <a:ext uri="{FF2B5EF4-FFF2-40B4-BE49-F238E27FC236}">
                <a16:creationId xmlns:a16="http://schemas.microsoft.com/office/drawing/2014/main" id="{8B40114E-4CF7-44EF-BA19-BCDC792F1545}"/>
              </a:ext>
            </a:extLst>
          </p:cNvPr>
          <p:cNvCxnSpPr>
            <a:endCxn id="45" idx="2"/>
          </p:cNvCxnSpPr>
          <p:nvPr/>
        </p:nvCxnSpPr>
        <p:spPr>
          <a:xfrm flipV="1">
            <a:off x="6173788" y="3333750"/>
            <a:ext cx="1354137" cy="56991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77">
            <a:extLst>
              <a:ext uri="{FF2B5EF4-FFF2-40B4-BE49-F238E27FC236}">
                <a16:creationId xmlns:a16="http://schemas.microsoft.com/office/drawing/2014/main" id="{15D070E5-23E7-4769-807E-A9CA003B00DE}"/>
              </a:ext>
            </a:extLst>
          </p:cNvPr>
          <p:cNvCxnSpPr>
            <a:stCxn id="32" idx="3"/>
          </p:cNvCxnSpPr>
          <p:nvPr/>
        </p:nvCxnSpPr>
        <p:spPr>
          <a:xfrm flipV="1">
            <a:off x="6157913" y="3360738"/>
            <a:ext cx="1336675" cy="1762125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84">
            <a:extLst>
              <a:ext uri="{FF2B5EF4-FFF2-40B4-BE49-F238E27FC236}">
                <a16:creationId xmlns:a16="http://schemas.microsoft.com/office/drawing/2014/main" id="{1C0DFBBD-43E7-4418-845D-7E387AF51791}"/>
              </a:ext>
            </a:extLst>
          </p:cNvPr>
          <p:cNvCxnSpPr>
            <a:stCxn id="33" idx="3"/>
          </p:cNvCxnSpPr>
          <p:nvPr/>
        </p:nvCxnSpPr>
        <p:spPr>
          <a:xfrm flipV="1">
            <a:off x="6157913" y="3327400"/>
            <a:ext cx="1358900" cy="223837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85">
            <a:extLst>
              <a:ext uri="{FF2B5EF4-FFF2-40B4-BE49-F238E27FC236}">
                <a16:creationId xmlns:a16="http://schemas.microsoft.com/office/drawing/2014/main" id="{41C1EF36-42F1-40CA-A197-919E96106195}"/>
              </a:ext>
            </a:extLst>
          </p:cNvPr>
          <p:cNvCxnSpPr>
            <a:stCxn id="34" idx="3"/>
          </p:cNvCxnSpPr>
          <p:nvPr/>
        </p:nvCxnSpPr>
        <p:spPr>
          <a:xfrm flipV="1">
            <a:off x="6157913" y="3389313"/>
            <a:ext cx="1343025" cy="2638425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53" name="文字方塊 87">
            <a:extLst>
              <a:ext uri="{FF2B5EF4-FFF2-40B4-BE49-F238E27FC236}">
                <a16:creationId xmlns:a16="http://schemas.microsoft.com/office/drawing/2014/main" id="{FDEE9ECD-4A04-4212-896E-DCCD7AAD7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5" y="4640263"/>
            <a:ext cx="2347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6 x 6 image</a:t>
            </a:r>
            <a:endParaRPr lang="zh-TW" altLang="en-US"/>
          </a:p>
        </p:txBody>
      </p:sp>
      <p:pic>
        <p:nvPicPr>
          <p:cNvPr id="66" name="圖片 86">
            <a:extLst>
              <a:ext uri="{FF2B5EF4-FFF2-40B4-BE49-F238E27FC236}">
                <a16:creationId xmlns:a16="http://schemas.microsoft.com/office/drawing/2014/main" id="{936DE764-C00F-41DD-9886-07DC5EA3C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25" y="1216025"/>
            <a:ext cx="2230438" cy="2243138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42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7" name="直線單箭頭接點 34">
            <a:extLst>
              <a:ext uri="{FF2B5EF4-FFF2-40B4-BE49-F238E27FC236}">
                <a16:creationId xmlns:a16="http://schemas.microsoft.com/office/drawing/2014/main" id="{EBDB38E1-6339-46C0-A593-62D86CD8353F}"/>
              </a:ext>
            </a:extLst>
          </p:cNvPr>
          <p:cNvCxnSpPr/>
          <p:nvPr/>
        </p:nvCxnSpPr>
        <p:spPr>
          <a:xfrm flipV="1">
            <a:off x="2328863" y="1557338"/>
            <a:ext cx="944562" cy="9334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33">
            <a:extLst>
              <a:ext uri="{FF2B5EF4-FFF2-40B4-BE49-F238E27FC236}">
                <a16:creationId xmlns:a16="http://schemas.microsoft.com/office/drawing/2014/main" id="{656D9D80-79E4-4393-86BE-D536658E722F}"/>
              </a:ext>
            </a:extLst>
          </p:cNvPr>
          <p:cNvCxnSpPr/>
          <p:nvPr/>
        </p:nvCxnSpPr>
        <p:spPr>
          <a:xfrm>
            <a:off x="2022475" y="838200"/>
            <a:ext cx="1250950" cy="6858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字方塊 91">
            <a:extLst>
              <a:ext uri="{FF2B5EF4-FFF2-40B4-BE49-F238E27FC236}">
                <a16:creationId xmlns:a16="http://schemas.microsoft.com/office/drawing/2014/main" id="{DFDA359D-3BD3-4672-869F-A2B199ECE301}"/>
              </a:ext>
            </a:extLst>
          </p:cNvPr>
          <p:cNvSpPr txBox="1"/>
          <p:nvPr/>
        </p:nvSpPr>
        <p:spPr>
          <a:xfrm>
            <a:off x="609600" y="5257800"/>
            <a:ext cx="3483048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Fewer parameters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70" name="文字方塊 92">
            <a:extLst>
              <a:ext uri="{FF2B5EF4-FFF2-40B4-BE49-F238E27FC236}">
                <a16:creationId xmlns:a16="http://schemas.microsoft.com/office/drawing/2014/main" id="{DA780686-1072-47F0-A6DA-D2ED93314624}"/>
              </a:ext>
            </a:extLst>
          </p:cNvPr>
          <p:cNvSpPr txBox="1"/>
          <p:nvPr/>
        </p:nvSpPr>
        <p:spPr>
          <a:xfrm>
            <a:off x="629478" y="5937959"/>
            <a:ext cx="3485322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Even fewer parameters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5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標題 1">
            <a:extLst>
              <a:ext uri="{FF2B5EF4-FFF2-40B4-BE49-F238E27FC236}">
                <a16:creationId xmlns:a16="http://schemas.microsoft.com/office/drawing/2014/main" id="{12DEFFAF-B68F-4F14-8280-150D70EBB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425" y="213966"/>
            <a:ext cx="7886700" cy="1325563"/>
          </a:xfrm>
        </p:spPr>
        <p:txBody>
          <a:bodyPr/>
          <a:lstStyle/>
          <a:p>
            <a:r>
              <a:rPr lang="en-US" altLang="zh-TW"/>
              <a:t>The whole CNN</a:t>
            </a:r>
            <a:endParaRPr lang="zh-TW" altLang="en-US"/>
          </a:p>
        </p:txBody>
      </p:sp>
      <p:grpSp>
        <p:nvGrpSpPr>
          <p:cNvPr id="27650" name="群組 3">
            <a:extLst>
              <a:ext uri="{FF2B5EF4-FFF2-40B4-BE49-F238E27FC236}">
                <a16:creationId xmlns:a16="http://schemas.microsoft.com/office/drawing/2014/main" id="{0B9182A0-9DA0-4995-9ED8-17CBA7C455B8}"/>
              </a:ext>
            </a:extLst>
          </p:cNvPr>
          <p:cNvGrpSpPr>
            <a:grpSpLocks/>
          </p:cNvGrpSpPr>
          <p:nvPr/>
        </p:nvGrpSpPr>
        <p:grpSpPr bwMode="auto">
          <a:xfrm>
            <a:off x="749300" y="2274888"/>
            <a:ext cx="2906713" cy="3200400"/>
            <a:chOff x="-1626455" y="3999117"/>
            <a:chExt cx="2906568" cy="3201477"/>
          </a:xfrm>
        </p:grpSpPr>
        <p:pic>
          <p:nvPicPr>
            <p:cNvPr id="27678" name="圖片 4">
              <a:extLst>
                <a:ext uri="{FF2B5EF4-FFF2-40B4-BE49-F238E27FC236}">
                  <a16:creationId xmlns:a16="http://schemas.microsoft.com/office/drawing/2014/main" id="{83EADE8A-EA72-431C-93E8-981559A123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H="1">
              <a:off x="-1736746" y="4748962"/>
              <a:ext cx="3201477" cy="1701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文字方塊 5">
              <a:extLst>
                <a:ext uri="{FF2B5EF4-FFF2-40B4-BE49-F238E27FC236}">
                  <a16:creationId xmlns:a16="http://schemas.microsoft.com/office/drawing/2014/main" id="{82005196-E6F8-4184-B527-48B45E52D9BF}"/>
                </a:ext>
              </a:extLst>
            </p:cNvPr>
            <p:cNvSpPr txBox="1"/>
            <p:nvPr/>
          </p:nvSpPr>
          <p:spPr>
            <a:xfrm>
              <a:off x="-1626455" y="5442856"/>
              <a:ext cx="2906568" cy="70788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TW" sz="2000" dirty="0">
                  <a:solidFill>
                    <a:srgbClr val="000000"/>
                  </a:solidFill>
                </a:rPr>
                <a:t>Fully Connected </a:t>
              </a:r>
              <a:r>
                <a:rPr lang="en-US" altLang="zh-TW" sz="2000" dirty="0" err="1">
                  <a:solidFill>
                    <a:srgbClr val="000000"/>
                  </a:solidFill>
                </a:rPr>
                <a:t>Feedforward</a:t>
              </a:r>
              <a:r>
                <a:rPr lang="en-US" altLang="zh-TW" sz="2000" dirty="0">
                  <a:solidFill>
                    <a:srgbClr val="000000"/>
                  </a:solidFill>
                </a:rPr>
                <a:t> network</a:t>
              </a:r>
              <a:endParaRPr lang="zh-TW" altLang="en-US" sz="200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651" name="Picture 2" descr="http://s.hswstatic.com/gif/whiskers-sam.jpg">
            <a:extLst>
              <a:ext uri="{FF2B5EF4-FFF2-40B4-BE49-F238E27FC236}">
                <a16:creationId xmlns:a16="http://schemas.microsoft.com/office/drawing/2014/main" id="{4B73233B-B709-4875-8D2C-E7DEA95B2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38" y="192088"/>
            <a:ext cx="1771650" cy="120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文字方塊 8">
            <a:extLst>
              <a:ext uri="{FF2B5EF4-FFF2-40B4-BE49-F238E27FC236}">
                <a16:creationId xmlns:a16="http://schemas.microsoft.com/office/drawing/2014/main" id="{23FD9A63-EA1A-40F1-9B51-1DDD79D22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7938" y="1706563"/>
            <a:ext cx="2046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cat dog ……</a:t>
            </a:r>
            <a:endParaRPr lang="zh-TW" altLang="en-US"/>
          </a:p>
        </p:txBody>
      </p:sp>
      <p:sp>
        <p:nvSpPr>
          <p:cNvPr id="10" name="矩形 10">
            <a:extLst>
              <a:ext uri="{FF2B5EF4-FFF2-40B4-BE49-F238E27FC236}">
                <a16:creationId xmlns:a16="http://schemas.microsoft.com/office/drawing/2014/main" id="{6BC79390-BD0B-49D9-B681-00DE5562BB80}"/>
              </a:ext>
            </a:extLst>
          </p:cNvPr>
          <p:cNvSpPr/>
          <p:nvPr/>
        </p:nvSpPr>
        <p:spPr>
          <a:xfrm>
            <a:off x="5249923" y="1929505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chemeClr val="tx1"/>
                </a:solidFill>
              </a:rPr>
              <a:t>Convolution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1" name="矩形 12">
            <a:extLst>
              <a:ext uri="{FF2B5EF4-FFF2-40B4-BE49-F238E27FC236}">
                <a16:creationId xmlns:a16="http://schemas.microsoft.com/office/drawing/2014/main" id="{705322CE-1DBA-433C-9ADD-0E83EC5513CD}"/>
              </a:ext>
            </a:extLst>
          </p:cNvPr>
          <p:cNvSpPr/>
          <p:nvPr/>
        </p:nvSpPr>
        <p:spPr>
          <a:xfrm>
            <a:off x="5249923" y="3029517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Max Pooling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12" name="矩形 13">
            <a:extLst>
              <a:ext uri="{FF2B5EF4-FFF2-40B4-BE49-F238E27FC236}">
                <a16:creationId xmlns:a16="http://schemas.microsoft.com/office/drawing/2014/main" id="{414644F6-7DC6-4542-8F48-4E9162874E87}"/>
              </a:ext>
            </a:extLst>
          </p:cNvPr>
          <p:cNvSpPr/>
          <p:nvPr/>
        </p:nvSpPr>
        <p:spPr>
          <a:xfrm>
            <a:off x="5249923" y="4097730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Convolution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13" name="矩形 14">
            <a:extLst>
              <a:ext uri="{FF2B5EF4-FFF2-40B4-BE49-F238E27FC236}">
                <a16:creationId xmlns:a16="http://schemas.microsoft.com/office/drawing/2014/main" id="{25D90FE3-18DB-4844-B3DB-70B97643431E}"/>
              </a:ext>
            </a:extLst>
          </p:cNvPr>
          <p:cNvSpPr/>
          <p:nvPr/>
        </p:nvSpPr>
        <p:spPr>
          <a:xfrm>
            <a:off x="5249923" y="5130982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Max Pooling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14" name="文字方塊 15">
            <a:extLst>
              <a:ext uri="{FF2B5EF4-FFF2-40B4-BE49-F238E27FC236}">
                <a16:creationId xmlns:a16="http://schemas.microsoft.com/office/drawing/2014/main" id="{205B8B72-DB47-4531-B41B-4B1E3D677D25}"/>
              </a:ext>
            </a:extLst>
          </p:cNvPr>
          <p:cNvSpPr txBox="1"/>
          <p:nvPr/>
        </p:nvSpPr>
        <p:spPr>
          <a:xfrm>
            <a:off x="3324218" y="6055666"/>
            <a:ext cx="1556991" cy="4001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Flattened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15" name="向下箭號 11">
            <a:extLst>
              <a:ext uri="{FF2B5EF4-FFF2-40B4-BE49-F238E27FC236}">
                <a16:creationId xmlns:a16="http://schemas.microsoft.com/office/drawing/2014/main" id="{DC3D95DD-F626-4826-9D15-E94054E62362}"/>
              </a:ext>
            </a:extLst>
          </p:cNvPr>
          <p:cNvSpPr/>
          <p:nvPr/>
        </p:nvSpPr>
        <p:spPr>
          <a:xfrm>
            <a:off x="5868988" y="1450975"/>
            <a:ext cx="546100" cy="44291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6" name="向下箭號 17">
            <a:extLst>
              <a:ext uri="{FF2B5EF4-FFF2-40B4-BE49-F238E27FC236}">
                <a16:creationId xmlns:a16="http://schemas.microsoft.com/office/drawing/2014/main" id="{F2A6EE9F-1502-4E91-A07A-A4247D9EDAA8}"/>
              </a:ext>
            </a:extLst>
          </p:cNvPr>
          <p:cNvSpPr/>
          <p:nvPr/>
        </p:nvSpPr>
        <p:spPr>
          <a:xfrm>
            <a:off x="5868988" y="2562225"/>
            <a:ext cx="546100" cy="44291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7" name="向下箭號 18">
            <a:extLst>
              <a:ext uri="{FF2B5EF4-FFF2-40B4-BE49-F238E27FC236}">
                <a16:creationId xmlns:a16="http://schemas.microsoft.com/office/drawing/2014/main" id="{498682E9-F168-4A59-BE78-40D88CCDDB48}"/>
              </a:ext>
            </a:extLst>
          </p:cNvPr>
          <p:cNvSpPr/>
          <p:nvPr/>
        </p:nvSpPr>
        <p:spPr>
          <a:xfrm>
            <a:off x="5868988" y="3654425"/>
            <a:ext cx="546100" cy="441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8" name="向下箭號 19">
            <a:extLst>
              <a:ext uri="{FF2B5EF4-FFF2-40B4-BE49-F238E27FC236}">
                <a16:creationId xmlns:a16="http://schemas.microsoft.com/office/drawing/2014/main" id="{2675A77E-1876-457F-ACB7-B1FA59D61C41}"/>
              </a:ext>
            </a:extLst>
          </p:cNvPr>
          <p:cNvSpPr/>
          <p:nvPr/>
        </p:nvSpPr>
        <p:spPr>
          <a:xfrm>
            <a:off x="5868988" y="4689475"/>
            <a:ext cx="546100" cy="441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9" name="右彎箭號 16">
            <a:extLst>
              <a:ext uri="{FF2B5EF4-FFF2-40B4-BE49-F238E27FC236}">
                <a16:creationId xmlns:a16="http://schemas.microsoft.com/office/drawing/2014/main" id="{74FAB88A-A70E-45CB-A523-A825E9709FB8}"/>
              </a:ext>
            </a:extLst>
          </p:cNvPr>
          <p:cNvSpPr/>
          <p:nvPr/>
        </p:nvSpPr>
        <p:spPr>
          <a:xfrm rot="10800000">
            <a:off x="4881563" y="5753100"/>
            <a:ext cx="1377950" cy="752475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0" name="右彎箭號 21">
            <a:extLst>
              <a:ext uri="{FF2B5EF4-FFF2-40B4-BE49-F238E27FC236}">
                <a16:creationId xmlns:a16="http://schemas.microsoft.com/office/drawing/2014/main" id="{6A62C4EE-447C-48E5-A846-BE79CA14B520}"/>
              </a:ext>
            </a:extLst>
          </p:cNvPr>
          <p:cNvSpPr/>
          <p:nvPr/>
        </p:nvSpPr>
        <p:spPr>
          <a:xfrm rot="16200000">
            <a:off x="2154237" y="5340351"/>
            <a:ext cx="968375" cy="1238250"/>
          </a:xfrm>
          <a:prstGeom prst="bentArrow">
            <a:avLst>
              <a:gd name="adj1" fmla="val 28061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7674" name="文字方塊 20">
            <a:extLst>
              <a:ext uri="{FF2B5EF4-FFF2-40B4-BE49-F238E27FC236}">
                <a16:creationId xmlns:a16="http://schemas.microsoft.com/office/drawing/2014/main" id="{63458B5A-D9DC-4342-9DD6-A4949B013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3414713"/>
            <a:ext cx="169068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Can repeat many times</a:t>
            </a:r>
            <a:endParaRPr lang="zh-TW" altLang="en-US"/>
          </a:p>
        </p:txBody>
      </p:sp>
      <p:sp>
        <p:nvSpPr>
          <p:cNvPr id="22" name="左大括弧 22">
            <a:extLst>
              <a:ext uri="{FF2B5EF4-FFF2-40B4-BE49-F238E27FC236}">
                <a16:creationId xmlns:a16="http://schemas.microsoft.com/office/drawing/2014/main" id="{CB37DD02-5DE2-48EA-AD09-AD55F7DCA1A7}"/>
              </a:ext>
            </a:extLst>
          </p:cNvPr>
          <p:cNvSpPr/>
          <p:nvPr/>
        </p:nvSpPr>
        <p:spPr>
          <a:xfrm flipH="1">
            <a:off x="7026275" y="1806575"/>
            <a:ext cx="334963" cy="4048125"/>
          </a:xfrm>
          <a:prstGeom prst="leftBrace">
            <a:avLst>
              <a:gd name="adj1" fmla="val 7289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3" name="矩形 23">
            <a:extLst>
              <a:ext uri="{FF2B5EF4-FFF2-40B4-BE49-F238E27FC236}">
                <a16:creationId xmlns:a16="http://schemas.microsoft.com/office/drawing/2014/main" id="{3B69AC7E-6890-4C54-B4A6-ABB5530AD85E}"/>
              </a:ext>
            </a:extLst>
          </p:cNvPr>
          <p:cNvSpPr/>
          <p:nvPr/>
        </p:nvSpPr>
        <p:spPr>
          <a:xfrm>
            <a:off x="5168900" y="2976563"/>
            <a:ext cx="1857375" cy="6969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4" name="矩形 25">
            <a:extLst>
              <a:ext uri="{FF2B5EF4-FFF2-40B4-BE49-F238E27FC236}">
                <a16:creationId xmlns:a16="http://schemas.microsoft.com/office/drawing/2014/main" id="{02DD8F11-B140-42A8-BE56-E745CFE5F186}"/>
              </a:ext>
            </a:extLst>
          </p:cNvPr>
          <p:cNvSpPr/>
          <p:nvPr/>
        </p:nvSpPr>
        <p:spPr>
          <a:xfrm>
            <a:off x="5168900" y="5080000"/>
            <a:ext cx="1857375" cy="69691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標題 1">
            <a:extLst>
              <a:ext uri="{FF2B5EF4-FFF2-40B4-BE49-F238E27FC236}">
                <a16:creationId xmlns:a16="http://schemas.microsoft.com/office/drawing/2014/main" id="{9B9A09DE-3175-4776-9C8E-450A6727A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r>
              <a:rPr lang="en-US" altLang="zh-TW"/>
              <a:t>Max Pooling</a:t>
            </a:r>
            <a:endParaRPr lang="zh-TW" altLang="en-US"/>
          </a:p>
        </p:txBody>
      </p:sp>
      <p:sp>
        <p:nvSpPr>
          <p:cNvPr id="5" name="橢圓 11">
            <a:extLst>
              <a:ext uri="{FF2B5EF4-FFF2-40B4-BE49-F238E27FC236}">
                <a16:creationId xmlns:a16="http://schemas.microsoft.com/office/drawing/2014/main" id="{A8931023-C95A-40D6-A7FC-EB2140D96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350" y="3284538"/>
            <a:ext cx="719138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6" name="橢圓 12">
            <a:extLst>
              <a:ext uri="{FF2B5EF4-FFF2-40B4-BE49-F238E27FC236}">
                <a16:creationId xmlns:a16="http://schemas.microsoft.com/office/drawing/2014/main" id="{7B6E045D-E543-4F64-B3C0-763F36372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6725" y="3284538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7" name="橢圓 13">
            <a:extLst>
              <a:ext uri="{FF2B5EF4-FFF2-40B4-BE49-F238E27FC236}">
                <a16:creationId xmlns:a16="http://schemas.microsoft.com/office/drawing/2014/main" id="{5E171A8C-96F1-4B88-A821-BF107E4E8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9688" y="3284538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8" name="橢圓 14">
            <a:extLst>
              <a:ext uri="{FF2B5EF4-FFF2-40B4-BE49-F238E27FC236}">
                <a16:creationId xmlns:a16="http://schemas.microsoft.com/office/drawing/2014/main" id="{DFA3E561-6A7F-461F-BBF4-C2E85CDB4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063" y="3284538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9" name="橢圓 15">
            <a:extLst>
              <a:ext uri="{FF2B5EF4-FFF2-40B4-BE49-F238E27FC236}">
                <a16:creationId xmlns:a16="http://schemas.microsoft.com/office/drawing/2014/main" id="{FAA43639-7F81-4CD1-8243-8DCA5862E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350" y="4084638"/>
            <a:ext cx="719138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0" name="橢圓 16">
            <a:extLst>
              <a:ext uri="{FF2B5EF4-FFF2-40B4-BE49-F238E27FC236}">
                <a16:creationId xmlns:a16="http://schemas.microsoft.com/office/drawing/2014/main" id="{5F3596CB-2BCA-4166-9CCB-6EC6E05D4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6725" y="4084638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1" name="橢圓 17">
            <a:extLst>
              <a:ext uri="{FF2B5EF4-FFF2-40B4-BE49-F238E27FC236}">
                <a16:creationId xmlns:a16="http://schemas.microsoft.com/office/drawing/2014/main" id="{02C813AF-094E-4DB0-926B-1D2AC6836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9688" y="4084638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0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2" name="橢圓 18">
            <a:extLst>
              <a:ext uri="{FF2B5EF4-FFF2-40B4-BE49-F238E27FC236}">
                <a16:creationId xmlns:a16="http://schemas.microsoft.com/office/drawing/2014/main" id="{CD921364-9177-49C1-A2EC-D48A625AD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063" y="4084638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3" name="橢圓 19">
            <a:extLst>
              <a:ext uri="{FF2B5EF4-FFF2-40B4-BE49-F238E27FC236}">
                <a16:creationId xmlns:a16="http://schemas.microsoft.com/office/drawing/2014/main" id="{F44E3528-CA53-47AE-B2BE-6599707C6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350" y="4943475"/>
            <a:ext cx="719138" cy="7191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4" name="橢圓 20">
            <a:extLst>
              <a:ext uri="{FF2B5EF4-FFF2-40B4-BE49-F238E27FC236}">
                <a16:creationId xmlns:a16="http://schemas.microsoft.com/office/drawing/2014/main" id="{197C4A15-6BFA-428C-B094-2440B7161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6725" y="4943475"/>
            <a:ext cx="720725" cy="7191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5" name="橢圓 21">
            <a:extLst>
              <a:ext uri="{FF2B5EF4-FFF2-40B4-BE49-F238E27FC236}">
                <a16:creationId xmlns:a16="http://schemas.microsoft.com/office/drawing/2014/main" id="{5E4BB1E4-66C2-45A7-BC37-808E28224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9688" y="4943475"/>
            <a:ext cx="719137" cy="7191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0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6" name="橢圓 22">
            <a:extLst>
              <a:ext uri="{FF2B5EF4-FFF2-40B4-BE49-F238E27FC236}">
                <a16:creationId xmlns:a16="http://schemas.microsoft.com/office/drawing/2014/main" id="{99B25FC2-1E51-4A2A-B49F-C405AB7D4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063" y="4943475"/>
            <a:ext cx="719137" cy="7191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7" name="橢圓 23">
            <a:extLst>
              <a:ext uri="{FF2B5EF4-FFF2-40B4-BE49-F238E27FC236}">
                <a16:creationId xmlns:a16="http://schemas.microsoft.com/office/drawing/2014/main" id="{9F23022E-86A5-4F99-9B40-288CFCADE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350" y="5743575"/>
            <a:ext cx="719138" cy="7191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8" name="橢圓 24">
            <a:extLst>
              <a:ext uri="{FF2B5EF4-FFF2-40B4-BE49-F238E27FC236}">
                <a16:creationId xmlns:a16="http://schemas.microsoft.com/office/drawing/2014/main" id="{BB3FC5E6-60DE-4625-8CBC-92C35E133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6725" y="5743575"/>
            <a:ext cx="720725" cy="7191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-2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9" name="橢圓 25">
            <a:extLst>
              <a:ext uri="{FF2B5EF4-FFF2-40B4-BE49-F238E27FC236}">
                <a16:creationId xmlns:a16="http://schemas.microsoft.com/office/drawing/2014/main" id="{9AB3F086-6190-42CC-B5AD-6B510750F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9688" y="5743575"/>
            <a:ext cx="719137" cy="7191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-2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0" name="橢圓 26">
            <a:extLst>
              <a:ext uri="{FF2B5EF4-FFF2-40B4-BE49-F238E27FC236}">
                <a16:creationId xmlns:a16="http://schemas.microsoft.com/office/drawing/2014/main" id="{A1B1A95A-97C7-4832-B378-115BA495D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063" y="5743575"/>
            <a:ext cx="719137" cy="7191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graphicFrame>
        <p:nvGraphicFramePr>
          <p:cNvPr id="21" name="表格 34">
            <a:extLst>
              <a:ext uri="{FF2B5EF4-FFF2-40B4-BE49-F238E27FC236}">
                <a16:creationId xmlns:a16="http://schemas.microsoft.com/office/drawing/2014/main" id="{73233E06-250E-44FD-8878-B19A2FB44D17}"/>
              </a:ext>
            </a:extLst>
          </p:cNvPr>
          <p:cNvGraphicFramePr>
            <a:graphicFrameLocks noGrp="1"/>
          </p:cNvGraphicFramePr>
          <p:nvPr/>
        </p:nvGraphicFramePr>
        <p:xfrm>
          <a:off x="5711825" y="1617663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文字方塊 35">
            <a:extLst>
              <a:ext uri="{FF2B5EF4-FFF2-40B4-BE49-F238E27FC236}">
                <a16:creationId xmlns:a16="http://schemas.microsoft.com/office/drawing/2014/main" id="{306FE921-B3B1-47AD-901D-1F2E9343E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900" y="2085975"/>
            <a:ext cx="1447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Filter 2</a:t>
            </a:r>
            <a:endParaRPr lang="zh-TW" altLang="en-US"/>
          </a:p>
        </p:txBody>
      </p:sp>
      <p:sp>
        <p:nvSpPr>
          <p:cNvPr id="23" name="橢圓 41">
            <a:extLst>
              <a:ext uri="{FF2B5EF4-FFF2-40B4-BE49-F238E27FC236}">
                <a16:creationId xmlns:a16="http://schemas.microsoft.com/office/drawing/2014/main" id="{736C9A81-6CC6-48EE-9A77-5E1CB86AA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5" y="3354388"/>
            <a:ext cx="720725" cy="719137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4" name="橢圓 42">
            <a:extLst>
              <a:ext uri="{FF2B5EF4-FFF2-40B4-BE49-F238E27FC236}">
                <a16:creationId xmlns:a16="http://schemas.microsoft.com/office/drawing/2014/main" id="{10ABE9F3-9CB0-40FA-95C4-68A769C83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0" y="3354388"/>
            <a:ext cx="720725" cy="719137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5" name="橢圓 43">
            <a:extLst>
              <a:ext uri="{FF2B5EF4-FFF2-40B4-BE49-F238E27FC236}">
                <a16:creationId xmlns:a16="http://schemas.microsoft.com/office/drawing/2014/main" id="{1E5C5009-FE9A-4046-89E2-49C4724CF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8463" y="3354388"/>
            <a:ext cx="719137" cy="719137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6" name="橢圓 44">
            <a:extLst>
              <a:ext uri="{FF2B5EF4-FFF2-40B4-BE49-F238E27FC236}">
                <a16:creationId xmlns:a16="http://schemas.microsoft.com/office/drawing/2014/main" id="{D31CFB1B-5DB1-4E69-AFF4-5D5B7DA55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9838" y="3354388"/>
            <a:ext cx="719137" cy="719137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7" name="橢圓 45">
            <a:extLst>
              <a:ext uri="{FF2B5EF4-FFF2-40B4-BE49-F238E27FC236}">
                <a16:creationId xmlns:a16="http://schemas.microsoft.com/office/drawing/2014/main" id="{3A437469-B747-4B6F-848D-E48D3CB6E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5" y="4154488"/>
            <a:ext cx="720725" cy="719137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8" name="橢圓 46">
            <a:extLst>
              <a:ext uri="{FF2B5EF4-FFF2-40B4-BE49-F238E27FC236}">
                <a16:creationId xmlns:a16="http://schemas.microsoft.com/office/drawing/2014/main" id="{833ADB74-0FC5-4D10-ACAE-40F7C8D12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0" y="4154488"/>
            <a:ext cx="720725" cy="719137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9" name="橢圓 47">
            <a:extLst>
              <a:ext uri="{FF2B5EF4-FFF2-40B4-BE49-F238E27FC236}">
                <a16:creationId xmlns:a16="http://schemas.microsoft.com/office/drawing/2014/main" id="{5C53074B-0ECC-434C-98EF-B601002CB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8463" y="4154488"/>
            <a:ext cx="719137" cy="719137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-2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0" name="橢圓 48">
            <a:extLst>
              <a:ext uri="{FF2B5EF4-FFF2-40B4-BE49-F238E27FC236}">
                <a16:creationId xmlns:a16="http://schemas.microsoft.com/office/drawing/2014/main" id="{BA62A3D4-7591-4D47-A39B-9A4E93049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9838" y="4154488"/>
            <a:ext cx="719137" cy="719137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1" name="橢圓 49">
            <a:extLst>
              <a:ext uri="{FF2B5EF4-FFF2-40B4-BE49-F238E27FC236}">
                <a16:creationId xmlns:a16="http://schemas.microsoft.com/office/drawing/2014/main" id="{5FC433FA-45C2-4363-989E-84574F404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5" y="5011738"/>
            <a:ext cx="720725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2" name="橢圓 50">
            <a:extLst>
              <a:ext uri="{FF2B5EF4-FFF2-40B4-BE49-F238E27FC236}">
                <a16:creationId xmlns:a16="http://schemas.microsoft.com/office/drawing/2014/main" id="{77E8AD78-80A8-4B9D-AFA2-EDB74BEA3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0" y="5011738"/>
            <a:ext cx="720725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3" name="橢圓 51">
            <a:extLst>
              <a:ext uri="{FF2B5EF4-FFF2-40B4-BE49-F238E27FC236}">
                <a16:creationId xmlns:a16="http://schemas.microsoft.com/office/drawing/2014/main" id="{206DB9AB-1490-4443-8039-9010FE7F8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8463" y="5011738"/>
            <a:ext cx="719137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-2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4" name="橢圓 52">
            <a:extLst>
              <a:ext uri="{FF2B5EF4-FFF2-40B4-BE49-F238E27FC236}">
                <a16:creationId xmlns:a16="http://schemas.microsoft.com/office/drawing/2014/main" id="{4E17D39C-7399-4F0A-BBA3-B38431EAB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9838" y="5011738"/>
            <a:ext cx="719137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5" name="橢圓 53">
            <a:extLst>
              <a:ext uri="{FF2B5EF4-FFF2-40B4-BE49-F238E27FC236}">
                <a16:creationId xmlns:a16="http://schemas.microsoft.com/office/drawing/2014/main" id="{8F7EB992-EF26-4963-BB84-C34CAE3B5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5" y="5811838"/>
            <a:ext cx="720725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6" name="橢圓 54">
            <a:extLst>
              <a:ext uri="{FF2B5EF4-FFF2-40B4-BE49-F238E27FC236}">
                <a16:creationId xmlns:a16="http://schemas.microsoft.com/office/drawing/2014/main" id="{CA064CDF-8F82-4444-AB11-89E7171D8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0" y="5811838"/>
            <a:ext cx="720725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0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7" name="橢圓 55">
            <a:extLst>
              <a:ext uri="{FF2B5EF4-FFF2-40B4-BE49-F238E27FC236}">
                <a16:creationId xmlns:a16="http://schemas.microsoft.com/office/drawing/2014/main" id="{B857C710-88FB-4C52-9E06-647727D36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8463" y="5811838"/>
            <a:ext cx="719137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-4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8" name="橢圓 56">
            <a:extLst>
              <a:ext uri="{FF2B5EF4-FFF2-40B4-BE49-F238E27FC236}">
                <a16:creationId xmlns:a16="http://schemas.microsoft.com/office/drawing/2014/main" id="{12F2ACDE-6A4C-473A-8C2F-CD6E5A84E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9838" y="5811838"/>
            <a:ext cx="719137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graphicFrame>
        <p:nvGraphicFramePr>
          <p:cNvPr id="39" name="表格 57">
            <a:extLst>
              <a:ext uri="{FF2B5EF4-FFF2-40B4-BE49-F238E27FC236}">
                <a16:creationId xmlns:a16="http://schemas.microsoft.com/office/drawing/2014/main" id="{CC353267-B015-4F6D-9770-5A97B7CA1639}"/>
              </a:ext>
            </a:extLst>
          </p:cNvPr>
          <p:cNvGraphicFramePr>
            <a:graphicFrameLocks noGrp="1"/>
          </p:cNvGraphicFramePr>
          <p:nvPr/>
        </p:nvGraphicFramePr>
        <p:xfrm>
          <a:off x="1706563" y="1617663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0" name="文字方塊 58">
            <a:extLst>
              <a:ext uri="{FF2B5EF4-FFF2-40B4-BE49-F238E27FC236}">
                <a16:creationId xmlns:a16="http://schemas.microsoft.com/office/drawing/2014/main" id="{B7A165DE-4F6C-4C30-A4F2-F93B8BCD1C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8988" y="2071688"/>
            <a:ext cx="1447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Filter 1</a:t>
            </a:r>
            <a:endParaRPr lang="zh-TW" altLang="en-US"/>
          </a:p>
        </p:txBody>
      </p:sp>
      <p:sp>
        <p:nvSpPr>
          <p:cNvPr id="41" name="矩形 2">
            <a:extLst>
              <a:ext uri="{FF2B5EF4-FFF2-40B4-BE49-F238E27FC236}">
                <a16:creationId xmlns:a16="http://schemas.microsoft.com/office/drawing/2014/main" id="{972CB637-A2A0-456F-8EA5-140D4AAC207A}"/>
              </a:ext>
            </a:extLst>
          </p:cNvPr>
          <p:cNvSpPr/>
          <p:nvPr/>
        </p:nvSpPr>
        <p:spPr>
          <a:xfrm>
            <a:off x="895350" y="3284538"/>
            <a:ext cx="1562100" cy="15208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2" name="矩形 67">
            <a:extLst>
              <a:ext uri="{FF2B5EF4-FFF2-40B4-BE49-F238E27FC236}">
                <a16:creationId xmlns:a16="http://schemas.microsoft.com/office/drawing/2014/main" id="{A10A02EA-3ED9-4A04-9D7B-34F1B9DEF6CA}"/>
              </a:ext>
            </a:extLst>
          </p:cNvPr>
          <p:cNvSpPr/>
          <p:nvPr/>
        </p:nvSpPr>
        <p:spPr>
          <a:xfrm>
            <a:off x="2579688" y="3284538"/>
            <a:ext cx="1560512" cy="15208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3" name="矩形 68">
            <a:extLst>
              <a:ext uri="{FF2B5EF4-FFF2-40B4-BE49-F238E27FC236}">
                <a16:creationId xmlns:a16="http://schemas.microsoft.com/office/drawing/2014/main" id="{5AD336BC-EBF5-4E1E-A278-A5376581CA9F}"/>
              </a:ext>
            </a:extLst>
          </p:cNvPr>
          <p:cNvSpPr/>
          <p:nvPr/>
        </p:nvSpPr>
        <p:spPr>
          <a:xfrm>
            <a:off x="895350" y="4940300"/>
            <a:ext cx="1562100" cy="15208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4" name="矩形 69">
            <a:extLst>
              <a:ext uri="{FF2B5EF4-FFF2-40B4-BE49-F238E27FC236}">
                <a16:creationId xmlns:a16="http://schemas.microsoft.com/office/drawing/2014/main" id="{5CB72431-7D2D-499B-A35A-D3210209C369}"/>
              </a:ext>
            </a:extLst>
          </p:cNvPr>
          <p:cNvSpPr/>
          <p:nvPr/>
        </p:nvSpPr>
        <p:spPr>
          <a:xfrm>
            <a:off x="2579688" y="4940300"/>
            <a:ext cx="1560512" cy="15208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5" name="矩形 70">
            <a:extLst>
              <a:ext uri="{FF2B5EF4-FFF2-40B4-BE49-F238E27FC236}">
                <a16:creationId xmlns:a16="http://schemas.microsoft.com/office/drawing/2014/main" id="{292BBDAB-EFF6-4B70-B8E8-9AFACB6F3F38}"/>
              </a:ext>
            </a:extLst>
          </p:cNvPr>
          <p:cNvSpPr/>
          <p:nvPr/>
        </p:nvSpPr>
        <p:spPr>
          <a:xfrm>
            <a:off x="5064125" y="3325813"/>
            <a:ext cx="1562100" cy="1519237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6" name="矩形 71">
            <a:extLst>
              <a:ext uri="{FF2B5EF4-FFF2-40B4-BE49-F238E27FC236}">
                <a16:creationId xmlns:a16="http://schemas.microsoft.com/office/drawing/2014/main" id="{EFA072F5-C2A2-4829-81B2-575C9FAA2CF8}"/>
              </a:ext>
            </a:extLst>
          </p:cNvPr>
          <p:cNvSpPr/>
          <p:nvPr/>
        </p:nvSpPr>
        <p:spPr>
          <a:xfrm>
            <a:off x="6748463" y="3325813"/>
            <a:ext cx="1560512" cy="1519237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7" name="矩形 72">
            <a:extLst>
              <a:ext uri="{FF2B5EF4-FFF2-40B4-BE49-F238E27FC236}">
                <a16:creationId xmlns:a16="http://schemas.microsoft.com/office/drawing/2014/main" id="{8BDE6238-5496-4152-A5AA-BA5B0CC40629}"/>
              </a:ext>
            </a:extLst>
          </p:cNvPr>
          <p:cNvSpPr/>
          <p:nvPr/>
        </p:nvSpPr>
        <p:spPr>
          <a:xfrm>
            <a:off x="5064125" y="4981575"/>
            <a:ext cx="1562100" cy="1519238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8" name="矩形 73">
            <a:extLst>
              <a:ext uri="{FF2B5EF4-FFF2-40B4-BE49-F238E27FC236}">
                <a16:creationId xmlns:a16="http://schemas.microsoft.com/office/drawing/2014/main" id="{267B5D64-BBCB-47A5-8E0A-D93E165F9321}"/>
              </a:ext>
            </a:extLst>
          </p:cNvPr>
          <p:cNvSpPr/>
          <p:nvPr/>
        </p:nvSpPr>
        <p:spPr>
          <a:xfrm>
            <a:off x="6748463" y="4981575"/>
            <a:ext cx="1560512" cy="1519238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7" grpId="0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2" grpId="0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9" grpId="0" animBg="1"/>
      <p:bldP spid="29" grpId="1" animBg="1"/>
      <p:bldP spid="30" grpId="0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7" grpId="0" animBg="1"/>
      <p:bldP spid="37" grpId="1" animBg="1"/>
      <p:bldP spid="38" grpId="0" animBg="1"/>
      <p:bldP spid="40" grpId="0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標題 1">
            <a:extLst>
              <a:ext uri="{FF2B5EF4-FFF2-40B4-BE49-F238E27FC236}">
                <a16:creationId xmlns:a16="http://schemas.microsoft.com/office/drawing/2014/main" id="{513AB0AC-27DA-48C4-AD2A-506AAF4AE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r>
              <a:rPr lang="en-US" altLang="zh-TW"/>
              <a:t>Why Pooling</a:t>
            </a:r>
            <a:endParaRPr lang="zh-TW" altLang="en-US"/>
          </a:p>
        </p:txBody>
      </p:sp>
      <p:sp>
        <p:nvSpPr>
          <p:cNvPr id="29698" name="內容版面配置區 2">
            <a:extLst>
              <a:ext uri="{FF2B5EF4-FFF2-40B4-BE49-F238E27FC236}">
                <a16:creationId xmlns:a16="http://schemas.microsoft.com/office/drawing/2014/main" id="{CFE9E8FD-9AE0-4888-B411-81F00AF07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r>
              <a:rPr lang="en-US" altLang="zh-TW" sz="2800"/>
              <a:t>Subsampling pixels will not change the object</a:t>
            </a:r>
            <a:endParaRPr lang="zh-TW" altLang="en-US" sz="2800"/>
          </a:p>
        </p:txBody>
      </p:sp>
      <p:pic>
        <p:nvPicPr>
          <p:cNvPr id="6" name="Picture 2" descr="http://insider.si.edu/wordpress/wp-content/uploads/2016/04/Mountain_Bluebird.jpg">
            <a:extLst>
              <a:ext uri="{FF2B5EF4-FFF2-40B4-BE49-F238E27FC236}">
                <a16:creationId xmlns:a16="http://schemas.microsoft.com/office/drawing/2014/main" id="{216F10BE-AD9E-4125-B949-A58EBDD3E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75" y="2924175"/>
            <a:ext cx="3335338" cy="226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http://insider.si.edu/wordpress/wp-content/uploads/2016/04/Mountain_Bluebird.jpg">
            <a:extLst>
              <a:ext uri="{FF2B5EF4-FFF2-40B4-BE49-F238E27FC236}">
                <a16:creationId xmlns:a16="http://schemas.microsoft.com/office/drawing/2014/main" id="{4E134238-47BC-4558-AF29-861602E71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3433763"/>
            <a:ext cx="1757362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向右箭號 3">
            <a:extLst>
              <a:ext uri="{FF2B5EF4-FFF2-40B4-BE49-F238E27FC236}">
                <a16:creationId xmlns:a16="http://schemas.microsoft.com/office/drawing/2014/main" id="{AF81FBA2-7565-4A33-9079-C1CF4EC7D3A3}"/>
              </a:ext>
            </a:extLst>
          </p:cNvPr>
          <p:cNvSpPr/>
          <p:nvPr/>
        </p:nvSpPr>
        <p:spPr>
          <a:xfrm>
            <a:off x="4397375" y="3627438"/>
            <a:ext cx="1860550" cy="80327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9" name="文字方塊 5">
            <a:extLst>
              <a:ext uri="{FF2B5EF4-FFF2-40B4-BE49-F238E27FC236}">
                <a16:creationId xmlns:a16="http://schemas.microsoft.com/office/drawing/2014/main" id="{1D2D2C4E-78E8-4495-BA80-5AA202CCF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1013" y="4424363"/>
            <a:ext cx="2076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>
                <a:solidFill>
                  <a:srgbClr val="FF0000"/>
                </a:solidFill>
              </a:rPr>
              <a:t>Subsampling</a:t>
            </a:r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0" name="文字方塊 6">
            <a:extLst>
              <a:ext uri="{FF2B5EF4-FFF2-40B4-BE49-F238E27FC236}">
                <a16:creationId xmlns:a16="http://schemas.microsoft.com/office/drawing/2014/main" id="{47CBE495-4119-43E0-AF04-D81C96F4C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6425" y="2408238"/>
            <a:ext cx="1495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 sz="2800"/>
              <a:t>bird</a:t>
            </a:r>
            <a:endParaRPr lang="zh-TW" altLang="en-US" sz="2800"/>
          </a:p>
        </p:txBody>
      </p:sp>
      <p:sp>
        <p:nvSpPr>
          <p:cNvPr id="11" name="文字方塊 8">
            <a:extLst>
              <a:ext uri="{FF2B5EF4-FFF2-40B4-BE49-F238E27FC236}">
                <a16:creationId xmlns:a16="http://schemas.microsoft.com/office/drawing/2014/main" id="{18EBE839-62F1-4D44-BF75-1A949DBA4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2900363"/>
            <a:ext cx="14938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 sz="2800"/>
              <a:t>bird</a:t>
            </a:r>
            <a:endParaRPr lang="zh-TW" altLang="en-US" sz="2800"/>
          </a:p>
        </p:txBody>
      </p:sp>
      <p:sp>
        <p:nvSpPr>
          <p:cNvPr id="12" name="文字方塊 7">
            <a:extLst>
              <a:ext uri="{FF2B5EF4-FFF2-40B4-BE49-F238E27FC236}">
                <a16:creationId xmlns:a16="http://schemas.microsoft.com/office/drawing/2014/main" id="{FC4DD582-26E7-4B73-B36D-5D7284E01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5511800"/>
            <a:ext cx="72977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We can subsample the pixels to make image smaller</a:t>
            </a:r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2FBACC9-2701-41F8-824E-C7C3057E6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6425" y="6326189"/>
            <a:ext cx="72675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dirty="0"/>
              <a:t>fewer parameters to characterize the image</a:t>
            </a:r>
            <a:endParaRPr lang="zh-TW" altLang="en-US" dirty="0"/>
          </a:p>
        </p:txBody>
      </p:sp>
      <p:sp>
        <p:nvSpPr>
          <p:cNvPr id="14" name="向右箭號 11">
            <a:extLst>
              <a:ext uri="{FF2B5EF4-FFF2-40B4-BE49-F238E27FC236}">
                <a16:creationId xmlns:a16="http://schemas.microsoft.com/office/drawing/2014/main" id="{4CB4A212-7FB9-4877-A72C-F4B3EDDD87F8}"/>
              </a:ext>
            </a:extLst>
          </p:cNvPr>
          <p:cNvSpPr/>
          <p:nvPr/>
        </p:nvSpPr>
        <p:spPr>
          <a:xfrm>
            <a:off x="779463" y="6230938"/>
            <a:ext cx="920750" cy="4826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/>
      <p:bldP spid="12" grpId="0"/>
      <p:bldP spid="13" grpId="0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B2C1DD3E-65DC-4BA5-AF18-6780F879B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s-ES"/>
              <a:t>A CNN compresses a fully connected network in two ways: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E6896-9D8A-4D9B-A371-EC1E2C67C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8800"/>
            <a:ext cx="8458200" cy="4302125"/>
          </a:xfrm>
        </p:spPr>
        <p:txBody>
          <a:bodyPr/>
          <a:lstStyle/>
          <a:p>
            <a:r>
              <a:rPr lang="en-US" altLang="es-ES"/>
              <a:t>Reducing number of connections</a:t>
            </a:r>
          </a:p>
          <a:p>
            <a:r>
              <a:rPr lang="en-US" altLang="es-ES"/>
              <a:t>Shared weights on the edges</a:t>
            </a:r>
          </a:p>
          <a:p>
            <a:r>
              <a:rPr lang="en-US" altLang="es-ES"/>
              <a:t>Max pooling further reduces the complexity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標題 1">
            <a:extLst>
              <a:ext uri="{FF2B5EF4-FFF2-40B4-BE49-F238E27FC236}">
                <a16:creationId xmlns:a16="http://schemas.microsoft.com/office/drawing/2014/main" id="{FD3CF16C-2F72-497C-B174-86070603F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0801"/>
            <a:ext cx="7886700" cy="889000"/>
          </a:xfrm>
        </p:spPr>
        <p:txBody>
          <a:bodyPr/>
          <a:lstStyle/>
          <a:p>
            <a:r>
              <a:rPr lang="en-US" altLang="zh-TW"/>
              <a:t>Max Pooling</a:t>
            </a:r>
            <a:endParaRPr lang="zh-TW" altLang="en-US"/>
          </a:p>
        </p:txBody>
      </p:sp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id="{845F8C3E-37F3-4A2A-BF76-979B4FAE8DAE}"/>
              </a:ext>
            </a:extLst>
          </p:cNvPr>
          <p:cNvGraphicFramePr>
            <a:graphicFrameLocks/>
          </p:cNvGraphicFramePr>
          <p:nvPr/>
        </p:nvGraphicFramePr>
        <p:xfrm>
          <a:off x="338138" y="2503488"/>
          <a:ext cx="287496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9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9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72" marR="9147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72" marR="9147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72" marR="9147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72" marR="9147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72" marR="9147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72" marR="9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72" marR="9147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797" name="文字方塊 4">
            <a:extLst>
              <a:ext uri="{FF2B5EF4-FFF2-40B4-BE49-F238E27FC236}">
                <a16:creationId xmlns:a16="http://schemas.microsoft.com/office/drawing/2014/main" id="{9A3FF3DB-F720-4218-95B1-4DC7E97FB5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63" y="5492750"/>
            <a:ext cx="23479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6 x 6 image</a:t>
            </a:r>
            <a:endParaRPr lang="zh-TW" altLang="en-US"/>
          </a:p>
        </p:txBody>
      </p:sp>
      <p:sp>
        <p:nvSpPr>
          <p:cNvPr id="7" name="橢圓 5">
            <a:extLst>
              <a:ext uri="{FF2B5EF4-FFF2-40B4-BE49-F238E27FC236}">
                <a16:creationId xmlns:a16="http://schemas.microsoft.com/office/drawing/2014/main" id="{0BE96AE1-751D-44C2-BDFD-9C548ACD3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9238" y="3086100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8" name="橢圓 6">
            <a:extLst>
              <a:ext uri="{FF2B5EF4-FFF2-40B4-BE49-F238E27FC236}">
                <a16:creationId xmlns:a16="http://schemas.microsoft.com/office/drawing/2014/main" id="{E52DDEE0-7F79-43BF-BAEE-70286144A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0788" y="3086100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0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9" name="橢圓 7">
            <a:extLst>
              <a:ext uri="{FF2B5EF4-FFF2-40B4-BE49-F238E27FC236}">
                <a16:creationId xmlns:a16="http://schemas.microsoft.com/office/drawing/2014/main" id="{0B58695C-8AC4-440C-8A27-E58553CB6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0788" y="4195763"/>
            <a:ext cx="719137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0" name="橢圓 8">
            <a:extLst>
              <a:ext uri="{FF2B5EF4-FFF2-40B4-BE49-F238E27FC236}">
                <a16:creationId xmlns:a16="http://schemas.microsoft.com/office/drawing/2014/main" id="{A1130F9D-C99C-4CFB-BDA4-91BDA38D2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9238" y="4195763"/>
            <a:ext cx="719137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1" name="橢圓 9">
            <a:extLst>
              <a:ext uri="{FF2B5EF4-FFF2-40B4-BE49-F238E27FC236}">
                <a16:creationId xmlns:a16="http://schemas.microsoft.com/office/drawing/2014/main" id="{FC73F4E8-F3A4-4BE2-A90C-47F4DA847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8150" y="3303588"/>
            <a:ext cx="720725" cy="720725"/>
          </a:xfrm>
          <a:prstGeom prst="ellipse">
            <a:avLst/>
          </a:prstGeom>
          <a:gradFill rotWithShape="1">
            <a:gsLst>
              <a:gs pos="0">
                <a:srgbClr val="F6F6FF"/>
              </a:gs>
              <a:gs pos="64999">
                <a:srgbClr val="EBEBFF"/>
              </a:gs>
              <a:gs pos="100000">
                <a:srgbClr val="E3E3FF"/>
              </a:gs>
            </a:gsLst>
            <a:lin ang="5400000" scaled="1"/>
          </a:gradFill>
          <a:ln w="9525">
            <a:solidFill>
              <a:srgbClr val="DCDCFA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2" name="橢圓 10">
            <a:extLst>
              <a:ext uri="{FF2B5EF4-FFF2-40B4-BE49-F238E27FC236}">
                <a16:creationId xmlns:a16="http://schemas.microsoft.com/office/drawing/2014/main" id="{86C99937-09D5-47EF-B85E-648AA4FDD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4625" y="3281363"/>
            <a:ext cx="720725" cy="720725"/>
          </a:xfrm>
          <a:prstGeom prst="ellipse">
            <a:avLst/>
          </a:prstGeom>
          <a:gradFill rotWithShape="1">
            <a:gsLst>
              <a:gs pos="0">
                <a:srgbClr val="F6F6FF"/>
              </a:gs>
              <a:gs pos="64999">
                <a:srgbClr val="EBEBFF"/>
              </a:gs>
              <a:gs pos="100000">
                <a:srgbClr val="E3E3FF"/>
              </a:gs>
            </a:gsLst>
            <a:lin ang="5400000" scaled="1"/>
          </a:gradFill>
          <a:ln w="9525">
            <a:solidFill>
              <a:srgbClr val="DCDCFA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1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3" name="橢圓 11">
            <a:extLst>
              <a:ext uri="{FF2B5EF4-FFF2-40B4-BE49-F238E27FC236}">
                <a16:creationId xmlns:a16="http://schemas.microsoft.com/office/drawing/2014/main" id="{2EAA3089-91DD-4BFC-87AC-96DC30A15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4625" y="4352925"/>
            <a:ext cx="720725" cy="719138"/>
          </a:xfrm>
          <a:prstGeom prst="ellipse">
            <a:avLst/>
          </a:prstGeom>
          <a:gradFill rotWithShape="1">
            <a:gsLst>
              <a:gs pos="0">
                <a:srgbClr val="F6F6FF"/>
              </a:gs>
              <a:gs pos="64999">
                <a:srgbClr val="EBEBFF"/>
              </a:gs>
              <a:gs pos="100000">
                <a:srgbClr val="E3E3FF"/>
              </a:gs>
            </a:gsLst>
            <a:lin ang="5400000" scaled="1"/>
          </a:gradFill>
          <a:ln w="9525">
            <a:solidFill>
              <a:srgbClr val="DCDCFA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4" name="橢圓 12">
            <a:extLst>
              <a:ext uri="{FF2B5EF4-FFF2-40B4-BE49-F238E27FC236}">
                <a16:creationId xmlns:a16="http://schemas.microsoft.com/office/drawing/2014/main" id="{ABB9A4F2-EB0B-41C8-9CF6-8B85D5450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2438" y="4354513"/>
            <a:ext cx="720725" cy="720725"/>
          </a:xfrm>
          <a:prstGeom prst="ellipse">
            <a:avLst/>
          </a:prstGeom>
          <a:gradFill rotWithShape="1">
            <a:gsLst>
              <a:gs pos="0">
                <a:srgbClr val="F6F6FF"/>
              </a:gs>
              <a:gs pos="64999">
                <a:srgbClr val="EBEBFF"/>
              </a:gs>
              <a:gs pos="100000">
                <a:srgbClr val="E3E3FF"/>
              </a:gs>
            </a:gsLst>
            <a:lin ang="5400000" scaled="1"/>
          </a:gradFill>
          <a:ln w="9525">
            <a:solidFill>
              <a:srgbClr val="DCDCFA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  <a:latin typeface="+mn-lt"/>
                <a:ea typeface="+mn-ea"/>
              </a:rPr>
              <a:t>0</a:t>
            </a:r>
            <a:endParaRPr lang="zh-TW" altLang="en-US" sz="24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1806" name="文字方塊 13">
            <a:extLst>
              <a:ext uri="{FF2B5EF4-FFF2-40B4-BE49-F238E27FC236}">
                <a16:creationId xmlns:a16="http://schemas.microsoft.com/office/drawing/2014/main" id="{C37DDBC8-15AE-4737-BCF8-C6C8A3C5E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6200" y="5186363"/>
            <a:ext cx="23463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2 x 2 image</a:t>
            </a:r>
            <a:endParaRPr lang="zh-TW" altLang="en-US"/>
          </a:p>
        </p:txBody>
      </p:sp>
      <p:sp>
        <p:nvSpPr>
          <p:cNvPr id="16" name="文字方塊 14">
            <a:extLst>
              <a:ext uri="{FF2B5EF4-FFF2-40B4-BE49-F238E27FC236}">
                <a16:creationId xmlns:a16="http://schemas.microsoft.com/office/drawing/2014/main" id="{A48EA194-9E4D-40B8-8F4F-FB5975763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7313" y="5699125"/>
            <a:ext cx="226695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 sz="2800">
                <a:solidFill>
                  <a:srgbClr val="0000FF"/>
                </a:solidFill>
              </a:rPr>
              <a:t>Each filter </a:t>
            </a:r>
          </a:p>
          <a:p>
            <a:pPr algn="ctr" eaLnBrk="1" hangingPunct="1"/>
            <a:r>
              <a:rPr lang="en-US" altLang="zh-TW" sz="2800">
                <a:solidFill>
                  <a:srgbClr val="0000FF"/>
                </a:solidFill>
              </a:rPr>
              <a:t>is a channel</a:t>
            </a:r>
            <a:endParaRPr lang="zh-TW" altLang="en-US" sz="2800">
              <a:solidFill>
                <a:srgbClr val="0000FF"/>
              </a:solidFill>
            </a:endParaRPr>
          </a:p>
        </p:txBody>
      </p:sp>
      <p:sp>
        <p:nvSpPr>
          <p:cNvPr id="17" name="向右箭號 15">
            <a:extLst>
              <a:ext uri="{FF2B5EF4-FFF2-40B4-BE49-F238E27FC236}">
                <a16:creationId xmlns:a16="http://schemas.microsoft.com/office/drawing/2014/main" id="{7AB66FFC-C141-4883-BE2C-1F0821057211}"/>
              </a:ext>
            </a:extLst>
          </p:cNvPr>
          <p:cNvSpPr/>
          <p:nvPr/>
        </p:nvSpPr>
        <p:spPr>
          <a:xfrm>
            <a:off x="3152775" y="2728913"/>
            <a:ext cx="858838" cy="84772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56F67E1B-4E88-4157-A388-D863357FF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7313" y="1957388"/>
            <a:ext cx="227965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 sz="2800"/>
              <a:t>New image </a:t>
            </a:r>
          </a:p>
          <a:p>
            <a:pPr algn="ctr" eaLnBrk="1" hangingPunct="1"/>
            <a:r>
              <a:rPr lang="en-US" altLang="zh-TW" sz="2800"/>
              <a:t>but smaller</a:t>
            </a:r>
            <a:endParaRPr lang="zh-TW" altLang="en-US" sz="28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521FE73-E9EC-4D76-B848-6C37B18EADDB}"/>
              </a:ext>
            </a:extLst>
          </p:cNvPr>
          <p:cNvSpPr/>
          <p:nvPr/>
        </p:nvSpPr>
        <p:spPr>
          <a:xfrm>
            <a:off x="4014788" y="2609850"/>
            <a:ext cx="1374775" cy="106838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800" dirty="0">
                <a:solidFill>
                  <a:srgbClr val="000000"/>
                </a:solidFill>
              </a:rPr>
              <a:t>Conv</a:t>
            </a:r>
            <a:endParaRPr lang="zh-TW" altLang="en-US" sz="2800" dirty="0">
              <a:solidFill>
                <a:srgbClr val="000000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799B07F-F819-438B-9AF5-7629D1607513}"/>
              </a:ext>
            </a:extLst>
          </p:cNvPr>
          <p:cNvSpPr/>
          <p:nvPr/>
        </p:nvSpPr>
        <p:spPr>
          <a:xfrm>
            <a:off x="4011613" y="4187825"/>
            <a:ext cx="1377950" cy="1066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800" dirty="0">
                <a:solidFill>
                  <a:srgbClr val="000000"/>
                </a:solidFill>
              </a:rPr>
              <a:t>Max</a:t>
            </a:r>
          </a:p>
          <a:p>
            <a:pPr algn="ctr">
              <a:defRPr/>
            </a:pPr>
            <a:r>
              <a:rPr lang="en-US" altLang="zh-TW" sz="2800" dirty="0">
                <a:solidFill>
                  <a:srgbClr val="000000"/>
                </a:solidFill>
              </a:rPr>
              <a:t>Pooling</a:t>
            </a:r>
            <a:endParaRPr lang="zh-TW" altLang="en-US" sz="2800" dirty="0">
              <a:solidFill>
                <a:srgbClr val="000000"/>
              </a:solidFill>
            </a:endParaRPr>
          </a:p>
        </p:txBody>
      </p:sp>
      <p:sp>
        <p:nvSpPr>
          <p:cNvPr id="21" name="向右箭號 20">
            <a:extLst>
              <a:ext uri="{FF2B5EF4-FFF2-40B4-BE49-F238E27FC236}">
                <a16:creationId xmlns:a16="http://schemas.microsoft.com/office/drawing/2014/main" id="{D8BE283D-0E1A-4B5F-B058-8A683FF44AAD}"/>
              </a:ext>
            </a:extLst>
          </p:cNvPr>
          <p:cNvSpPr/>
          <p:nvPr/>
        </p:nvSpPr>
        <p:spPr>
          <a:xfrm>
            <a:off x="5378450" y="4289425"/>
            <a:ext cx="858838" cy="84613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2" name="向右箭號 21">
            <a:extLst>
              <a:ext uri="{FF2B5EF4-FFF2-40B4-BE49-F238E27FC236}">
                <a16:creationId xmlns:a16="http://schemas.microsoft.com/office/drawing/2014/main" id="{BA0DF5CB-EB66-4142-B57D-220627378172}"/>
              </a:ext>
            </a:extLst>
          </p:cNvPr>
          <p:cNvSpPr/>
          <p:nvPr/>
        </p:nvSpPr>
        <p:spPr>
          <a:xfrm rot="5400000">
            <a:off x="4454525" y="3517900"/>
            <a:ext cx="492125" cy="84772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標題 1">
            <a:extLst>
              <a:ext uri="{FF2B5EF4-FFF2-40B4-BE49-F238E27FC236}">
                <a16:creationId xmlns:a16="http://schemas.microsoft.com/office/drawing/2014/main" id="{2E13B727-58A2-4696-A0DE-22829D08E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125" y="60418"/>
            <a:ext cx="7886700" cy="1325563"/>
          </a:xfrm>
        </p:spPr>
        <p:txBody>
          <a:bodyPr/>
          <a:lstStyle/>
          <a:p>
            <a:r>
              <a:rPr lang="en-US" altLang="zh-TW"/>
              <a:t>The whole CNN</a:t>
            </a:r>
            <a:endParaRPr lang="zh-TW" altLang="en-US"/>
          </a:p>
        </p:txBody>
      </p:sp>
      <p:pic>
        <p:nvPicPr>
          <p:cNvPr id="32770" name="Picture 2" descr="http://s.hswstatic.com/gif/whiskers-sam.jpg">
            <a:extLst>
              <a:ext uri="{FF2B5EF4-FFF2-40B4-BE49-F238E27FC236}">
                <a16:creationId xmlns:a16="http://schemas.microsoft.com/office/drawing/2014/main" id="{B987F27E-B565-46E0-9EFD-B72B6DDFE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38" y="192088"/>
            <a:ext cx="1771650" cy="120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10">
            <a:extLst>
              <a:ext uri="{FF2B5EF4-FFF2-40B4-BE49-F238E27FC236}">
                <a16:creationId xmlns:a16="http://schemas.microsoft.com/office/drawing/2014/main" id="{A8B98BD1-2B68-4F06-888C-CFBEC5FE8AA1}"/>
              </a:ext>
            </a:extLst>
          </p:cNvPr>
          <p:cNvSpPr/>
          <p:nvPr/>
        </p:nvSpPr>
        <p:spPr>
          <a:xfrm>
            <a:off x="5249923" y="1929505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Convolution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7" name="矩形 12">
            <a:extLst>
              <a:ext uri="{FF2B5EF4-FFF2-40B4-BE49-F238E27FC236}">
                <a16:creationId xmlns:a16="http://schemas.microsoft.com/office/drawing/2014/main" id="{8F5F48C3-40CF-4768-B9E7-C6C902878C0A}"/>
              </a:ext>
            </a:extLst>
          </p:cNvPr>
          <p:cNvSpPr/>
          <p:nvPr/>
        </p:nvSpPr>
        <p:spPr>
          <a:xfrm>
            <a:off x="5249923" y="3029517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Max Pooling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8" name="矩形 13">
            <a:extLst>
              <a:ext uri="{FF2B5EF4-FFF2-40B4-BE49-F238E27FC236}">
                <a16:creationId xmlns:a16="http://schemas.microsoft.com/office/drawing/2014/main" id="{62EEDF51-9257-453B-871F-CFEEEFAF94C3}"/>
              </a:ext>
            </a:extLst>
          </p:cNvPr>
          <p:cNvSpPr/>
          <p:nvPr/>
        </p:nvSpPr>
        <p:spPr>
          <a:xfrm>
            <a:off x="5249923" y="4097730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Convolution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9" name="矩形 14">
            <a:extLst>
              <a:ext uri="{FF2B5EF4-FFF2-40B4-BE49-F238E27FC236}">
                <a16:creationId xmlns:a16="http://schemas.microsoft.com/office/drawing/2014/main" id="{F650C8D6-41A2-4126-9F64-4AC1C080F7BF}"/>
              </a:ext>
            </a:extLst>
          </p:cNvPr>
          <p:cNvSpPr/>
          <p:nvPr/>
        </p:nvSpPr>
        <p:spPr>
          <a:xfrm>
            <a:off x="5249923" y="5130982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Max Pooling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10" name="向下箭號 11">
            <a:extLst>
              <a:ext uri="{FF2B5EF4-FFF2-40B4-BE49-F238E27FC236}">
                <a16:creationId xmlns:a16="http://schemas.microsoft.com/office/drawing/2014/main" id="{C20C5AF2-6EC8-4260-9DB3-E589CBBC8341}"/>
              </a:ext>
            </a:extLst>
          </p:cNvPr>
          <p:cNvSpPr/>
          <p:nvPr/>
        </p:nvSpPr>
        <p:spPr>
          <a:xfrm>
            <a:off x="5868988" y="1450975"/>
            <a:ext cx="546100" cy="44291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1" name="向下箭號 17">
            <a:extLst>
              <a:ext uri="{FF2B5EF4-FFF2-40B4-BE49-F238E27FC236}">
                <a16:creationId xmlns:a16="http://schemas.microsoft.com/office/drawing/2014/main" id="{7F8CAD18-48F9-426F-AE3A-1DA62A58142F}"/>
              </a:ext>
            </a:extLst>
          </p:cNvPr>
          <p:cNvSpPr/>
          <p:nvPr/>
        </p:nvSpPr>
        <p:spPr>
          <a:xfrm>
            <a:off x="5868988" y="2562225"/>
            <a:ext cx="546100" cy="44291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2" name="向下箭號 18">
            <a:extLst>
              <a:ext uri="{FF2B5EF4-FFF2-40B4-BE49-F238E27FC236}">
                <a16:creationId xmlns:a16="http://schemas.microsoft.com/office/drawing/2014/main" id="{E797D222-EC09-48AB-AC8D-BC643E565507}"/>
              </a:ext>
            </a:extLst>
          </p:cNvPr>
          <p:cNvSpPr/>
          <p:nvPr/>
        </p:nvSpPr>
        <p:spPr>
          <a:xfrm>
            <a:off x="5868988" y="3654425"/>
            <a:ext cx="546100" cy="441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3" name="向下箭號 19">
            <a:extLst>
              <a:ext uri="{FF2B5EF4-FFF2-40B4-BE49-F238E27FC236}">
                <a16:creationId xmlns:a16="http://schemas.microsoft.com/office/drawing/2014/main" id="{EC50A9AA-9A23-40BC-8F54-B09EAB657A1D}"/>
              </a:ext>
            </a:extLst>
          </p:cNvPr>
          <p:cNvSpPr/>
          <p:nvPr/>
        </p:nvSpPr>
        <p:spPr>
          <a:xfrm>
            <a:off x="5868988" y="4689475"/>
            <a:ext cx="546100" cy="441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2787" name="文字方塊 20">
            <a:extLst>
              <a:ext uri="{FF2B5EF4-FFF2-40B4-BE49-F238E27FC236}">
                <a16:creationId xmlns:a16="http://schemas.microsoft.com/office/drawing/2014/main" id="{72421297-A44D-43F8-8697-017BDFAC0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3414713"/>
            <a:ext cx="16906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Can repeat many times</a:t>
            </a:r>
            <a:endParaRPr lang="zh-TW" altLang="en-US"/>
          </a:p>
        </p:txBody>
      </p:sp>
      <p:sp>
        <p:nvSpPr>
          <p:cNvPr id="15" name="左大括弧 22">
            <a:extLst>
              <a:ext uri="{FF2B5EF4-FFF2-40B4-BE49-F238E27FC236}">
                <a16:creationId xmlns:a16="http://schemas.microsoft.com/office/drawing/2014/main" id="{41030015-929B-4050-94FF-8B89252AAF4E}"/>
              </a:ext>
            </a:extLst>
          </p:cNvPr>
          <p:cNvSpPr/>
          <p:nvPr/>
        </p:nvSpPr>
        <p:spPr>
          <a:xfrm flipH="1">
            <a:off x="7026275" y="1806575"/>
            <a:ext cx="334963" cy="4048125"/>
          </a:xfrm>
          <a:prstGeom prst="leftBrace">
            <a:avLst>
              <a:gd name="adj1" fmla="val 7289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6" name="矩形 25">
            <a:extLst>
              <a:ext uri="{FF2B5EF4-FFF2-40B4-BE49-F238E27FC236}">
                <a16:creationId xmlns:a16="http://schemas.microsoft.com/office/drawing/2014/main" id="{DF9319B3-71D7-4F79-9AA7-0B53A03AC1B4}"/>
              </a:ext>
            </a:extLst>
          </p:cNvPr>
          <p:cNvSpPr/>
          <p:nvPr/>
        </p:nvSpPr>
        <p:spPr>
          <a:xfrm>
            <a:off x="5189538" y="1847850"/>
            <a:ext cx="1857375" cy="190023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7" name="文字方塊 24">
            <a:extLst>
              <a:ext uri="{FF2B5EF4-FFF2-40B4-BE49-F238E27FC236}">
                <a16:creationId xmlns:a16="http://schemas.microsoft.com/office/drawing/2014/main" id="{A43B124C-DA08-4B5F-9D69-91A497C0205A}"/>
              </a:ext>
            </a:extLst>
          </p:cNvPr>
          <p:cNvSpPr txBox="1"/>
          <p:nvPr/>
        </p:nvSpPr>
        <p:spPr>
          <a:xfrm>
            <a:off x="1381456" y="3568646"/>
            <a:ext cx="2097183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zh-TW" sz="2400" dirty="0"/>
              <a:t>A new image</a:t>
            </a:r>
            <a:endParaRPr lang="zh-TW" altLang="en-US" sz="2400" dirty="0"/>
          </a:p>
        </p:txBody>
      </p:sp>
      <p:sp>
        <p:nvSpPr>
          <p:cNvPr id="18" name="文字方塊 26">
            <a:extLst>
              <a:ext uri="{FF2B5EF4-FFF2-40B4-BE49-F238E27FC236}">
                <a16:creationId xmlns:a16="http://schemas.microsoft.com/office/drawing/2014/main" id="{EAF7D513-ECC7-41A2-8BA4-A300483F8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" y="5210175"/>
            <a:ext cx="42894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2800"/>
              <a:t>The number of channels is the number of filters</a:t>
            </a:r>
            <a:endParaRPr lang="zh-TW" altLang="en-US" sz="2800"/>
          </a:p>
        </p:txBody>
      </p:sp>
      <p:sp>
        <p:nvSpPr>
          <p:cNvPr id="19" name="文字方塊 27">
            <a:extLst>
              <a:ext uri="{FF2B5EF4-FFF2-40B4-BE49-F238E27FC236}">
                <a16:creationId xmlns:a16="http://schemas.microsoft.com/office/drawing/2014/main" id="{D42D669A-D1D0-4351-B3F8-022AFBDB5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" y="4251325"/>
            <a:ext cx="424973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2800"/>
              <a:t>Smaller than the original image</a:t>
            </a:r>
            <a:endParaRPr lang="zh-TW" altLang="en-US" sz="2800"/>
          </a:p>
        </p:txBody>
      </p:sp>
      <p:cxnSp>
        <p:nvCxnSpPr>
          <p:cNvPr id="20" name="直線單箭頭接點 6">
            <a:extLst>
              <a:ext uri="{FF2B5EF4-FFF2-40B4-BE49-F238E27FC236}">
                <a16:creationId xmlns:a16="http://schemas.microsoft.com/office/drawing/2014/main" id="{CF3F0DB3-5BF6-4BCE-AF86-A6F72545A3A6}"/>
              </a:ext>
            </a:extLst>
          </p:cNvPr>
          <p:cNvCxnSpPr/>
          <p:nvPr/>
        </p:nvCxnSpPr>
        <p:spPr>
          <a:xfrm flipH="1">
            <a:off x="3535363" y="3875088"/>
            <a:ext cx="227012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8">
            <a:extLst>
              <a:ext uri="{FF2B5EF4-FFF2-40B4-BE49-F238E27FC236}">
                <a16:creationId xmlns:a16="http://schemas.microsoft.com/office/drawing/2014/main" id="{5B2A7D03-8583-4EAF-93A3-7E2927C98DE4}"/>
              </a:ext>
            </a:extLst>
          </p:cNvPr>
          <p:cNvSpPr/>
          <p:nvPr/>
        </p:nvSpPr>
        <p:spPr>
          <a:xfrm>
            <a:off x="5189538" y="4002088"/>
            <a:ext cx="1857375" cy="190023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grpSp>
        <p:nvGrpSpPr>
          <p:cNvPr id="22" name="群組 7">
            <a:extLst>
              <a:ext uri="{FF2B5EF4-FFF2-40B4-BE49-F238E27FC236}">
                <a16:creationId xmlns:a16="http://schemas.microsoft.com/office/drawing/2014/main" id="{6C5D3A3C-61B2-459E-9018-B21591F2A817}"/>
              </a:ext>
            </a:extLst>
          </p:cNvPr>
          <p:cNvGrpSpPr>
            <a:grpSpLocks/>
          </p:cNvGrpSpPr>
          <p:nvPr/>
        </p:nvGrpSpPr>
        <p:grpSpPr bwMode="auto">
          <a:xfrm>
            <a:off x="1562100" y="1611313"/>
            <a:ext cx="1947863" cy="1771650"/>
            <a:chOff x="1561968" y="1612084"/>
            <a:chExt cx="1947915" cy="1771562"/>
          </a:xfrm>
        </p:grpSpPr>
        <p:sp>
          <p:nvSpPr>
            <p:cNvPr id="23" name="橢圓 29">
              <a:extLst>
                <a:ext uri="{FF2B5EF4-FFF2-40B4-BE49-F238E27FC236}">
                  <a16:creationId xmlns:a16="http://schemas.microsoft.com/office/drawing/2014/main" id="{6032F5EE-226F-4F10-9FE4-66FC71796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3719" y="1612084"/>
              <a:ext cx="719157" cy="720689"/>
            </a:xfrm>
            <a:prstGeom prst="ellipse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altLang="zh-TW" sz="2400" dirty="0">
                  <a:solidFill>
                    <a:schemeClr val="dk1"/>
                  </a:solidFill>
                  <a:latin typeface="+mn-lt"/>
                  <a:ea typeface="+mn-ea"/>
                </a:rPr>
                <a:t>3</a:t>
              </a:r>
              <a:endParaRPr lang="zh-TW" altLang="en-US" sz="2400" dirty="0">
                <a:solidFill>
                  <a:schemeClr val="dk1"/>
                </a:solidFill>
                <a:latin typeface="+mn-lt"/>
                <a:ea typeface="+mn-ea"/>
              </a:endParaRPr>
            </a:p>
          </p:txBody>
        </p:sp>
        <p:sp>
          <p:nvSpPr>
            <p:cNvPr id="24" name="橢圓 30">
              <a:extLst>
                <a:ext uri="{FF2B5EF4-FFF2-40B4-BE49-F238E27FC236}">
                  <a16:creationId xmlns:a16="http://schemas.microsoft.com/office/drawing/2014/main" id="{89175B2A-919A-43BD-9223-F40FF5DA4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5295" y="1612084"/>
              <a:ext cx="719157" cy="720689"/>
            </a:xfrm>
            <a:prstGeom prst="ellipse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altLang="zh-TW" sz="2400" dirty="0">
                  <a:solidFill>
                    <a:schemeClr val="dk1"/>
                  </a:solidFill>
                  <a:latin typeface="+mn-lt"/>
                  <a:ea typeface="+mn-ea"/>
                </a:rPr>
                <a:t>0</a:t>
              </a:r>
              <a:endParaRPr lang="zh-TW" altLang="en-US" sz="2400" dirty="0">
                <a:solidFill>
                  <a:schemeClr val="dk1"/>
                </a:solidFill>
                <a:latin typeface="+mn-lt"/>
                <a:ea typeface="+mn-ea"/>
              </a:endParaRPr>
            </a:p>
          </p:txBody>
        </p:sp>
        <p:sp>
          <p:nvSpPr>
            <p:cNvPr id="25" name="橢圓 31">
              <a:extLst>
                <a:ext uri="{FF2B5EF4-FFF2-40B4-BE49-F238E27FC236}">
                  <a16:creationId xmlns:a16="http://schemas.microsoft.com/office/drawing/2014/main" id="{5599B743-185D-4A98-9CD6-DAF4ECD80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3544" y="2504215"/>
              <a:ext cx="720744" cy="720689"/>
            </a:xfrm>
            <a:prstGeom prst="ellipse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altLang="zh-TW" sz="2400" dirty="0">
                  <a:solidFill>
                    <a:schemeClr val="dk1"/>
                  </a:solidFill>
                  <a:latin typeface="+mn-lt"/>
                  <a:ea typeface="+mn-ea"/>
                </a:rPr>
                <a:t>1</a:t>
              </a:r>
              <a:endParaRPr lang="zh-TW" altLang="en-US" sz="2400" dirty="0">
                <a:solidFill>
                  <a:schemeClr val="dk1"/>
                </a:solidFill>
                <a:latin typeface="+mn-lt"/>
                <a:ea typeface="+mn-ea"/>
              </a:endParaRPr>
            </a:p>
          </p:txBody>
        </p:sp>
        <p:sp>
          <p:nvSpPr>
            <p:cNvPr id="26" name="橢圓 32">
              <a:extLst>
                <a:ext uri="{FF2B5EF4-FFF2-40B4-BE49-F238E27FC236}">
                  <a16:creationId xmlns:a16="http://schemas.microsoft.com/office/drawing/2014/main" id="{1A1F879B-46B9-4B2A-85DC-4B0B68679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1968" y="2504215"/>
              <a:ext cx="720744" cy="720689"/>
            </a:xfrm>
            <a:prstGeom prst="ellipse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altLang="zh-TW" sz="2400" dirty="0">
                  <a:solidFill>
                    <a:schemeClr val="dk1"/>
                  </a:solidFill>
                  <a:latin typeface="+mn-lt"/>
                  <a:ea typeface="+mn-ea"/>
                </a:rPr>
                <a:t>3</a:t>
              </a:r>
              <a:endParaRPr lang="zh-TW" altLang="en-US" sz="2400" dirty="0">
                <a:solidFill>
                  <a:schemeClr val="dk1"/>
                </a:solidFill>
                <a:latin typeface="+mn-lt"/>
                <a:ea typeface="+mn-ea"/>
              </a:endParaRPr>
            </a:p>
          </p:txBody>
        </p:sp>
        <p:sp>
          <p:nvSpPr>
            <p:cNvPr id="27" name="橢圓 33">
              <a:extLst>
                <a:ext uri="{FF2B5EF4-FFF2-40B4-BE49-F238E27FC236}">
                  <a16:creationId xmlns:a16="http://schemas.microsoft.com/office/drawing/2014/main" id="{3B022C47-DAD6-448B-87A5-849677146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2637" y="1829560"/>
              <a:ext cx="720744" cy="719102"/>
            </a:xfrm>
            <a:prstGeom prst="ellipse">
              <a:avLst/>
            </a:prstGeom>
            <a:gradFill rotWithShape="1">
              <a:gsLst>
                <a:gs pos="0">
                  <a:srgbClr val="F6F6FF"/>
                </a:gs>
                <a:gs pos="64999">
                  <a:srgbClr val="EBEBFF"/>
                </a:gs>
                <a:gs pos="100000">
                  <a:srgbClr val="E3E3FF"/>
                </a:gs>
              </a:gsLst>
              <a:lin ang="5400000" scaled="1"/>
            </a:gradFill>
            <a:ln w="9525">
              <a:solidFill>
                <a:srgbClr val="DCDCFA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altLang="zh-TW" sz="2400" dirty="0">
                  <a:solidFill>
                    <a:schemeClr val="dk1"/>
                  </a:solidFill>
                  <a:latin typeface="+mn-lt"/>
                  <a:ea typeface="+mn-ea"/>
                </a:rPr>
                <a:t>-1</a:t>
              </a:r>
              <a:endParaRPr lang="zh-TW" altLang="en-US" sz="2400" dirty="0">
                <a:solidFill>
                  <a:schemeClr val="dk1"/>
                </a:solidFill>
                <a:latin typeface="+mn-lt"/>
                <a:ea typeface="+mn-ea"/>
              </a:endParaRPr>
            </a:p>
          </p:txBody>
        </p:sp>
        <p:sp>
          <p:nvSpPr>
            <p:cNvPr id="28" name="橢圓 34">
              <a:extLst>
                <a:ext uri="{FF2B5EF4-FFF2-40B4-BE49-F238E27FC236}">
                  <a16:creationId xmlns:a16="http://schemas.microsoft.com/office/drawing/2014/main" id="{CF1A6C1C-1519-44C3-9BE3-F5E931923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9139" y="1805749"/>
              <a:ext cx="720744" cy="720689"/>
            </a:xfrm>
            <a:prstGeom prst="ellipse">
              <a:avLst/>
            </a:prstGeom>
            <a:gradFill rotWithShape="1">
              <a:gsLst>
                <a:gs pos="0">
                  <a:srgbClr val="F6F6FF"/>
                </a:gs>
                <a:gs pos="64999">
                  <a:srgbClr val="EBEBFF"/>
                </a:gs>
                <a:gs pos="100000">
                  <a:srgbClr val="E3E3FF"/>
                </a:gs>
              </a:gsLst>
              <a:lin ang="5400000" scaled="1"/>
            </a:gradFill>
            <a:ln w="9525">
              <a:solidFill>
                <a:srgbClr val="DCDCFA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altLang="zh-TW" sz="2400" dirty="0">
                  <a:solidFill>
                    <a:schemeClr val="dk1"/>
                  </a:solidFill>
                  <a:latin typeface="+mn-lt"/>
                  <a:ea typeface="+mn-ea"/>
                </a:rPr>
                <a:t>1</a:t>
              </a:r>
              <a:endParaRPr lang="zh-TW" altLang="en-US" sz="2400" dirty="0">
                <a:solidFill>
                  <a:schemeClr val="dk1"/>
                </a:solidFill>
                <a:latin typeface="+mn-lt"/>
                <a:ea typeface="+mn-ea"/>
              </a:endParaRPr>
            </a:p>
          </p:txBody>
        </p:sp>
        <p:sp>
          <p:nvSpPr>
            <p:cNvPr id="29" name="橢圓 35">
              <a:extLst>
                <a:ext uri="{FF2B5EF4-FFF2-40B4-BE49-F238E27FC236}">
                  <a16:creationId xmlns:a16="http://schemas.microsoft.com/office/drawing/2014/main" id="{16C076AA-F650-4916-8A55-A4D1C13327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8975" y="2661369"/>
              <a:ext cx="719157" cy="719102"/>
            </a:xfrm>
            <a:prstGeom prst="ellipse">
              <a:avLst/>
            </a:prstGeom>
            <a:gradFill rotWithShape="1">
              <a:gsLst>
                <a:gs pos="0">
                  <a:srgbClr val="F6F6FF"/>
                </a:gs>
                <a:gs pos="64999">
                  <a:srgbClr val="EBEBFF"/>
                </a:gs>
                <a:gs pos="100000">
                  <a:srgbClr val="E3E3FF"/>
                </a:gs>
              </a:gsLst>
              <a:lin ang="5400000" scaled="1"/>
            </a:gradFill>
            <a:ln w="9525">
              <a:solidFill>
                <a:srgbClr val="DCDCFA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altLang="zh-TW" sz="2400" dirty="0">
                  <a:solidFill>
                    <a:schemeClr val="dk1"/>
                  </a:solidFill>
                  <a:latin typeface="+mn-lt"/>
                  <a:ea typeface="+mn-ea"/>
                </a:rPr>
                <a:t>3</a:t>
              </a:r>
              <a:endParaRPr lang="zh-TW" altLang="en-US" sz="2400" dirty="0">
                <a:solidFill>
                  <a:schemeClr val="dk1"/>
                </a:solidFill>
                <a:latin typeface="+mn-lt"/>
                <a:ea typeface="+mn-ea"/>
              </a:endParaRPr>
            </a:p>
          </p:txBody>
        </p:sp>
        <p:sp>
          <p:nvSpPr>
            <p:cNvPr id="30" name="橢圓 36">
              <a:extLst>
                <a:ext uri="{FF2B5EF4-FFF2-40B4-BE49-F238E27FC236}">
                  <a16:creationId xmlns:a16="http://schemas.microsoft.com/office/drawing/2014/main" id="{ADD95A87-EB22-4E29-8E52-CB088220CD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6761" y="2662957"/>
              <a:ext cx="719156" cy="720689"/>
            </a:xfrm>
            <a:prstGeom prst="ellipse">
              <a:avLst/>
            </a:prstGeom>
            <a:gradFill rotWithShape="1">
              <a:gsLst>
                <a:gs pos="0">
                  <a:srgbClr val="F6F6FF"/>
                </a:gs>
                <a:gs pos="64999">
                  <a:srgbClr val="EBEBFF"/>
                </a:gs>
                <a:gs pos="100000">
                  <a:srgbClr val="E3E3FF"/>
                </a:gs>
              </a:gsLst>
              <a:lin ang="5400000" scaled="1"/>
            </a:gradFill>
            <a:ln w="9525">
              <a:solidFill>
                <a:srgbClr val="DCDCFA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altLang="zh-TW" sz="2400" dirty="0">
                  <a:solidFill>
                    <a:schemeClr val="dk1"/>
                  </a:solidFill>
                  <a:latin typeface="+mn-lt"/>
                  <a:ea typeface="+mn-ea"/>
                </a:rPr>
                <a:t>0</a:t>
              </a:r>
              <a:endParaRPr lang="zh-TW" altLang="en-US" sz="2400" dirty="0">
                <a:solidFill>
                  <a:schemeClr val="dk1"/>
                </a:solidFill>
                <a:latin typeface="+mn-lt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/>
      <p:bldP spid="19" grpId="0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標題 1">
            <a:extLst>
              <a:ext uri="{FF2B5EF4-FFF2-40B4-BE49-F238E27FC236}">
                <a16:creationId xmlns:a16="http://schemas.microsoft.com/office/drawing/2014/main" id="{072CDED2-5BCD-4AC1-B9BD-B0D219CF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083" y="96243"/>
            <a:ext cx="7886700" cy="1325563"/>
          </a:xfrm>
        </p:spPr>
        <p:txBody>
          <a:bodyPr/>
          <a:lstStyle/>
          <a:p>
            <a:r>
              <a:rPr lang="en-US" altLang="zh-TW"/>
              <a:t>The whole CNN</a:t>
            </a:r>
            <a:endParaRPr lang="zh-TW" altLang="en-US"/>
          </a:p>
        </p:txBody>
      </p:sp>
      <p:grpSp>
        <p:nvGrpSpPr>
          <p:cNvPr id="33794" name="群組 3">
            <a:extLst>
              <a:ext uri="{FF2B5EF4-FFF2-40B4-BE49-F238E27FC236}">
                <a16:creationId xmlns:a16="http://schemas.microsoft.com/office/drawing/2014/main" id="{20E6025C-243B-4566-935D-C06CE18167A4}"/>
              </a:ext>
            </a:extLst>
          </p:cNvPr>
          <p:cNvGrpSpPr>
            <a:grpSpLocks/>
          </p:cNvGrpSpPr>
          <p:nvPr/>
        </p:nvGrpSpPr>
        <p:grpSpPr bwMode="auto">
          <a:xfrm>
            <a:off x="749300" y="2274888"/>
            <a:ext cx="2906713" cy="3200400"/>
            <a:chOff x="-1626455" y="3999117"/>
            <a:chExt cx="2906568" cy="3201477"/>
          </a:xfrm>
        </p:grpSpPr>
        <p:pic>
          <p:nvPicPr>
            <p:cNvPr id="33825" name="圖片 4">
              <a:extLst>
                <a:ext uri="{FF2B5EF4-FFF2-40B4-BE49-F238E27FC236}">
                  <a16:creationId xmlns:a16="http://schemas.microsoft.com/office/drawing/2014/main" id="{B468F179-B284-482C-96AF-52D7B15C2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H="1">
              <a:off x="-1736746" y="4748962"/>
              <a:ext cx="3201477" cy="1701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文字方塊 5">
              <a:extLst>
                <a:ext uri="{FF2B5EF4-FFF2-40B4-BE49-F238E27FC236}">
                  <a16:creationId xmlns:a16="http://schemas.microsoft.com/office/drawing/2014/main" id="{66693A35-C4D9-4128-9DBE-B049B8445F4C}"/>
                </a:ext>
              </a:extLst>
            </p:cNvPr>
            <p:cNvSpPr txBox="1"/>
            <p:nvPr/>
          </p:nvSpPr>
          <p:spPr>
            <a:xfrm>
              <a:off x="-1626455" y="5442856"/>
              <a:ext cx="2906568" cy="70788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TW" sz="2000" dirty="0">
                  <a:solidFill>
                    <a:srgbClr val="000000"/>
                  </a:solidFill>
                </a:rPr>
                <a:t>Fully Connected Feedforward network</a:t>
              </a:r>
              <a:endParaRPr lang="zh-TW" altLang="en-US" sz="200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33795" name="Picture 2" descr="http://s.hswstatic.com/gif/whiskers-sam.jpg">
            <a:extLst>
              <a:ext uri="{FF2B5EF4-FFF2-40B4-BE49-F238E27FC236}">
                <a16:creationId xmlns:a16="http://schemas.microsoft.com/office/drawing/2014/main" id="{5CF366B0-6870-4655-B4AF-3B24FB3E5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38" y="192088"/>
            <a:ext cx="1771650" cy="120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6" name="文字方塊 8">
            <a:extLst>
              <a:ext uri="{FF2B5EF4-FFF2-40B4-BE49-F238E27FC236}">
                <a16:creationId xmlns:a16="http://schemas.microsoft.com/office/drawing/2014/main" id="{FA5DA968-E5A3-4F82-BCCF-A53500339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7938" y="1706563"/>
            <a:ext cx="2046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cat dog ……</a:t>
            </a:r>
            <a:endParaRPr lang="zh-TW" altLang="en-US"/>
          </a:p>
        </p:txBody>
      </p:sp>
      <p:sp>
        <p:nvSpPr>
          <p:cNvPr id="10" name="矩形 10">
            <a:extLst>
              <a:ext uri="{FF2B5EF4-FFF2-40B4-BE49-F238E27FC236}">
                <a16:creationId xmlns:a16="http://schemas.microsoft.com/office/drawing/2014/main" id="{35923FF9-6E8F-48CE-86B5-3C7ECA2FCD91}"/>
              </a:ext>
            </a:extLst>
          </p:cNvPr>
          <p:cNvSpPr/>
          <p:nvPr/>
        </p:nvSpPr>
        <p:spPr>
          <a:xfrm>
            <a:off x="5249923" y="1929505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Convolution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11" name="矩形 12">
            <a:extLst>
              <a:ext uri="{FF2B5EF4-FFF2-40B4-BE49-F238E27FC236}">
                <a16:creationId xmlns:a16="http://schemas.microsoft.com/office/drawing/2014/main" id="{7E71EFE5-4E32-48A0-A61F-B549BF2610C4}"/>
              </a:ext>
            </a:extLst>
          </p:cNvPr>
          <p:cNvSpPr/>
          <p:nvPr/>
        </p:nvSpPr>
        <p:spPr>
          <a:xfrm>
            <a:off x="5249923" y="3029517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Max Pooling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12" name="矩形 13">
            <a:extLst>
              <a:ext uri="{FF2B5EF4-FFF2-40B4-BE49-F238E27FC236}">
                <a16:creationId xmlns:a16="http://schemas.microsoft.com/office/drawing/2014/main" id="{AB3B31B7-1B1E-4368-8AF1-A48032009DA2}"/>
              </a:ext>
            </a:extLst>
          </p:cNvPr>
          <p:cNvSpPr/>
          <p:nvPr/>
        </p:nvSpPr>
        <p:spPr>
          <a:xfrm>
            <a:off x="5249923" y="4097730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Convolution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13" name="矩形 14">
            <a:extLst>
              <a:ext uri="{FF2B5EF4-FFF2-40B4-BE49-F238E27FC236}">
                <a16:creationId xmlns:a16="http://schemas.microsoft.com/office/drawing/2014/main" id="{2AC318E2-B8A9-4A69-9A79-255955571719}"/>
              </a:ext>
            </a:extLst>
          </p:cNvPr>
          <p:cNvSpPr/>
          <p:nvPr/>
        </p:nvSpPr>
        <p:spPr>
          <a:xfrm>
            <a:off x="5249923" y="5130982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Max Pooling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14" name="文字方塊 15">
            <a:extLst>
              <a:ext uri="{FF2B5EF4-FFF2-40B4-BE49-F238E27FC236}">
                <a16:creationId xmlns:a16="http://schemas.microsoft.com/office/drawing/2014/main" id="{6BBE44DA-8897-424E-86EC-5CE9D8BEF335}"/>
              </a:ext>
            </a:extLst>
          </p:cNvPr>
          <p:cNvSpPr txBox="1"/>
          <p:nvPr/>
        </p:nvSpPr>
        <p:spPr>
          <a:xfrm>
            <a:off x="3324218" y="6055666"/>
            <a:ext cx="1556991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Flattened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15" name="向下箭號 11">
            <a:extLst>
              <a:ext uri="{FF2B5EF4-FFF2-40B4-BE49-F238E27FC236}">
                <a16:creationId xmlns:a16="http://schemas.microsoft.com/office/drawing/2014/main" id="{036414CC-AFD8-47B6-A38A-DD99614A29CA}"/>
              </a:ext>
            </a:extLst>
          </p:cNvPr>
          <p:cNvSpPr/>
          <p:nvPr/>
        </p:nvSpPr>
        <p:spPr>
          <a:xfrm>
            <a:off x="5868988" y="1450975"/>
            <a:ext cx="546100" cy="44291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6" name="向下箭號 17">
            <a:extLst>
              <a:ext uri="{FF2B5EF4-FFF2-40B4-BE49-F238E27FC236}">
                <a16:creationId xmlns:a16="http://schemas.microsoft.com/office/drawing/2014/main" id="{4072AECA-E176-4BEA-A759-B3FCAB60F1AB}"/>
              </a:ext>
            </a:extLst>
          </p:cNvPr>
          <p:cNvSpPr/>
          <p:nvPr/>
        </p:nvSpPr>
        <p:spPr>
          <a:xfrm>
            <a:off x="5868988" y="2562225"/>
            <a:ext cx="546100" cy="44291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7" name="向下箭號 18">
            <a:extLst>
              <a:ext uri="{FF2B5EF4-FFF2-40B4-BE49-F238E27FC236}">
                <a16:creationId xmlns:a16="http://schemas.microsoft.com/office/drawing/2014/main" id="{82FCF5DB-8C91-4B88-A03B-60EE8977F1B0}"/>
              </a:ext>
            </a:extLst>
          </p:cNvPr>
          <p:cNvSpPr/>
          <p:nvPr/>
        </p:nvSpPr>
        <p:spPr>
          <a:xfrm>
            <a:off x="5868988" y="3654425"/>
            <a:ext cx="546100" cy="441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8" name="向下箭號 19">
            <a:extLst>
              <a:ext uri="{FF2B5EF4-FFF2-40B4-BE49-F238E27FC236}">
                <a16:creationId xmlns:a16="http://schemas.microsoft.com/office/drawing/2014/main" id="{3F337C81-B1FE-4D5B-BB5D-25FE76ADD814}"/>
              </a:ext>
            </a:extLst>
          </p:cNvPr>
          <p:cNvSpPr/>
          <p:nvPr/>
        </p:nvSpPr>
        <p:spPr>
          <a:xfrm>
            <a:off x="5868988" y="4689475"/>
            <a:ext cx="546100" cy="441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9" name="右彎箭號 16">
            <a:extLst>
              <a:ext uri="{FF2B5EF4-FFF2-40B4-BE49-F238E27FC236}">
                <a16:creationId xmlns:a16="http://schemas.microsoft.com/office/drawing/2014/main" id="{D55E6359-5FE5-431C-B7B5-0FE3CDDAAB61}"/>
              </a:ext>
            </a:extLst>
          </p:cNvPr>
          <p:cNvSpPr/>
          <p:nvPr/>
        </p:nvSpPr>
        <p:spPr>
          <a:xfrm rot="10800000">
            <a:off x="4881563" y="5753100"/>
            <a:ext cx="1377950" cy="752475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0" name="右彎箭號 21">
            <a:extLst>
              <a:ext uri="{FF2B5EF4-FFF2-40B4-BE49-F238E27FC236}">
                <a16:creationId xmlns:a16="http://schemas.microsoft.com/office/drawing/2014/main" id="{0E10AA84-D3B2-4BBB-8050-C5AC3BB9AC6E}"/>
              </a:ext>
            </a:extLst>
          </p:cNvPr>
          <p:cNvSpPr/>
          <p:nvPr/>
        </p:nvSpPr>
        <p:spPr>
          <a:xfrm rot="16200000">
            <a:off x="2154237" y="5340351"/>
            <a:ext cx="968375" cy="1238250"/>
          </a:xfrm>
          <a:prstGeom prst="bentArrow">
            <a:avLst>
              <a:gd name="adj1" fmla="val 28061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矩形 23">
            <a:extLst>
              <a:ext uri="{FF2B5EF4-FFF2-40B4-BE49-F238E27FC236}">
                <a16:creationId xmlns:a16="http://schemas.microsoft.com/office/drawing/2014/main" id="{3AD75215-ECF2-4B3E-B015-B2C2089E82E6}"/>
              </a:ext>
            </a:extLst>
          </p:cNvPr>
          <p:cNvSpPr/>
          <p:nvPr/>
        </p:nvSpPr>
        <p:spPr>
          <a:xfrm>
            <a:off x="628650" y="2562225"/>
            <a:ext cx="4368800" cy="407193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2" name="文字方塊 24">
            <a:extLst>
              <a:ext uri="{FF2B5EF4-FFF2-40B4-BE49-F238E27FC236}">
                <a16:creationId xmlns:a16="http://schemas.microsoft.com/office/drawing/2014/main" id="{BDFEC154-25B3-43E3-B490-62B13C7F5675}"/>
              </a:ext>
            </a:extLst>
          </p:cNvPr>
          <p:cNvSpPr txBox="1"/>
          <p:nvPr/>
        </p:nvSpPr>
        <p:spPr>
          <a:xfrm>
            <a:off x="6705600" y="3657600"/>
            <a:ext cx="2097183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zh-TW" sz="2400" dirty="0"/>
              <a:t>A new image</a:t>
            </a:r>
            <a:endParaRPr lang="zh-TW" altLang="en-US" sz="2400" dirty="0"/>
          </a:p>
        </p:txBody>
      </p:sp>
      <p:sp>
        <p:nvSpPr>
          <p:cNvPr id="23" name="文字方塊 26">
            <a:extLst>
              <a:ext uri="{FF2B5EF4-FFF2-40B4-BE49-F238E27FC236}">
                <a16:creationId xmlns:a16="http://schemas.microsoft.com/office/drawing/2014/main" id="{FC280293-4EA7-49EB-B522-062CBDB99567}"/>
              </a:ext>
            </a:extLst>
          </p:cNvPr>
          <p:cNvSpPr txBox="1"/>
          <p:nvPr/>
        </p:nvSpPr>
        <p:spPr>
          <a:xfrm>
            <a:off x="6477000" y="5943600"/>
            <a:ext cx="2097183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zh-TW" sz="2400" dirty="0"/>
              <a:t>A new image</a:t>
            </a:r>
            <a:endParaRPr lang="zh-TW" alt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標題 1">
            <a:extLst>
              <a:ext uri="{FF2B5EF4-FFF2-40B4-BE49-F238E27FC236}">
                <a16:creationId xmlns:a16="http://schemas.microsoft.com/office/drawing/2014/main" id="{AAF9A0F8-F298-4076-BDB5-15BA73754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88" y="62156"/>
            <a:ext cx="7886700" cy="1325563"/>
          </a:xfrm>
        </p:spPr>
        <p:txBody>
          <a:bodyPr/>
          <a:lstStyle/>
          <a:p>
            <a:r>
              <a:rPr lang="en-US" altLang="zh-TW"/>
              <a:t>Flattening</a:t>
            </a:r>
            <a:endParaRPr lang="zh-TW" altLang="en-US"/>
          </a:p>
        </p:txBody>
      </p:sp>
      <p:grpSp>
        <p:nvGrpSpPr>
          <p:cNvPr id="34818" name="群組 13">
            <a:extLst>
              <a:ext uri="{FF2B5EF4-FFF2-40B4-BE49-F238E27FC236}">
                <a16:creationId xmlns:a16="http://schemas.microsoft.com/office/drawing/2014/main" id="{B849CCE9-467D-4143-B945-7E7A201593C0}"/>
              </a:ext>
            </a:extLst>
          </p:cNvPr>
          <p:cNvGrpSpPr>
            <a:grpSpLocks/>
          </p:cNvGrpSpPr>
          <p:nvPr/>
        </p:nvGrpSpPr>
        <p:grpSpPr bwMode="auto">
          <a:xfrm>
            <a:off x="266700" y="2473325"/>
            <a:ext cx="1943100" cy="2049463"/>
            <a:chOff x="758373" y="2759289"/>
            <a:chExt cx="1943214" cy="2049364"/>
          </a:xfrm>
        </p:grpSpPr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03C436D1-5350-4844-B873-91542B5720DD}"/>
                </a:ext>
              </a:extLst>
            </p:cNvPr>
            <p:cNvSpPr/>
            <p:nvPr/>
          </p:nvSpPr>
          <p:spPr>
            <a:xfrm>
              <a:off x="758373" y="2759289"/>
              <a:ext cx="720000" cy="720000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400" dirty="0"/>
                <a:t>3</a:t>
              </a:r>
              <a:endParaRPr lang="zh-TW" altLang="en-US" sz="2400" dirty="0"/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BA69BA87-EF40-48F1-9998-0C557795D2BE}"/>
                </a:ext>
              </a:extLst>
            </p:cNvPr>
            <p:cNvSpPr/>
            <p:nvPr/>
          </p:nvSpPr>
          <p:spPr>
            <a:xfrm>
              <a:off x="1729980" y="2759289"/>
              <a:ext cx="720000" cy="720000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400" dirty="0"/>
                <a:t>0</a:t>
              </a:r>
              <a:endParaRPr lang="zh-TW" altLang="en-US" sz="2400" dirty="0"/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17DE083A-9E76-401E-94E2-ED74F9FE30F8}"/>
                </a:ext>
              </a:extLst>
            </p:cNvPr>
            <p:cNvSpPr/>
            <p:nvPr/>
          </p:nvSpPr>
          <p:spPr>
            <a:xfrm>
              <a:off x="1729980" y="3867588"/>
              <a:ext cx="720000" cy="720000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400" dirty="0"/>
                <a:t>1</a:t>
              </a:r>
              <a:endParaRPr lang="zh-TW" altLang="en-US" sz="2400" dirty="0"/>
            </a:p>
          </p:txBody>
        </p: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038AE2F0-B47D-4B29-BBC0-E51CA6A10C94}"/>
                </a:ext>
              </a:extLst>
            </p:cNvPr>
            <p:cNvSpPr/>
            <p:nvPr/>
          </p:nvSpPr>
          <p:spPr>
            <a:xfrm>
              <a:off x="758373" y="3867588"/>
              <a:ext cx="720000" cy="720000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400" dirty="0"/>
                <a:t>3</a:t>
              </a:r>
              <a:endParaRPr lang="zh-TW" altLang="en-US" sz="2400" dirty="0"/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D9B45FD2-90A5-4F2B-B07E-2879D764D9CC}"/>
                </a:ext>
              </a:extLst>
            </p:cNvPr>
            <p:cNvSpPr/>
            <p:nvPr/>
          </p:nvSpPr>
          <p:spPr>
            <a:xfrm>
              <a:off x="936506" y="2999566"/>
              <a:ext cx="720000" cy="7200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400" dirty="0">
                  <a:solidFill>
                    <a:srgbClr val="000000"/>
                  </a:solidFill>
                </a:rPr>
                <a:t>-1</a:t>
              </a:r>
              <a:endParaRPr lang="zh-TW" altLang="en-US" sz="2400" dirty="0">
                <a:solidFill>
                  <a:srgbClr val="000000"/>
                </a:solidFill>
              </a:endParaRPr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C7897FBD-3E23-443D-A089-28FEFF92298D}"/>
                </a:ext>
              </a:extLst>
            </p:cNvPr>
            <p:cNvSpPr/>
            <p:nvPr/>
          </p:nvSpPr>
          <p:spPr>
            <a:xfrm>
              <a:off x="1981587" y="2999566"/>
              <a:ext cx="720000" cy="7200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400" dirty="0">
                  <a:solidFill>
                    <a:srgbClr val="000000"/>
                  </a:solidFill>
                </a:rPr>
                <a:t>1</a:t>
              </a:r>
              <a:endParaRPr lang="zh-TW" altLang="en-US" sz="2400" dirty="0">
                <a:solidFill>
                  <a:srgbClr val="000000"/>
                </a:solidFill>
              </a:endParaRPr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29E58D0E-BE13-4181-AA33-0BEC4FFBE050}"/>
                </a:ext>
              </a:extLst>
            </p:cNvPr>
            <p:cNvSpPr/>
            <p:nvPr/>
          </p:nvSpPr>
          <p:spPr>
            <a:xfrm>
              <a:off x="1981587" y="4088653"/>
              <a:ext cx="720000" cy="7200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400" dirty="0">
                  <a:solidFill>
                    <a:srgbClr val="000000"/>
                  </a:solidFill>
                </a:rPr>
                <a:t>3</a:t>
              </a:r>
              <a:endParaRPr lang="zh-TW" altLang="en-US" sz="2400" dirty="0">
                <a:solidFill>
                  <a:srgbClr val="000000"/>
                </a:solidFill>
              </a:endParaRPr>
            </a:p>
          </p:txBody>
        </p:sp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EACD3778-2683-42D4-B0B7-0EAAF98E7522}"/>
                </a:ext>
              </a:extLst>
            </p:cNvPr>
            <p:cNvSpPr/>
            <p:nvPr/>
          </p:nvSpPr>
          <p:spPr>
            <a:xfrm>
              <a:off x="962806" y="4027123"/>
              <a:ext cx="720000" cy="7200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400" dirty="0">
                  <a:solidFill>
                    <a:srgbClr val="000000"/>
                  </a:solidFill>
                </a:rPr>
                <a:t>0</a:t>
              </a:r>
              <a:endParaRPr lang="zh-TW" altLang="en-US" sz="2400" dirty="0">
                <a:solidFill>
                  <a:srgbClr val="000000"/>
                </a:solidFill>
              </a:endParaRPr>
            </a:p>
          </p:txBody>
        </p:sp>
      </p:grpSp>
      <p:sp>
        <p:nvSpPr>
          <p:cNvPr id="14" name="文字方塊 16">
            <a:extLst>
              <a:ext uri="{FF2B5EF4-FFF2-40B4-BE49-F238E27FC236}">
                <a16:creationId xmlns:a16="http://schemas.microsoft.com/office/drawing/2014/main" id="{EDFE7A68-2D21-4D59-8892-8D54C10A3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886200"/>
            <a:ext cx="152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Flattened</a:t>
            </a:r>
            <a:endParaRPr lang="zh-TW" altLang="en-US"/>
          </a:p>
        </p:txBody>
      </p:sp>
      <p:sp>
        <p:nvSpPr>
          <p:cNvPr id="15" name="橢圓 20">
            <a:extLst>
              <a:ext uri="{FF2B5EF4-FFF2-40B4-BE49-F238E27FC236}">
                <a16:creationId xmlns:a16="http://schemas.microsoft.com/office/drawing/2014/main" id="{42B32465-300B-4FF4-A617-E7D467295BE8}"/>
              </a:ext>
            </a:extLst>
          </p:cNvPr>
          <p:cNvSpPr/>
          <p:nvPr/>
        </p:nvSpPr>
        <p:spPr>
          <a:xfrm>
            <a:off x="4212000" y="194885"/>
            <a:ext cx="720000" cy="72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3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16" name="橢圓 21">
            <a:extLst>
              <a:ext uri="{FF2B5EF4-FFF2-40B4-BE49-F238E27FC236}">
                <a16:creationId xmlns:a16="http://schemas.microsoft.com/office/drawing/2014/main" id="{9B9C15F2-E21F-432E-98D0-9BF9668ED276}"/>
              </a:ext>
            </a:extLst>
          </p:cNvPr>
          <p:cNvSpPr/>
          <p:nvPr/>
        </p:nvSpPr>
        <p:spPr>
          <a:xfrm>
            <a:off x="4212000" y="1084384"/>
            <a:ext cx="720000" cy="72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0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17" name="橢圓 22">
            <a:extLst>
              <a:ext uri="{FF2B5EF4-FFF2-40B4-BE49-F238E27FC236}">
                <a16:creationId xmlns:a16="http://schemas.microsoft.com/office/drawing/2014/main" id="{FF6260EE-755E-44EC-BFA8-CE3B8973DDFC}"/>
              </a:ext>
            </a:extLst>
          </p:cNvPr>
          <p:cNvSpPr/>
          <p:nvPr/>
        </p:nvSpPr>
        <p:spPr>
          <a:xfrm>
            <a:off x="4212000" y="1923284"/>
            <a:ext cx="720000" cy="72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1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18" name="橢圓 23">
            <a:extLst>
              <a:ext uri="{FF2B5EF4-FFF2-40B4-BE49-F238E27FC236}">
                <a16:creationId xmlns:a16="http://schemas.microsoft.com/office/drawing/2014/main" id="{5CF4DB3F-647B-4199-9DC0-BE1AD1930B6E}"/>
              </a:ext>
            </a:extLst>
          </p:cNvPr>
          <p:cNvSpPr/>
          <p:nvPr/>
        </p:nvSpPr>
        <p:spPr>
          <a:xfrm>
            <a:off x="4212000" y="2778220"/>
            <a:ext cx="720000" cy="72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3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19" name="橢圓 24">
            <a:extLst>
              <a:ext uri="{FF2B5EF4-FFF2-40B4-BE49-F238E27FC236}">
                <a16:creationId xmlns:a16="http://schemas.microsoft.com/office/drawing/2014/main" id="{9C8BF0E5-5AFB-457B-9677-06BFED4CB099}"/>
              </a:ext>
            </a:extLst>
          </p:cNvPr>
          <p:cNvSpPr/>
          <p:nvPr/>
        </p:nvSpPr>
        <p:spPr>
          <a:xfrm>
            <a:off x="4212000" y="3615067"/>
            <a:ext cx="720000" cy="7200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-1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20" name="橢圓 25">
            <a:extLst>
              <a:ext uri="{FF2B5EF4-FFF2-40B4-BE49-F238E27FC236}">
                <a16:creationId xmlns:a16="http://schemas.microsoft.com/office/drawing/2014/main" id="{B56CDF37-48FA-49E2-8397-852EC1EE1F0E}"/>
              </a:ext>
            </a:extLst>
          </p:cNvPr>
          <p:cNvSpPr/>
          <p:nvPr/>
        </p:nvSpPr>
        <p:spPr>
          <a:xfrm>
            <a:off x="4212000" y="4402756"/>
            <a:ext cx="720000" cy="7200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1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21" name="橢圓 26">
            <a:extLst>
              <a:ext uri="{FF2B5EF4-FFF2-40B4-BE49-F238E27FC236}">
                <a16:creationId xmlns:a16="http://schemas.microsoft.com/office/drawing/2014/main" id="{2532D2A4-3B15-462C-9C41-57AF661B1864}"/>
              </a:ext>
            </a:extLst>
          </p:cNvPr>
          <p:cNvSpPr/>
          <p:nvPr/>
        </p:nvSpPr>
        <p:spPr>
          <a:xfrm>
            <a:off x="4212000" y="5204579"/>
            <a:ext cx="720000" cy="7200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0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22" name="橢圓 27">
            <a:extLst>
              <a:ext uri="{FF2B5EF4-FFF2-40B4-BE49-F238E27FC236}">
                <a16:creationId xmlns:a16="http://schemas.microsoft.com/office/drawing/2014/main" id="{A799011C-7E7D-4B7C-AD4E-743D37E78A96}"/>
              </a:ext>
            </a:extLst>
          </p:cNvPr>
          <p:cNvSpPr/>
          <p:nvPr/>
        </p:nvSpPr>
        <p:spPr>
          <a:xfrm>
            <a:off x="4212000" y="6029276"/>
            <a:ext cx="720000" cy="7200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3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23" name="向右箭號 4">
            <a:extLst>
              <a:ext uri="{FF2B5EF4-FFF2-40B4-BE49-F238E27FC236}">
                <a16:creationId xmlns:a16="http://schemas.microsoft.com/office/drawing/2014/main" id="{D61DD5FD-C807-486A-8BE5-51771198EF6A}"/>
              </a:ext>
            </a:extLst>
          </p:cNvPr>
          <p:cNvSpPr/>
          <p:nvPr/>
        </p:nvSpPr>
        <p:spPr>
          <a:xfrm>
            <a:off x="4987925" y="3190875"/>
            <a:ext cx="557213" cy="72866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4" name="向右箭號 32">
            <a:extLst>
              <a:ext uri="{FF2B5EF4-FFF2-40B4-BE49-F238E27FC236}">
                <a16:creationId xmlns:a16="http://schemas.microsoft.com/office/drawing/2014/main" id="{0098D1B7-8604-4F25-93BB-62DFDEA8C2E9}"/>
              </a:ext>
            </a:extLst>
          </p:cNvPr>
          <p:cNvSpPr/>
          <p:nvPr/>
        </p:nvSpPr>
        <p:spPr>
          <a:xfrm>
            <a:off x="7473950" y="3419475"/>
            <a:ext cx="557213" cy="72866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grpSp>
        <p:nvGrpSpPr>
          <p:cNvPr id="25" name="群組 28">
            <a:extLst>
              <a:ext uri="{FF2B5EF4-FFF2-40B4-BE49-F238E27FC236}">
                <a16:creationId xmlns:a16="http://schemas.microsoft.com/office/drawing/2014/main" id="{CA47ACF1-CE6B-488A-A14E-0688FEA0FFC0}"/>
              </a:ext>
            </a:extLst>
          </p:cNvPr>
          <p:cNvGrpSpPr>
            <a:grpSpLocks/>
          </p:cNvGrpSpPr>
          <p:nvPr/>
        </p:nvGrpSpPr>
        <p:grpSpPr bwMode="auto">
          <a:xfrm>
            <a:off x="5602288" y="2724150"/>
            <a:ext cx="3200400" cy="2506663"/>
            <a:chOff x="-2630921" y="4440114"/>
            <a:chExt cx="3201477" cy="2506507"/>
          </a:xfrm>
        </p:grpSpPr>
        <p:pic>
          <p:nvPicPr>
            <p:cNvPr id="34848" name="圖片 29">
              <a:extLst>
                <a:ext uri="{FF2B5EF4-FFF2-40B4-BE49-F238E27FC236}">
                  <a16:creationId xmlns:a16="http://schemas.microsoft.com/office/drawing/2014/main" id="{041F0374-0493-4424-B191-A089CDBEC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H="1">
              <a:off x="-2630921" y="4440114"/>
              <a:ext cx="3201477" cy="1701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文字方塊 30">
              <a:extLst>
                <a:ext uri="{FF2B5EF4-FFF2-40B4-BE49-F238E27FC236}">
                  <a16:creationId xmlns:a16="http://schemas.microsoft.com/office/drawing/2014/main" id="{BE6B7C54-61CD-4729-8654-B3961FCE31ED}"/>
                </a:ext>
              </a:extLst>
            </p:cNvPr>
            <p:cNvSpPr txBox="1"/>
            <p:nvPr/>
          </p:nvSpPr>
          <p:spPr>
            <a:xfrm>
              <a:off x="-2630921" y="6238735"/>
              <a:ext cx="2906568" cy="70788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TW" sz="2000" dirty="0">
                  <a:solidFill>
                    <a:srgbClr val="000000"/>
                  </a:solidFill>
                </a:rPr>
                <a:t>Fully Connected Feedforward network</a:t>
              </a:r>
              <a:endParaRPr lang="zh-TW" altLang="en-US" sz="2000" dirty="0">
                <a:solidFill>
                  <a:srgbClr val="000000"/>
                </a:solidFill>
              </a:endParaRPr>
            </a:p>
          </p:txBody>
        </p:sp>
      </p:grpSp>
      <p:sp>
        <p:nvSpPr>
          <p:cNvPr id="28" name="向右箭號 33">
            <a:extLst>
              <a:ext uri="{FF2B5EF4-FFF2-40B4-BE49-F238E27FC236}">
                <a16:creationId xmlns:a16="http://schemas.microsoft.com/office/drawing/2014/main" id="{A02C910F-B80A-46CA-8137-224C51037510}"/>
              </a:ext>
            </a:extLst>
          </p:cNvPr>
          <p:cNvSpPr/>
          <p:nvPr/>
        </p:nvSpPr>
        <p:spPr>
          <a:xfrm>
            <a:off x="2325688" y="3201988"/>
            <a:ext cx="1831975" cy="72866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 animBg="1"/>
      <p:bldP spid="24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4">
            <a:extLst>
              <a:ext uri="{FF2B5EF4-FFF2-40B4-BE49-F238E27FC236}">
                <a16:creationId xmlns:a16="http://schemas.microsoft.com/office/drawing/2014/main" id="{F8D26A51-F588-466B-BEA5-402466D19698}"/>
              </a:ext>
            </a:extLst>
          </p:cNvPr>
          <p:cNvSpPr txBox="1"/>
          <p:nvPr/>
        </p:nvSpPr>
        <p:spPr>
          <a:xfrm>
            <a:off x="3091045" y="141751"/>
            <a:ext cx="5540375" cy="70788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Only modified the </a:t>
            </a:r>
            <a:r>
              <a:rPr lang="en-US" altLang="zh-TW" sz="2000" b="1" i="1" dirty="0">
                <a:solidFill>
                  <a:srgbClr val="000000"/>
                </a:solidFill>
              </a:rPr>
              <a:t>network structure </a:t>
            </a:r>
            <a:r>
              <a:rPr lang="en-US" altLang="zh-TW" sz="2000" dirty="0">
                <a:solidFill>
                  <a:srgbClr val="000000"/>
                </a:solidFill>
              </a:rPr>
              <a:t>and </a:t>
            </a:r>
            <a:r>
              <a:rPr lang="en-US" altLang="zh-TW" sz="2000" b="1" i="1" dirty="0">
                <a:solidFill>
                  <a:srgbClr val="000000"/>
                </a:solidFill>
              </a:rPr>
              <a:t>input format (vector -&gt; 3-D tensor)</a:t>
            </a:r>
            <a:endParaRPr lang="zh-TW" altLang="en-US" sz="2000" b="1" i="1" dirty="0">
              <a:solidFill>
                <a:srgbClr val="000000"/>
              </a:solidFill>
            </a:endParaRPr>
          </a:p>
        </p:txBody>
      </p:sp>
      <p:sp>
        <p:nvSpPr>
          <p:cNvPr id="35844" name="矩形 9">
            <a:extLst>
              <a:ext uri="{FF2B5EF4-FFF2-40B4-BE49-F238E27FC236}">
                <a16:creationId xmlns:a16="http://schemas.microsoft.com/office/drawing/2014/main" id="{80C867E4-4139-4456-910F-59CAEC30B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65113"/>
            <a:ext cx="2108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2800" b="1" i="1" u="sng"/>
              <a:t>CNN in Keras</a:t>
            </a:r>
            <a:endParaRPr lang="zh-TW" altLang="en-US" sz="2800" b="1" i="1" u="sng"/>
          </a:p>
        </p:txBody>
      </p:sp>
      <p:sp>
        <p:nvSpPr>
          <p:cNvPr id="6" name="矩形 28">
            <a:extLst>
              <a:ext uri="{FF2B5EF4-FFF2-40B4-BE49-F238E27FC236}">
                <a16:creationId xmlns:a16="http://schemas.microsoft.com/office/drawing/2014/main" id="{3F075F65-F6F7-4CFD-89BB-E4270FFC59BC}"/>
              </a:ext>
            </a:extLst>
          </p:cNvPr>
          <p:cNvSpPr/>
          <p:nvPr/>
        </p:nvSpPr>
        <p:spPr>
          <a:xfrm>
            <a:off x="6308508" y="1874056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Convolution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7" name="矩形 29">
            <a:extLst>
              <a:ext uri="{FF2B5EF4-FFF2-40B4-BE49-F238E27FC236}">
                <a16:creationId xmlns:a16="http://schemas.microsoft.com/office/drawing/2014/main" id="{38EB2394-56C9-4971-BBD1-306E6590C065}"/>
              </a:ext>
            </a:extLst>
          </p:cNvPr>
          <p:cNvSpPr/>
          <p:nvPr/>
        </p:nvSpPr>
        <p:spPr>
          <a:xfrm>
            <a:off x="6308508" y="2974068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Max Pooling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8" name="矩形 30">
            <a:extLst>
              <a:ext uri="{FF2B5EF4-FFF2-40B4-BE49-F238E27FC236}">
                <a16:creationId xmlns:a16="http://schemas.microsoft.com/office/drawing/2014/main" id="{C3C46B9C-B5CB-48B7-AEFA-CE344EB14210}"/>
              </a:ext>
            </a:extLst>
          </p:cNvPr>
          <p:cNvSpPr/>
          <p:nvPr/>
        </p:nvSpPr>
        <p:spPr>
          <a:xfrm>
            <a:off x="6308508" y="4042281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Convolution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9" name="矩形 31">
            <a:extLst>
              <a:ext uri="{FF2B5EF4-FFF2-40B4-BE49-F238E27FC236}">
                <a16:creationId xmlns:a16="http://schemas.microsoft.com/office/drawing/2014/main" id="{EA90CB1D-E054-4E20-A066-4CCEC822E8D2}"/>
              </a:ext>
            </a:extLst>
          </p:cNvPr>
          <p:cNvSpPr/>
          <p:nvPr/>
        </p:nvSpPr>
        <p:spPr>
          <a:xfrm>
            <a:off x="6308508" y="5075533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Max Pooling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10" name="向下箭號 11">
            <a:extLst>
              <a:ext uri="{FF2B5EF4-FFF2-40B4-BE49-F238E27FC236}">
                <a16:creationId xmlns:a16="http://schemas.microsoft.com/office/drawing/2014/main" id="{2DDB112D-12A9-4A61-A6E3-1347F3572C44}"/>
              </a:ext>
            </a:extLst>
          </p:cNvPr>
          <p:cNvSpPr/>
          <p:nvPr/>
        </p:nvSpPr>
        <p:spPr>
          <a:xfrm>
            <a:off x="6927850" y="1397000"/>
            <a:ext cx="546100" cy="441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1" name="向下箭號 17">
            <a:extLst>
              <a:ext uri="{FF2B5EF4-FFF2-40B4-BE49-F238E27FC236}">
                <a16:creationId xmlns:a16="http://schemas.microsoft.com/office/drawing/2014/main" id="{6EDC6CE1-65A7-40CF-BBB4-BA64845CCE6F}"/>
              </a:ext>
            </a:extLst>
          </p:cNvPr>
          <p:cNvSpPr/>
          <p:nvPr/>
        </p:nvSpPr>
        <p:spPr>
          <a:xfrm>
            <a:off x="6927850" y="2506663"/>
            <a:ext cx="546100" cy="442912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2" name="向下箭號 18">
            <a:extLst>
              <a:ext uri="{FF2B5EF4-FFF2-40B4-BE49-F238E27FC236}">
                <a16:creationId xmlns:a16="http://schemas.microsoft.com/office/drawing/2014/main" id="{B845258C-C5AC-4AA5-AA7D-6050A3527A0F}"/>
              </a:ext>
            </a:extLst>
          </p:cNvPr>
          <p:cNvSpPr/>
          <p:nvPr/>
        </p:nvSpPr>
        <p:spPr>
          <a:xfrm>
            <a:off x="6927850" y="3598863"/>
            <a:ext cx="546100" cy="441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3" name="向下箭號 19">
            <a:extLst>
              <a:ext uri="{FF2B5EF4-FFF2-40B4-BE49-F238E27FC236}">
                <a16:creationId xmlns:a16="http://schemas.microsoft.com/office/drawing/2014/main" id="{1C4B5B2F-DFF2-497F-A61F-F5D8367A0935}"/>
              </a:ext>
            </a:extLst>
          </p:cNvPr>
          <p:cNvSpPr/>
          <p:nvPr/>
        </p:nvSpPr>
        <p:spPr>
          <a:xfrm>
            <a:off x="6927850" y="4633913"/>
            <a:ext cx="546100" cy="441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5861" name="文字方塊 41">
            <a:extLst>
              <a:ext uri="{FF2B5EF4-FFF2-40B4-BE49-F238E27FC236}">
                <a16:creationId xmlns:a16="http://schemas.microsoft.com/office/drawing/2014/main" id="{E2BB1287-7F5F-4DA8-853B-5ED7690DA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0" y="973138"/>
            <a:ext cx="20462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input</a:t>
            </a:r>
            <a:endParaRPr lang="zh-TW" altLang="en-US"/>
          </a:p>
        </p:txBody>
      </p:sp>
      <p:pic>
        <p:nvPicPr>
          <p:cNvPr id="15" name="圖片 1">
            <a:extLst>
              <a:ext uri="{FF2B5EF4-FFF2-40B4-BE49-F238E27FC236}">
                <a16:creationId xmlns:a16="http://schemas.microsoft.com/office/drawing/2014/main" id="{6A9FA714-D6CF-485C-94BC-9ACC3A970C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1450975"/>
            <a:ext cx="486727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圖片 12">
            <a:extLst>
              <a:ext uri="{FF2B5EF4-FFF2-40B4-BE49-F238E27FC236}">
                <a16:creationId xmlns:a16="http://schemas.microsoft.com/office/drawing/2014/main" id="{9494FE59-90F5-4148-8E50-1746E99AA6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775" y="4697413"/>
            <a:ext cx="41719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直線接點 45">
            <a:extLst>
              <a:ext uri="{FF2B5EF4-FFF2-40B4-BE49-F238E27FC236}">
                <a16:creationId xmlns:a16="http://schemas.microsoft.com/office/drawing/2014/main" id="{583F7F12-3B4C-4326-9134-14C69C8F789F}"/>
              </a:ext>
            </a:extLst>
          </p:cNvPr>
          <p:cNvCxnSpPr/>
          <p:nvPr/>
        </p:nvCxnSpPr>
        <p:spPr>
          <a:xfrm>
            <a:off x="2201863" y="1671638"/>
            <a:ext cx="1709737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46">
            <a:extLst>
              <a:ext uri="{FF2B5EF4-FFF2-40B4-BE49-F238E27FC236}">
                <a16:creationId xmlns:a16="http://schemas.microsoft.com/office/drawing/2014/main" id="{E6BAFB57-0C04-4259-BB58-E2E06F40DB71}"/>
              </a:ext>
            </a:extLst>
          </p:cNvPr>
          <p:cNvCxnSpPr/>
          <p:nvPr/>
        </p:nvCxnSpPr>
        <p:spPr>
          <a:xfrm>
            <a:off x="4129088" y="1671638"/>
            <a:ext cx="33496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48">
            <a:extLst>
              <a:ext uri="{FF2B5EF4-FFF2-40B4-BE49-F238E27FC236}">
                <a16:creationId xmlns:a16="http://schemas.microsoft.com/office/drawing/2014/main" id="{95A24A7B-1E77-4CB2-BF68-F5A8F51B0ADB}"/>
              </a:ext>
            </a:extLst>
          </p:cNvPr>
          <p:cNvCxnSpPr/>
          <p:nvPr/>
        </p:nvCxnSpPr>
        <p:spPr>
          <a:xfrm>
            <a:off x="4559300" y="1671638"/>
            <a:ext cx="168275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51">
            <a:extLst>
              <a:ext uri="{FF2B5EF4-FFF2-40B4-BE49-F238E27FC236}">
                <a16:creationId xmlns:a16="http://schemas.microsoft.com/office/drawing/2014/main" id="{DB343E0C-35E0-40FE-B1E2-9654439ADEDA}"/>
              </a:ext>
            </a:extLst>
          </p:cNvPr>
          <p:cNvCxnSpPr/>
          <p:nvPr/>
        </p:nvCxnSpPr>
        <p:spPr>
          <a:xfrm>
            <a:off x="4816475" y="1673225"/>
            <a:ext cx="166688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表格 54">
            <a:extLst>
              <a:ext uri="{FF2B5EF4-FFF2-40B4-BE49-F238E27FC236}">
                <a16:creationId xmlns:a16="http://schemas.microsoft.com/office/drawing/2014/main" id="{D26F2734-C911-4315-97F5-5A898F53BA16}"/>
              </a:ext>
            </a:extLst>
          </p:cNvPr>
          <p:cNvGraphicFramePr>
            <a:graphicFrameLocks noGrp="1"/>
          </p:cNvGraphicFramePr>
          <p:nvPr/>
        </p:nvGraphicFramePr>
        <p:xfrm>
          <a:off x="723900" y="2203450"/>
          <a:ext cx="1382712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0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marL="91447" marR="91447" marT="45733" marB="45733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 marL="91447" marR="91447" marT="45733" marB="45733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 marL="91447" marR="91447" marT="45733" marB="45733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 marL="91447" marR="91447" marT="45733" marB="45733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marL="91447" marR="91447" marT="45733" marB="45733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 marL="91447" marR="91447" marT="45733" marB="45733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 marL="91447" marR="91447" marT="45733" marB="45733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 marL="91447" marR="91447" marT="45733" marB="45733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marL="91447" marR="91447" marT="45733" marB="45733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" name="表格 55">
            <a:extLst>
              <a:ext uri="{FF2B5EF4-FFF2-40B4-BE49-F238E27FC236}">
                <a16:creationId xmlns:a16="http://schemas.microsoft.com/office/drawing/2014/main" id="{79CA4C0F-9F57-424A-BECA-F3E04C02DABB}"/>
              </a:ext>
            </a:extLst>
          </p:cNvPr>
          <p:cNvGraphicFramePr>
            <a:graphicFrameLocks noGrp="1"/>
          </p:cNvGraphicFramePr>
          <p:nvPr/>
        </p:nvGraphicFramePr>
        <p:xfrm>
          <a:off x="1492250" y="2368550"/>
          <a:ext cx="1398588" cy="11112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6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1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4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 marL="91431" marR="91431" marT="45668" marB="45668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marL="91431" marR="91431" marT="45668" marB="45668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 marL="91431" marR="91431" marT="45668" marB="45668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4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 marL="91431" marR="91431" marT="45668" marB="45668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marL="91431" marR="91431" marT="45668" marB="45668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 marL="91431" marR="91431" marT="45668" marB="45668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4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 marL="91431" marR="91431" marT="45668" marB="45668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marL="91431" marR="91431" marT="45668" marB="45668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 marL="91431" marR="91431" marT="45668" marB="45668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文字方塊 56">
            <a:extLst>
              <a:ext uri="{FF2B5EF4-FFF2-40B4-BE49-F238E27FC236}">
                <a16:creationId xmlns:a16="http://schemas.microsoft.com/office/drawing/2014/main" id="{2FCDFE10-CA4C-4F64-B3E4-DEFA978BA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1088" y="2452688"/>
            <a:ext cx="180181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There are </a:t>
            </a:r>
            <a:r>
              <a:rPr lang="en-US" altLang="zh-TW">
                <a:solidFill>
                  <a:srgbClr val="FF0000"/>
                </a:solidFill>
              </a:rPr>
              <a:t>25</a:t>
            </a:r>
            <a:r>
              <a:rPr lang="en-US" altLang="zh-TW"/>
              <a:t> </a:t>
            </a:r>
            <a:r>
              <a:rPr lang="en-US" altLang="zh-TW">
                <a:solidFill>
                  <a:srgbClr val="FF0000"/>
                </a:solidFill>
              </a:rPr>
              <a:t>3x3</a:t>
            </a:r>
            <a:r>
              <a:rPr lang="en-US" altLang="zh-TW"/>
              <a:t> filters.</a:t>
            </a:r>
            <a:endParaRPr lang="zh-TW" altLang="en-US"/>
          </a:p>
        </p:txBody>
      </p:sp>
      <p:sp>
        <p:nvSpPr>
          <p:cNvPr id="24" name="文字方塊 57">
            <a:extLst>
              <a:ext uri="{FF2B5EF4-FFF2-40B4-BE49-F238E27FC236}">
                <a16:creationId xmlns:a16="http://schemas.microsoft.com/office/drawing/2014/main" id="{55CB6F8A-1C75-475F-BC1A-3FD45EF48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350" y="2522538"/>
            <a:ext cx="6921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2800"/>
              <a:t>……</a:t>
            </a:r>
            <a:endParaRPr lang="zh-TW" altLang="en-US" sz="2800"/>
          </a:p>
        </p:txBody>
      </p:sp>
      <p:sp>
        <p:nvSpPr>
          <p:cNvPr id="25" name="文字方塊 58">
            <a:extLst>
              <a:ext uri="{FF2B5EF4-FFF2-40B4-BE49-F238E27FC236}">
                <a16:creationId xmlns:a16="http://schemas.microsoft.com/office/drawing/2014/main" id="{2BAD6424-0D75-4D01-91A6-7A4B8E63AA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0313" y="3489325"/>
            <a:ext cx="39512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2000"/>
              <a:t>Input_shape = ( 28 , 28 , 1)</a:t>
            </a:r>
            <a:endParaRPr lang="zh-TW" altLang="en-US" sz="2000"/>
          </a:p>
        </p:txBody>
      </p:sp>
      <p:sp>
        <p:nvSpPr>
          <p:cNvPr id="26" name="文字方塊 59">
            <a:extLst>
              <a:ext uri="{FF2B5EF4-FFF2-40B4-BE49-F238E27FC236}">
                <a16:creationId xmlns:a16="http://schemas.microsoft.com/office/drawing/2014/main" id="{B6B955B8-42BE-47FC-B10B-982998161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114800"/>
            <a:ext cx="2646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1800"/>
              <a:t>1: black/white, 3: RGB</a:t>
            </a:r>
            <a:endParaRPr lang="zh-TW" altLang="en-US" sz="1800"/>
          </a:p>
        </p:txBody>
      </p:sp>
      <p:sp>
        <p:nvSpPr>
          <p:cNvPr id="27" name="文字方塊 60">
            <a:extLst>
              <a:ext uri="{FF2B5EF4-FFF2-40B4-BE49-F238E27FC236}">
                <a16:creationId xmlns:a16="http://schemas.microsoft.com/office/drawing/2014/main" id="{D4881246-1817-4EBC-B2D2-DA8F4533D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038600"/>
            <a:ext cx="2024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1800"/>
              <a:t>28 x 28 pixels</a:t>
            </a:r>
            <a:endParaRPr lang="zh-TW" altLang="en-US" sz="1800"/>
          </a:p>
        </p:txBody>
      </p:sp>
      <p:sp>
        <p:nvSpPr>
          <p:cNvPr id="28" name="橢圓 61">
            <a:extLst>
              <a:ext uri="{FF2B5EF4-FFF2-40B4-BE49-F238E27FC236}">
                <a16:creationId xmlns:a16="http://schemas.microsoft.com/office/drawing/2014/main" id="{12A8F65E-5B6F-4B78-815C-F756B05D6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2588" y="5118100"/>
            <a:ext cx="630237" cy="6302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  <a:endParaRPr lang="zh-TW" altLang="en-US" sz="20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9" name="橢圓 62">
            <a:extLst>
              <a:ext uri="{FF2B5EF4-FFF2-40B4-BE49-F238E27FC236}">
                <a16:creationId xmlns:a16="http://schemas.microsoft.com/office/drawing/2014/main" id="{CC7A1CB6-8FBF-4A57-99EC-85C921BEB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4263" y="5118100"/>
            <a:ext cx="630237" cy="6302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chemeClr val="dk1"/>
                </a:solidFill>
                <a:latin typeface="+mn-lt"/>
                <a:ea typeface="+mn-ea"/>
              </a:rPr>
              <a:t>-1</a:t>
            </a:r>
            <a:endParaRPr lang="zh-TW" altLang="en-US" sz="20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0" name="橢圓 63">
            <a:extLst>
              <a:ext uri="{FF2B5EF4-FFF2-40B4-BE49-F238E27FC236}">
                <a16:creationId xmlns:a16="http://schemas.microsoft.com/office/drawing/2014/main" id="{CD4B1C6F-D6C3-4842-9EDB-B09E453F7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238" y="5838825"/>
            <a:ext cx="630237" cy="6302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chemeClr val="dk1"/>
                </a:solidFill>
                <a:latin typeface="+mn-lt"/>
                <a:ea typeface="+mn-ea"/>
              </a:rPr>
              <a:t>-3</a:t>
            </a:r>
            <a:endParaRPr lang="zh-TW" altLang="en-US" sz="20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1" name="橢圓 64">
            <a:extLst>
              <a:ext uri="{FF2B5EF4-FFF2-40B4-BE49-F238E27FC236}">
                <a16:creationId xmlns:a16="http://schemas.microsoft.com/office/drawing/2014/main" id="{80F1EDB2-CAEB-46A6-AA46-FEDB70A0E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6325" y="5838825"/>
            <a:ext cx="630238" cy="6302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chemeClr val="dk1"/>
                </a:solidFill>
                <a:latin typeface="+mn-lt"/>
                <a:ea typeface="+mn-ea"/>
              </a:rPr>
              <a:t>1</a:t>
            </a:r>
            <a:endParaRPr lang="zh-TW" altLang="en-US" sz="20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2" name="矩形 65">
            <a:extLst>
              <a:ext uri="{FF2B5EF4-FFF2-40B4-BE49-F238E27FC236}">
                <a16:creationId xmlns:a16="http://schemas.microsoft.com/office/drawing/2014/main" id="{2CCBBE72-0826-4F87-A855-13AD72AB2289}"/>
              </a:ext>
            </a:extLst>
          </p:cNvPr>
          <p:cNvSpPr/>
          <p:nvPr/>
        </p:nvSpPr>
        <p:spPr>
          <a:xfrm>
            <a:off x="1652588" y="5092700"/>
            <a:ext cx="1331912" cy="13763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3" name="橢圓 66">
            <a:extLst>
              <a:ext uri="{FF2B5EF4-FFF2-40B4-BE49-F238E27FC236}">
                <a16:creationId xmlns:a16="http://schemas.microsoft.com/office/drawing/2014/main" id="{8F79AB8B-9AC0-43E8-8F55-8041B100C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0175" y="5130800"/>
            <a:ext cx="630238" cy="6302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  <a:endParaRPr lang="zh-TW" altLang="en-US" sz="20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4" name="矩形 70">
            <a:extLst>
              <a:ext uri="{FF2B5EF4-FFF2-40B4-BE49-F238E27FC236}">
                <a16:creationId xmlns:a16="http://schemas.microsoft.com/office/drawing/2014/main" id="{20159291-663C-440E-86E8-9006C66665CC}"/>
              </a:ext>
            </a:extLst>
          </p:cNvPr>
          <p:cNvSpPr/>
          <p:nvPr/>
        </p:nvSpPr>
        <p:spPr>
          <a:xfrm>
            <a:off x="3940175" y="5105400"/>
            <a:ext cx="1331913" cy="13763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5" name="箭號: 向右 71">
            <a:extLst>
              <a:ext uri="{FF2B5EF4-FFF2-40B4-BE49-F238E27FC236}">
                <a16:creationId xmlns:a16="http://schemas.microsoft.com/office/drawing/2014/main" id="{0054EDF5-D883-46E3-9F7E-CB6106E9C500}"/>
              </a:ext>
            </a:extLst>
          </p:cNvPr>
          <p:cNvSpPr/>
          <p:nvPr/>
        </p:nvSpPr>
        <p:spPr>
          <a:xfrm>
            <a:off x="3082925" y="5583238"/>
            <a:ext cx="782638" cy="47783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6" name="矩形 72">
            <a:extLst>
              <a:ext uri="{FF2B5EF4-FFF2-40B4-BE49-F238E27FC236}">
                <a16:creationId xmlns:a16="http://schemas.microsoft.com/office/drawing/2014/main" id="{27B28F8A-1549-4353-B44D-308A093FBA71}"/>
              </a:ext>
            </a:extLst>
          </p:cNvPr>
          <p:cNvSpPr/>
          <p:nvPr/>
        </p:nvSpPr>
        <p:spPr>
          <a:xfrm>
            <a:off x="374650" y="1258888"/>
            <a:ext cx="5365750" cy="321310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7" name="矩形 73">
            <a:extLst>
              <a:ext uri="{FF2B5EF4-FFF2-40B4-BE49-F238E27FC236}">
                <a16:creationId xmlns:a16="http://schemas.microsoft.com/office/drawing/2014/main" id="{550A1558-2711-49FD-98D1-EAA3D76B873F}"/>
              </a:ext>
            </a:extLst>
          </p:cNvPr>
          <p:cNvSpPr/>
          <p:nvPr/>
        </p:nvSpPr>
        <p:spPr>
          <a:xfrm>
            <a:off x="1222375" y="4598988"/>
            <a:ext cx="4525963" cy="205422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cxnSp>
        <p:nvCxnSpPr>
          <p:cNvPr id="38" name="直線單箭頭接點 75">
            <a:extLst>
              <a:ext uri="{FF2B5EF4-FFF2-40B4-BE49-F238E27FC236}">
                <a16:creationId xmlns:a16="http://schemas.microsoft.com/office/drawing/2014/main" id="{5C87B079-9B2E-4A03-A1BD-9601A3E95B74}"/>
              </a:ext>
            </a:extLst>
          </p:cNvPr>
          <p:cNvCxnSpPr/>
          <p:nvPr/>
        </p:nvCxnSpPr>
        <p:spPr>
          <a:xfrm flipH="1">
            <a:off x="5748338" y="2152650"/>
            <a:ext cx="560387" cy="820738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77">
            <a:extLst>
              <a:ext uri="{FF2B5EF4-FFF2-40B4-BE49-F238E27FC236}">
                <a16:creationId xmlns:a16="http://schemas.microsoft.com/office/drawing/2014/main" id="{7C3CB667-C653-45E5-838F-6C729576B79A}"/>
              </a:ext>
            </a:extLst>
          </p:cNvPr>
          <p:cNvCxnSpPr>
            <a:endCxn id="37" idx="3"/>
          </p:cNvCxnSpPr>
          <p:nvPr/>
        </p:nvCxnSpPr>
        <p:spPr>
          <a:xfrm flipH="1">
            <a:off x="5748338" y="3252788"/>
            <a:ext cx="560387" cy="2373312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81">
            <a:extLst>
              <a:ext uri="{FF2B5EF4-FFF2-40B4-BE49-F238E27FC236}">
                <a16:creationId xmlns:a16="http://schemas.microsoft.com/office/drawing/2014/main" id="{876E5D09-5D21-4753-8002-2E73AA53D080}"/>
              </a:ext>
            </a:extLst>
          </p:cNvPr>
          <p:cNvCxnSpPr/>
          <p:nvPr/>
        </p:nvCxnSpPr>
        <p:spPr>
          <a:xfrm>
            <a:off x="4114800" y="3886200"/>
            <a:ext cx="27463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82">
            <a:extLst>
              <a:ext uri="{FF2B5EF4-FFF2-40B4-BE49-F238E27FC236}">
                <a16:creationId xmlns:a16="http://schemas.microsoft.com/office/drawing/2014/main" id="{9FC0DDC2-B49F-42D7-91D3-FEADC5183714}"/>
              </a:ext>
            </a:extLst>
          </p:cNvPr>
          <p:cNvCxnSpPr/>
          <p:nvPr/>
        </p:nvCxnSpPr>
        <p:spPr>
          <a:xfrm>
            <a:off x="3124200" y="3886200"/>
            <a:ext cx="8445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84">
            <a:extLst>
              <a:ext uri="{FF2B5EF4-FFF2-40B4-BE49-F238E27FC236}">
                <a16:creationId xmlns:a16="http://schemas.microsoft.com/office/drawing/2014/main" id="{9B123D42-1947-468D-930C-530F3938B76B}"/>
              </a:ext>
            </a:extLst>
          </p:cNvPr>
          <p:cNvCxnSpPr>
            <a:cxnSpLocks/>
          </p:cNvCxnSpPr>
          <p:nvPr/>
        </p:nvCxnSpPr>
        <p:spPr>
          <a:xfrm flipH="1">
            <a:off x="3962400" y="3886200"/>
            <a:ext cx="292100" cy="24765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86">
            <a:extLst>
              <a:ext uri="{FF2B5EF4-FFF2-40B4-BE49-F238E27FC236}">
                <a16:creationId xmlns:a16="http://schemas.microsoft.com/office/drawing/2014/main" id="{34D8A6F4-FAC0-4292-A790-4E08B01958EC}"/>
              </a:ext>
            </a:extLst>
          </p:cNvPr>
          <p:cNvCxnSpPr>
            <a:cxnSpLocks/>
          </p:cNvCxnSpPr>
          <p:nvPr/>
        </p:nvCxnSpPr>
        <p:spPr>
          <a:xfrm flipH="1">
            <a:off x="2286000" y="3886200"/>
            <a:ext cx="1241425" cy="21113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圖片 2">
            <a:extLst>
              <a:ext uri="{FF2B5EF4-FFF2-40B4-BE49-F238E27FC236}">
                <a16:creationId xmlns:a16="http://schemas.microsoft.com/office/drawing/2014/main" id="{1F1061E3-CCCC-40AD-AB7A-21CCC27FDE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0" y="1708150"/>
            <a:ext cx="1274763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5" name="直線接點 52">
            <a:extLst>
              <a:ext uri="{FF2B5EF4-FFF2-40B4-BE49-F238E27FC236}">
                <a16:creationId xmlns:a16="http://schemas.microsoft.com/office/drawing/2014/main" id="{7512A5AF-6B5D-4CD7-8776-77CD10AE627B}"/>
              </a:ext>
            </a:extLst>
          </p:cNvPr>
          <p:cNvCxnSpPr/>
          <p:nvPr/>
        </p:nvCxnSpPr>
        <p:spPr>
          <a:xfrm>
            <a:off x="2046288" y="1908175"/>
            <a:ext cx="278130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4">
            <a:extLst>
              <a:ext uri="{FF2B5EF4-FFF2-40B4-BE49-F238E27FC236}">
                <a16:creationId xmlns:a16="http://schemas.microsoft.com/office/drawing/2014/main" id="{04519104-61DB-45CA-AAA7-9FFEB1801F86}"/>
              </a:ext>
            </a:extLst>
          </p:cNvPr>
          <p:cNvSpPr txBox="1"/>
          <p:nvPr/>
        </p:nvSpPr>
        <p:spPr>
          <a:xfrm>
            <a:off x="3091045" y="141751"/>
            <a:ext cx="5540375" cy="70788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Only modified the </a:t>
            </a:r>
            <a:r>
              <a:rPr lang="en-US" altLang="zh-TW" sz="2000" b="1" i="1" dirty="0">
                <a:solidFill>
                  <a:srgbClr val="000000"/>
                </a:solidFill>
              </a:rPr>
              <a:t>network structure </a:t>
            </a:r>
            <a:r>
              <a:rPr lang="en-US" altLang="zh-TW" sz="2000" dirty="0">
                <a:solidFill>
                  <a:srgbClr val="000000"/>
                </a:solidFill>
              </a:rPr>
              <a:t>and </a:t>
            </a:r>
            <a:r>
              <a:rPr lang="en-US" altLang="zh-TW" sz="2000" b="1" i="1" dirty="0">
                <a:solidFill>
                  <a:srgbClr val="000000"/>
                </a:solidFill>
              </a:rPr>
              <a:t>input format (vector -&gt; 3-D array)</a:t>
            </a:r>
            <a:endParaRPr lang="zh-TW" altLang="en-US" sz="2000" b="1" i="1" dirty="0">
              <a:solidFill>
                <a:srgbClr val="000000"/>
              </a:solidFill>
            </a:endParaRPr>
          </a:p>
        </p:txBody>
      </p:sp>
      <p:sp>
        <p:nvSpPr>
          <p:cNvPr id="36868" name="矩形 9">
            <a:extLst>
              <a:ext uri="{FF2B5EF4-FFF2-40B4-BE49-F238E27FC236}">
                <a16:creationId xmlns:a16="http://schemas.microsoft.com/office/drawing/2014/main" id="{8E6B0931-6ACA-4601-85AF-D177E8DBD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65113"/>
            <a:ext cx="2108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2800" b="1" i="1" u="sng"/>
              <a:t>CNN in Keras</a:t>
            </a:r>
            <a:endParaRPr lang="zh-TW" altLang="en-US" sz="2800" b="1" i="1" u="sng"/>
          </a:p>
        </p:txBody>
      </p:sp>
      <p:sp>
        <p:nvSpPr>
          <p:cNvPr id="6" name="矩形 28">
            <a:extLst>
              <a:ext uri="{FF2B5EF4-FFF2-40B4-BE49-F238E27FC236}">
                <a16:creationId xmlns:a16="http://schemas.microsoft.com/office/drawing/2014/main" id="{9FCE9A35-7635-4F07-9740-F683BBBB0B0D}"/>
              </a:ext>
            </a:extLst>
          </p:cNvPr>
          <p:cNvSpPr/>
          <p:nvPr/>
        </p:nvSpPr>
        <p:spPr>
          <a:xfrm>
            <a:off x="6308508" y="1874056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Convolution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7" name="矩形 29">
            <a:extLst>
              <a:ext uri="{FF2B5EF4-FFF2-40B4-BE49-F238E27FC236}">
                <a16:creationId xmlns:a16="http://schemas.microsoft.com/office/drawing/2014/main" id="{CD96C5A0-BA38-419A-BE9C-FD4BD40CDAB0}"/>
              </a:ext>
            </a:extLst>
          </p:cNvPr>
          <p:cNvSpPr/>
          <p:nvPr/>
        </p:nvSpPr>
        <p:spPr>
          <a:xfrm>
            <a:off x="6308508" y="2974068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Max Pooling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8" name="矩形 30">
            <a:extLst>
              <a:ext uri="{FF2B5EF4-FFF2-40B4-BE49-F238E27FC236}">
                <a16:creationId xmlns:a16="http://schemas.microsoft.com/office/drawing/2014/main" id="{2A5D4ED1-10EC-4D35-9BF3-6B47B2E942FB}"/>
              </a:ext>
            </a:extLst>
          </p:cNvPr>
          <p:cNvSpPr/>
          <p:nvPr/>
        </p:nvSpPr>
        <p:spPr>
          <a:xfrm>
            <a:off x="6308508" y="4042281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Convolution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9" name="矩形 31">
            <a:extLst>
              <a:ext uri="{FF2B5EF4-FFF2-40B4-BE49-F238E27FC236}">
                <a16:creationId xmlns:a16="http://schemas.microsoft.com/office/drawing/2014/main" id="{D71B73A0-6DA6-45D2-ABCB-F6253584A99C}"/>
              </a:ext>
            </a:extLst>
          </p:cNvPr>
          <p:cNvSpPr/>
          <p:nvPr/>
        </p:nvSpPr>
        <p:spPr>
          <a:xfrm>
            <a:off x="6308508" y="5075533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Max Pooling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10" name="向下箭號 11">
            <a:extLst>
              <a:ext uri="{FF2B5EF4-FFF2-40B4-BE49-F238E27FC236}">
                <a16:creationId xmlns:a16="http://schemas.microsoft.com/office/drawing/2014/main" id="{6A5CA169-0891-4015-AC4F-A444F7F01D2F}"/>
              </a:ext>
            </a:extLst>
          </p:cNvPr>
          <p:cNvSpPr/>
          <p:nvPr/>
        </p:nvSpPr>
        <p:spPr>
          <a:xfrm>
            <a:off x="6927850" y="1397000"/>
            <a:ext cx="546100" cy="441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1" name="向下箭號 17">
            <a:extLst>
              <a:ext uri="{FF2B5EF4-FFF2-40B4-BE49-F238E27FC236}">
                <a16:creationId xmlns:a16="http://schemas.microsoft.com/office/drawing/2014/main" id="{8BE35882-C893-4D94-9845-A289517A68F2}"/>
              </a:ext>
            </a:extLst>
          </p:cNvPr>
          <p:cNvSpPr/>
          <p:nvPr/>
        </p:nvSpPr>
        <p:spPr>
          <a:xfrm>
            <a:off x="6927850" y="2506663"/>
            <a:ext cx="546100" cy="442912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2" name="向下箭號 18">
            <a:extLst>
              <a:ext uri="{FF2B5EF4-FFF2-40B4-BE49-F238E27FC236}">
                <a16:creationId xmlns:a16="http://schemas.microsoft.com/office/drawing/2014/main" id="{5B2F9654-46CD-4B72-B3DB-DBF1E885471E}"/>
              </a:ext>
            </a:extLst>
          </p:cNvPr>
          <p:cNvSpPr/>
          <p:nvPr/>
        </p:nvSpPr>
        <p:spPr>
          <a:xfrm>
            <a:off x="6927850" y="3598863"/>
            <a:ext cx="546100" cy="441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3" name="向下箭號 19">
            <a:extLst>
              <a:ext uri="{FF2B5EF4-FFF2-40B4-BE49-F238E27FC236}">
                <a16:creationId xmlns:a16="http://schemas.microsoft.com/office/drawing/2014/main" id="{0CB604DD-6BE8-4525-A58C-BAD43AB9023B}"/>
              </a:ext>
            </a:extLst>
          </p:cNvPr>
          <p:cNvSpPr/>
          <p:nvPr/>
        </p:nvSpPr>
        <p:spPr>
          <a:xfrm>
            <a:off x="6927850" y="4633913"/>
            <a:ext cx="546100" cy="441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6885" name="文字方塊 41">
            <a:extLst>
              <a:ext uri="{FF2B5EF4-FFF2-40B4-BE49-F238E27FC236}">
                <a16:creationId xmlns:a16="http://schemas.microsoft.com/office/drawing/2014/main" id="{49D6657A-C186-464D-8F9F-709A0D42A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0" y="973138"/>
            <a:ext cx="20462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 sz="2000"/>
              <a:t>Input</a:t>
            </a:r>
            <a:endParaRPr lang="zh-TW" altLang="en-US" sz="2000"/>
          </a:p>
        </p:txBody>
      </p:sp>
      <p:pic>
        <p:nvPicPr>
          <p:cNvPr id="15" name="圖片 1">
            <a:extLst>
              <a:ext uri="{FF2B5EF4-FFF2-40B4-BE49-F238E27FC236}">
                <a16:creationId xmlns:a16="http://schemas.microsoft.com/office/drawing/2014/main" id="{BFD090C1-5FA8-41C5-A26A-659274A496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1874838"/>
            <a:ext cx="486727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圖片 12">
            <a:extLst>
              <a:ext uri="{FF2B5EF4-FFF2-40B4-BE49-F238E27FC236}">
                <a16:creationId xmlns:a16="http://schemas.microsoft.com/office/drawing/2014/main" id="{6EEE1DC0-8558-432E-AC7F-80C579343B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175" y="3119438"/>
            <a:ext cx="41719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圖片 42">
            <a:extLst>
              <a:ext uri="{FF2B5EF4-FFF2-40B4-BE49-F238E27FC236}">
                <a16:creationId xmlns:a16="http://schemas.microsoft.com/office/drawing/2014/main" id="{1276C52A-F2DE-4E25-95ED-65D4C8D474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525" y="4197350"/>
            <a:ext cx="4419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圖片 43">
            <a:extLst>
              <a:ext uri="{FF2B5EF4-FFF2-40B4-BE49-F238E27FC236}">
                <a16:creationId xmlns:a16="http://schemas.microsoft.com/office/drawing/2014/main" id="{157A7680-0068-468C-87CE-C01A948F01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5238750"/>
            <a:ext cx="421957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文字方塊 22">
            <a:extLst>
              <a:ext uri="{FF2B5EF4-FFF2-40B4-BE49-F238E27FC236}">
                <a16:creationId xmlns:a16="http://schemas.microsoft.com/office/drawing/2014/main" id="{5F6ED83F-E679-488E-B08D-C0AA5B49A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9375" y="1333500"/>
            <a:ext cx="1674813" cy="400050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>
                <a:solidFill>
                  <a:schemeClr val="dk1"/>
                </a:solidFill>
                <a:latin typeface="+mn-lt"/>
                <a:ea typeface="+mn-ea"/>
              </a:rPr>
              <a:t>1 x 28 x 28</a:t>
            </a:r>
            <a:endParaRPr lang="zh-TW" altLang="en-US" sz="20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0" name="文字方塊 23">
            <a:extLst>
              <a:ext uri="{FF2B5EF4-FFF2-40B4-BE49-F238E27FC236}">
                <a16:creationId xmlns:a16="http://schemas.microsoft.com/office/drawing/2014/main" id="{9892E01B-6497-4BC0-9A6C-8BA2D3CB6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514600"/>
            <a:ext cx="1674813" cy="400050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>
                <a:solidFill>
                  <a:schemeClr val="dk1"/>
                </a:solidFill>
                <a:latin typeface="+mn-lt"/>
                <a:ea typeface="+mn-ea"/>
              </a:rPr>
              <a:t>25 x 26 x 26</a:t>
            </a:r>
            <a:endParaRPr lang="zh-TW" altLang="en-US" sz="20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1" name="文字方塊 24">
            <a:extLst>
              <a:ext uri="{FF2B5EF4-FFF2-40B4-BE49-F238E27FC236}">
                <a16:creationId xmlns:a16="http://schemas.microsoft.com/office/drawing/2014/main" id="{AD031EA0-E5D7-44AB-9011-25F476C66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9375" y="3513138"/>
            <a:ext cx="1674813" cy="400050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>
                <a:solidFill>
                  <a:schemeClr val="dk1"/>
                </a:solidFill>
                <a:latin typeface="+mn-lt"/>
                <a:ea typeface="+mn-ea"/>
              </a:rPr>
              <a:t>25 x 13 x 13</a:t>
            </a:r>
            <a:endParaRPr lang="zh-TW" altLang="en-US" sz="20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2" name="文字方塊 25">
            <a:extLst>
              <a:ext uri="{FF2B5EF4-FFF2-40B4-BE49-F238E27FC236}">
                <a16:creationId xmlns:a16="http://schemas.microsoft.com/office/drawing/2014/main" id="{037815DE-90A8-418D-A6C2-9C50CB8BA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9375" y="4595813"/>
            <a:ext cx="1674813" cy="400050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>
                <a:solidFill>
                  <a:schemeClr val="dk1"/>
                </a:solidFill>
                <a:latin typeface="+mn-lt"/>
                <a:ea typeface="+mn-ea"/>
              </a:rPr>
              <a:t>50 x 11 x 11</a:t>
            </a:r>
            <a:endParaRPr lang="zh-TW" altLang="en-US" sz="20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3" name="文字方塊 26">
            <a:extLst>
              <a:ext uri="{FF2B5EF4-FFF2-40B4-BE49-F238E27FC236}">
                <a16:creationId xmlns:a16="http://schemas.microsoft.com/office/drawing/2014/main" id="{C033819B-91B2-4248-8908-4528D5B9E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9375" y="5624513"/>
            <a:ext cx="1674813" cy="400050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>
                <a:solidFill>
                  <a:schemeClr val="dk1"/>
                </a:solidFill>
                <a:latin typeface="+mn-lt"/>
                <a:ea typeface="+mn-ea"/>
              </a:rPr>
              <a:t>50 x 5 x 5</a:t>
            </a:r>
            <a:endParaRPr lang="zh-TW" altLang="en-US" sz="20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cxnSp>
        <p:nvCxnSpPr>
          <p:cNvPr id="24" name="直線單箭頭接點 32">
            <a:extLst>
              <a:ext uri="{FF2B5EF4-FFF2-40B4-BE49-F238E27FC236}">
                <a16:creationId xmlns:a16="http://schemas.microsoft.com/office/drawing/2014/main" id="{F295A8BD-069E-4952-916C-30B6059CF9E8}"/>
              </a:ext>
            </a:extLst>
          </p:cNvPr>
          <p:cNvCxnSpPr>
            <a:endCxn id="15" idx="3"/>
          </p:cNvCxnSpPr>
          <p:nvPr/>
        </p:nvCxnSpPr>
        <p:spPr>
          <a:xfrm flipH="1" flipV="1">
            <a:off x="5572125" y="2151063"/>
            <a:ext cx="736600" cy="1587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37">
            <a:extLst>
              <a:ext uri="{FF2B5EF4-FFF2-40B4-BE49-F238E27FC236}">
                <a16:creationId xmlns:a16="http://schemas.microsoft.com/office/drawing/2014/main" id="{4CFBB595-F79C-4887-82FE-890F3DFEF70B}"/>
              </a:ext>
            </a:extLst>
          </p:cNvPr>
          <p:cNvCxnSpPr/>
          <p:nvPr/>
        </p:nvCxnSpPr>
        <p:spPr>
          <a:xfrm flipH="1" flipV="1">
            <a:off x="5572125" y="3249613"/>
            <a:ext cx="736600" cy="3175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38">
            <a:extLst>
              <a:ext uri="{FF2B5EF4-FFF2-40B4-BE49-F238E27FC236}">
                <a16:creationId xmlns:a16="http://schemas.microsoft.com/office/drawing/2014/main" id="{BCD55B6F-7CBD-401A-BF7A-B43D7DE9DB59}"/>
              </a:ext>
            </a:extLst>
          </p:cNvPr>
          <p:cNvCxnSpPr/>
          <p:nvPr/>
        </p:nvCxnSpPr>
        <p:spPr>
          <a:xfrm flipH="1" flipV="1">
            <a:off x="5572125" y="4352925"/>
            <a:ext cx="736600" cy="1588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39">
            <a:extLst>
              <a:ext uri="{FF2B5EF4-FFF2-40B4-BE49-F238E27FC236}">
                <a16:creationId xmlns:a16="http://schemas.microsoft.com/office/drawing/2014/main" id="{202378E4-61B6-4D0E-88BC-BDF894A1ABD1}"/>
              </a:ext>
            </a:extLst>
          </p:cNvPr>
          <p:cNvCxnSpPr/>
          <p:nvPr/>
        </p:nvCxnSpPr>
        <p:spPr>
          <a:xfrm flipH="1" flipV="1">
            <a:off x="5580063" y="5400675"/>
            <a:ext cx="736600" cy="1588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">
            <a:extLst>
              <a:ext uri="{FF2B5EF4-FFF2-40B4-BE49-F238E27FC236}">
                <a16:creationId xmlns:a16="http://schemas.microsoft.com/office/drawing/2014/main" id="{B8DCDDE2-360C-4471-9522-6A75EB00F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2309813"/>
            <a:ext cx="31575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2000"/>
              <a:t>How many parameters for each filter?</a:t>
            </a:r>
            <a:endParaRPr lang="zh-TW" altLang="en-US" sz="2000"/>
          </a:p>
        </p:txBody>
      </p:sp>
      <p:sp>
        <p:nvSpPr>
          <p:cNvPr id="29" name="文字方塊 27">
            <a:extLst>
              <a:ext uri="{FF2B5EF4-FFF2-40B4-BE49-F238E27FC236}">
                <a16:creationId xmlns:a16="http://schemas.microsoft.com/office/drawing/2014/main" id="{A969EC94-9340-4862-B762-E0AE7A491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" y="4406900"/>
            <a:ext cx="31591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2000"/>
              <a:t>How many parameters</a:t>
            </a:r>
          </a:p>
          <a:p>
            <a:pPr eaLnBrk="1" hangingPunct="1"/>
            <a:r>
              <a:rPr lang="en-US" altLang="zh-TW" sz="2000"/>
              <a:t>for each filter?</a:t>
            </a:r>
            <a:endParaRPr lang="zh-TW" altLang="en-US"/>
          </a:p>
        </p:txBody>
      </p:sp>
      <p:sp>
        <p:nvSpPr>
          <p:cNvPr id="30" name="文字方塊 3">
            <a:extLst>
              <a:ext uri="{FF2B5EF4-FFF2-40B4-BE49-F238E27FC236}">
                <a16:creationId xmlns:a16="http://schemas.microsoft.com/office/drawing/2014/main" id="{06F79065-61D1-4CBE-8520-3D8B5F17573A}"/>
              </a:ext>
            </a:extLst>
          </p:cNvPr>
          <p:cNvSpPr txBox="1"/>
          <p:nvPr/>
        </p:nvSpPr>
        <p:spPr>
          <a:xfrm>
            <a:off x="3173529" y="2507093"/>
            <a:ext cx="487810" cy="40011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/>
              <a:t>9</a:t>
            </a:r>
            <a:endParaRPr lang="zh-TW" altLang="en-US" sz="2000" dirty="0"/>
          </a:p>
        </p:txBody>
      </p:sp>
      <p:sp>
        <p:nvSpPr>
          <p:cNvPr id="31" name="文字方塊 40">
            <a:extLst>
              <a:ext uri="{FF2B5EF4-FFF2-40B4-BE49-F238E27FC236}">
                <a16:creationId xmlns:a16="http://schemas.microsoft.com/office/drawing/2014/main" id="{E261B24D-538E-4C02-8075-E243B2F5373C}"/>
              </a:ext>
            </a:extLst>
          </p:cNvPr>
          <p:cNvSpPr txBox="1"/>
          <p:nvPr/>
        </p:nvSpPr>
        <p:spPr>
          <a:xfrm>
            <a:off x="2819400" y="4495800"/>
            <a:ext cx="951851" cy="70788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225=</a:t>
            </a:r>
          </a:p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25x9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pic>
        <p:nvPicPr>
          <p:cNvPr id="32" name="圖片 46">
            <a:extLst>
              <a:ext uri="{FF2B5EF4-FFF2-40B4-BE49-F238E27FC236}">
                <a16:creationId xmlns:a16="http://schemas.microsoft.com/office/drawing/2014/main" id="{B8264428-A68E-4926-ACAD-F6079BBC36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5400" y="2132013"/>
            <a:ext cx="1274763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8" grpId="0"/>
      <p:bldP spid="2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4">
            <a:extLst>
              <a:ext uri="{FF2B5EF4-FFF2-40B4-BE49-F238E27FC236}">
                <a16:creationId xmlns:a16="http://schemas.microsoft.com/office/drawing/2014/main" id="{88A4D291-53D5-4453-803B-F2C0220B8258}"/>
              </a:ext>
            </a:extLst>
          </p:cNvPr>
          <p:cNvSpPr txBox="1"/>
          <p:nvPr/>
        </p:nvSpPr>
        <p:spPr>
          <a:xfrm>
            <a:off x="3091045" y="141751"/>
            <a:ext cx="5540375" cy="70788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Only modified the </a:t>
            </a:r>
            <a:r>
              <a:rPr lang="en-US" altLang="zh-TW" sz="2000" b="1" i="1" dirty="0">
                <a:solidFill>
                  <a:srgbClr val="000000"/>
                </a:solidFill>
              </a:rPr>
              <a:t>network structure </a:t>
            </a:r>
            <a:r>
              <a:rPr lang="en-US" altLang="zh-TW" sz="2000" dirty="0">
                <a:solidFill>
                  <a:srgbClr val="000000"/>
                </a:solidFill>
              </a:rPr>
              <a:t>and </a:t>
            </a:r>
            <a:r>
              <a:rPr lang="en-US" altLang="zh-TW" sz="2000" b="1" i="1" dirty="0">
                <a:solidFill>
                  <a:srgbClr val="000000"/>
                </a:solidFill>
              </a:rPr>
              <a:t>input format (vector -&gt; 3-D array)</a:t>
            </a:r>
            <a:endParaRPr lang="zh-TW" altLang="en-US" sz="2000" b="1" i="1" dirty="0">
              <a:solidFill>
                <a:srgbClr val="000000"/>
              </a:solidFill>
            </a:endParaRPr>
          </a:p>
        </p:txBody>
      </p:sp>
      <p:sp>
        <p:nvSpPr>
          <p:cNvPr id="37892" name="矩形 9">
            <a:extLst>
              <a:ext uri="{FF2B5EF4-FFF2-40B4-BE49-F238E27FC236}">
                <a16:creationId xmlns:a16="http://schemas.microsoft.com/office/drawing/2014/main" id="{AEF95668-9993-4DF2-95CB-CA80DFF49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65113"/>
            <a:ext cx="2108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2800" b="1" i="1" u="sng"/>
              <a:t>CNN in Keras</a:t>
            </a:r>
            <a:endParaRPr lang="zh-TW" altLang="en-US" sz="2800" b="1" i="1" u="sng"/>
          </a:p>
        </p:txBody>
      </p:sp>
      <p:sp>
        <p:nvSpPr>
          <p:cNvPr id="6" name="矩形 28">
            <a:extLst>
              <a:ext uri="{FF2B5EF4-FFF2-40B4-BE49-F238E27FC236}">
                <a16:creationId xmlns:a16="http://schemas.microsoft.com/office/drawing/2014/main" id="{530F7C2E-664C-484A-914D-B71678462A13}"/>
              </a:ext>
            </a:extLst>
          </p:cNvPr>
          <p:cNvSpPr/>
          <p:nvPr/>
        </p:nvSpPr>
        <p:spPr>
          <a:xfrm>
            <a:off x="6308508" y="1874056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Convolution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7" name="矩形 29">
            <a:extLst>
              <a:ext uri="{FF2B5EF4-FFF2-40B4-BE49-F238E27FC236}">
                <a16:creationId xmlns:a16="http://schemas.microsoft.com/office/drawing/2014/main" id="{CEC83D40-48D5-4E93-93E4-4207F04568A9}"/>
              </a:ext>
            </a:extLst>
          </p:cNvPr>
          <p:cNvSpPr/>
          <p:nvPr/>
        </p:nvSpPr>
        <p:spPr>
          <a:xfrm>
            <a:off x="6308508" y="2974068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Max Pooling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8" name="矩形 30">
            <a:extLst>
              <a:ext uri="{FF2B5EF4-FFF2-40B4-BE49-F238E27FC236}">
                <a16:creationId xmlns:a16="http://schemas.microsoft.com/office/drawing/2014/main" id="{F5617B5F-56E0-4008-8C47-80BA4554CFF0}"/>
              </a:ext>
            </a:extLst>
          </p:cNvPr>
          <p:cNvSpPr/>
          <p:nvPr/>
        </p:nvSpPr>
        <p:spPr>
          <a:xfrm>
            <a:off x="6308508" y="4042281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Convolution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9" name="矩形 31">
            <a:extLst>
              <a:ext uri="{FF2B5EF4-FFF2-40B4-BE49-F238E27FC236}">
                <a16:creationId xmlns:a16="http://schemas.microsoft.com/office/drawing/2014/main" id="{6FDF85DD-82FC-4488-A2B8-6E227D87FEF2}"/>
              </a:ext>
            </a:extLst>
          </p:cNvPr>
          <p:cNvSpPr/>
          <p:nvPr/>
        </p:nvSpPr>
        <p:spPr>
          <a:xfrm>
            <a:off x="6308508" y="5075533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Max Pooling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10" name="向下箭號 11">
            <a:extLst>
              <a:ext uri="{FF2B5EF4-FFF2-40B4-BE49-F238E27FC236}">
                <a16:creationId xmlns:a16="http://schemas.microsoft.com/office/drawing/2014/main" id="{1FF0EACD-CCE2-44D5-A2EA-36714BBCFF4D}"/>
              </a:ext>
            </a:extLst>
          </p:cNvPr>
          <p:cNvSpPr/>
          <p:nvPr/>
        </p:nvSpPr>
        <p:spPr>
          <a:xfrm>
            <a:off x="6927850" y="1397000"/>
            <a:ext cx="546100" cy="441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1" name="向下箭號 17">
            <a:extLst>
              <a:ext uri="{FF2B5EF4-FFF2-40B4-BE49-F238E27FC236}">
                <a16:creationId xmlns:a16="http://schemas.microsoft.com/office/drawing/2014/main" id="{11FDBEED-D97C-4B6E-B469-B993F13BD8E3}"/>
              </a:ext>
            </a:extLst>
          </p:cNvPr>
          <p:cNvSpPr/>
          <p:nvPr/>
        </p:nvSpPr>
        <p:spPr>
          <a:xfrm>
            <a:off x="6927850" y="2506663"/>
            <a:ext cx="546100" cy="442912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2" name="向下箭號 18">
            <a:extLst>
              <a:ext uri="{FF2B5EF4-FFF2-40B4-BE49-F238E27FC236}">
                <a16:creationId xmlns:a16="http://schemas.microsoft.com/office/drawing/2014/main" id="{524630BC-F108-4DE4-8C98-912F6E1E5A0E}"/>
              </a:ext>
            </a:extLst>
          </p:cNvPr>
          <p:cNvSpPr/>
          <p:nvPr/>
        </p:nvSpPr>
        <p:spPr>
          <a:xfrm>
            <a:off x="6927850" y="3598863"/>
            <a:ext cx="546100" cy="441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3" name="向下箭號 19">
            <a:extLst>
              <a:ext uri="{FF2B5EF4-FFF2-40B4-BE49-F238E27FC236}">
                <a16:creationId xmlns:a16="http://schemas.microsoft.com/office/drawing/2014/main" id="{BF34C78D-5869-454A-A184-4EC680A2365B}"/>
              </a:ext>
            </a:extLst>
          </p:cNvPr>
          <p:cNvSpPr/>
          <p:nvPr/>
        </p:nvSpPr>
        <p:spPr>
          <a:xfrm>
            <a:off x="6927850" y="4633913"/>
            <a:ext cx="546100" cy="441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7909" name="文字方塊 41">
            <a:extLst>
              <a:ext uri="{FF2B5EF4-FFF2-40B4-BE49-F238E27FC236}">
                <a16:creationId xmlns:a16="http://schemas.microsoft.com/office/drawing/2014/main" id="{6F487AE4-8E43-45B4-A89E-09C1359AA5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914400"/>
            <a:ext cx="20462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Input</a:t>
            </a:r>
            <a:endParaRPr lang="zh-TW" altLang="en-US"/>
          </a:p>
        </p:txBody>
      </p:sp>
      <p:sp>
        <p:nvSpPr>
          <p:cNvPr id="15" name="文字方塊 22">
            <a:extLst>
              <a:ext uri="{FF2B5EF4-FFF2-40B4-BE49-F238E27FC236}">
                <a16:creationId xmlns:a16="http://schemas.microsoft.com/office/drawing/2014/main" id="{2933EF81-84B0-4E15-85AD-207052A70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3038" y="1365250"/>
            <a:ext cx="1674812" cy="400050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>
                <a:solidFill>
                  <a:schemeClr val="dk1"/>
                </a:solidFill>
                <a:latin typeface="+mn-lt"/>
                <a:ea typeface="+mn-ea"/>
              </a:rPr>
              <a:t>1 x 28 x 28</a:t>
            </a:r>
            <a:endParaRPr lang="zh-TW" altLang="en-US" sz="20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6" name="文字方塊 23">
            <a:extLst>
              <a:ext uri="{FF2B5EF4-FFF2-40B4-BE49-F238E27FC236}">
                <a16:creationId xmlns:a16="http://schemas.microsoft.com/office/drawing/2014/main" id="{8335F7B6-D5C6-4119-B5EE-B36F29F6C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3038" y="2479675"/>
            <a:ext cx="1674812" cy="401638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  <a:latin typeface="+mn-lt"/>
                <a:ea typeface="+mn-ea"/>
              </a:rPr>
              <a:t>25 x 26 x 26</a:t>
            </a:r>
            <a:endParaRPr lang="zh-TW" altLang="en-US" sz="20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7" name="文字方塊 24">
            <a:extLst>
              <a:ext uri="{FF2B5EF4-FFF2-40B4-BE49-F238E27FC236}">
                <a16:creationId xmlns:a16="http://schemas.microsoft.com/office/drawing/2014/main" id="{FB78BE20-94D0-44B7-B0B4-F37A3D87B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3038" y="3556000"/>
            <a:ext cx="1674812" cy="400050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  <a:latin typeface="+mn-lt"/>
                <a:ea typeface="+mn-ea"/>
              </a:rPr>
              <a:t>25 x 13 x 13</a:t>
            </a:r>
            <a:endParaRPr lang="zh-TW" altLang="en-US" sz="20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8" name="文字方塊 25">
            <a:extLst>
              <a:ext uri="{FF2B5EF4-FFF2-40B4-BE49-F238E27FC236}">
                <a16:creationId xmlns:a16="http://schemas.microsoft.com/office/drawing/2014/main" id="{51D1FEBA-A498-4EDB-A0EC-BF2A171E3C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3038" y="4613275"/>
            <a:ext cx="1674812" cy="400050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  <a:latin typeface="+mn-lt"/>
                <a:ea typeface="+mn-ea"/>
              </a:rPr>
              <a:t>50 x 11 x 11</a:t>
            </a:r>
            <a:endParaRPr lang="zh-TW" altLang="en-US" sz="20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9" name="文字方塊 26">
            <a:extLst>
              <a:ext uri="{FF2B5EF4-FFF2-40B4-BE49-F238E27FC236}">
                <a16:creationId xmlns:a16="http://schemas.microsoft.com/office/drawing/2014/main" id="{FB71638A-25AB-44A9-97A4-D28EE74B8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3038" y="5553075"/>
            <a:ext cx="1674812" cy="400050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>
                <a:solidFill>
                  <a:schemeClr val="dk1"/>
                </a:solidFill>
                <a:latin typeface="+mn-lt"/>
                <a:ea typeface="+mn-ea"/>
              </a:rPr>
              <a:t>50 x 5 x 5</a:t>
            </a:r>
            <a:endParaRPr lang="zh-TW" altLang="en-US" sz="20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0" name="文字方塊 32">
            <a:extLst>
              <a:ext uri="{FF2B5EF4-FFF2-40B4-BE49-F238E27FC236}">
                <a16:creationId xmlns:a16="http://schemas.microsoft.com/office/drawing/2014/main" id="{8EF203D5-3BE7-4C8B-BD2D-58E97E2C8CA1}"/>
              </a:ext>
            </a:extLst>
          </p:cNvPr>
          <p:cNvSpPr txBox="1"/>
          <p:nvPr/>
        </p:nvSpPr>
        <p:spPr>
          <a:xfrm>
            <a:off x="3267596" y="5851258"/>
            <a:ext cx="1556991" cy="4001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Flattened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21" name="右彎箭號 16">
            <a:extLst>
              <a:ext uri="{FF2B5EF4-FFF2-40B4-BE49-F238E27FC236}">
                <a16:creationId xmlns:a16="http://schemas.microsoft.com/office/drawing/2014/main" id="{71EE7653-A3C5-4C04-86D8-33E0D17F2BDB}"/>
              </a:ext>
            </a:extLst>
          </p:cNvPr>
          <p:cNvSpPr/>
          <p:nvPr/>
        </p:nvSpPr>
        <p:spPr>
          <a:xfrm rot="10800000">
            <a:off x="4864100" y="5651500"/>
            <a:ext cx="2452688" cy="631825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右彎箭號 21">
            <a:extLst>
              <a:ext uri="{FF2B5EF4-FFF2-40B4-BE49-F238E27FC236}">
                <a16:creationId xmlns:a16="http://schemas.microsoft.com/office/drawing/2014/main" id="{3D6E5890-1968-4804-A0D8-8A7E3C6BAF77}"/>
              </a:ext>
            </a:extLst>
          </p:cNvPr>
          <p:cNvSpPr/>
          <p:nvPr/>
        </p:nvSpPr>
        <p:spPr>
          <a:xfrm rot="16200000">
            <a:off x="2151856" y="5126832"/>
            <a:ext cx="727075" cy="1398588"/>
          </a:xfrm>
          <a:prstGeom prst="bentArrow">
            <a:avLst>
              <a:gd name="adj1" fmla="val 28061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23" name="圖片 2">
            <a:extLst>
              <a:ext uri="{FF2B5EF4-FFF2-40B4-BE49-F238E27FC236}">
                <a16:creationId xmlns:a16="http://schemas.microsoft.com/office/drawing/2014/main" id="{76F20714-F46B-4000-B64B-0B0630A515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2550" y="6329363"/>
            <a:ext cx="28479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文字方塊 39">
            <a:extLst>
              <a:ext uri="{FF2B5EF4-FFF2-40B4-BE49-F238E27FC236}">
                <a16:creationId xmlns:a16="http://schemas.microsoft.com/office/drawing/2014/main" id="{727171E0-E32C-48DD-B2C8-26DDDBB34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8050" y="5483225"/>
            <a:ext cx="1006475" cy="400050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>
                <a:solidFill>
                  <a:schemeClr val="dk1"/>
                </a:solidFill>
                <a:latin typeface="+mn-lt"/>
                <a:ea typeface="+mn-ea"/>
              </a:rPr>
              <a:t>1250</a:t>
            </a:r>
            <a:endParaRPr lang="zh-TW" altLang="en-US" sz="20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grpSp>
        <p:nvGrpSpPr>
          <p:cNvPr id="25" name="群組 40">
            <a:extLst>
              <a:ext uri="{FF2B5EF4-FFF2-40B4-BE49-F238E27FC236}">
                <a16:creationId xmlns:a16="http://schemas.microsoft.com/office/drawing/2014/main" id="{CFC9C2F1-0A1C-43B4-9B58-84A3A9F77CD4}"/>
              </a:ext>
            </a:extLst>
          </p:cNvPr>
          <p:cNvGrpSpPr>
            <a:grpSpLocks/>
          </p:cNvGrpSpPr>
          <p:nvPr/>
        </p:nvGrpSpPr>
        <p:grpSpPr bwMode="auto">
          <a:xfrm>
            <a:off x="514350" y="2208213"/>
            <a:ext cx="2906713" cy="3201987"/>
            <a:chOff x="-1595803" y="3999117"/>
            <a:chExt cx="2906568" cy="3201477"/>
          </a:xfrm>
        </p:grpSpPr>
        <p:pic>
          <p:nvPicPr>
            <p:cNvPr id="37925" name="圖片 44">
              <a:extLst>
                <a:ext uri="{FF2B5EF4-FFF2-40B4-BE49-F238E27FC236}">
                  <a16:creationId xmlns:a16="http://schemas.microsoft.com/office/drawing/2014/main" id="{BF58C136-84C8-46F0-A432-EB5DF27EC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H="1">
              <a:off x="-1736746" y="4748962"/>
              <a:ext cx="3201477" cy="1701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文字方塊 45">
              <a:extLst>
                <a:ext uri="{FF2B5EF4-FFF2-40B4-BE49-F238E27FC236}">
                  <a16:creationId xmlns:a16="http://schemas.microsoft.com/office/drawing/2014/main" id="{25D353D9-9534-4E95-A3F5-D1D75EE1A72B}"/>
                </a:ext>
              </a:extLst>
            </p:cNvPr>
            <p:cNvSpPr txBox="1"/>
            <p:nvPr/>
          </p:nvSpPr>
          <p:spPr>
            <a:xfrm>
              <a:off x="-1595803" y="4773762"/>
              <a:ext cx="2906568" cy="70788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TW" sz="2000" dirty="0">
                  <a:solidFill>
                    <a:srgbClr val="000000"/>
                  </a:solidFill>
                </a:rPr>
                <a:t>Fully connected </a:t>
              </a:r>
              <a:r>
                <a:rPr lang="en-US" altLang="zh-TW" sz="2000" dirty="0" err="1">
                  <a:solidFill>
                    <a:srgbClr val="000000"/>
                  </a:solidFill>
                </a:rPr>
                <a:t>feedforward</a:t>
              </a:r>
              <a:r>
                <a:rPr lang="en-US" altLang="zh-TW" sz="2000" dirty="0">
                  <a:solidFill>
                    <a:srgbClr val="000000"/>
                  </a:solidFill>
                </a:rPr>
                <a:t> network</a:t>
              </a:r>
              <a:endParaRPr lang="zh-TW" altLang="en-US" sz="2000" dirty="0">
                <a:solidFill>
                  <a:srgbClr val="000000"/>
                </a:solidFill>
              </a:endParaRPr>
            </a:p>
          </p:txBody>
        </p:sp>
      </p:grpSp>
      <p:sp>
        <p:nvSpPr>
          <p:cNvPr id="28" name="文字方塊 46">
            <a:extLst>
              <a:ext uri="{FF2B5EF4-FFF2-40B4-BE49-F238E27FC236}">
                <a16:creationId xmlns:a16="http://schemas.microsoft.com/office/drawing/2014/main" id="{0867B6B3-9791-4F4C-A159-2CE4C5B916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913" y="1827213"/>
            <a:ext cx="20462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Output</a:t>
            </a:r>
            <a:endParaRPr lang="zh-TW" altLang="en-US"/>
          </a:p>
        </p:txBody>
      </p:sp>
      <p:pic>
        <p:nvPicPr>
          <p:cNvPr id="29" name="圖片 3">
            <a:extLst>
              <a:ext uri="{FF2B5EF4-FFF2-40B4-BE49-F238E27FC236}">
                <a16:creationId xmlns:a16="http://schemas.microsoft.com/office/drawing/2014/main" id="{2F961789-EFE3-493C-916F-CCA915639B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932238"/>
            <a:ext cx="455295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http://lgs.tw/img/xp1.png.pagespeed.ic.NzL0vritbc.jpg">
            <a:extLst>
              <a:ext uri="{FF2B5EF4-FFF2-40B4-BE49-F238E27FC236}">
                <a16:creationId xmlns:a16="http://schemas.microsoft.com/office/drawing/2014/main" id="{B41F14EA-7AFF-4542-9708-351CC7914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79488" y="1531938"/>
            <a:ext cx="2566987" cy="276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4" name="標題 1">
            <a:extLst>
              <a:ext uri="{FF2B5EF4-FFF2-40B4-BE49-F238E27FC236}">
                <a16:creationId xmlns:a16="http://schemas.microsoft.com/office/drawing/2014/main" id="{DDAD44DB-C924-4C94-9B86-5FA5AFF5F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488" y="49213"/>
            <a:ext cx="7886700" cy="1325563"/>
          </a:xfrm>
        </p:spPr>
        <p:txBody>
          <a:bodyPr/>
          <a:lstStyle/>
          <a:p>
            <a:r>
              <a:rPr lang="en-US" altLang="zh-TW"/>
              <a:t>AlphaGo</a:t>
            </a:r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0E189A6-8BE6-4BA2-ACB6-35EE48778AF3}"/>
              </a:ext>
            </a:extLst>
          </p:cNvPr>
          <p:cNvSpPr/>
          <p:nvPr/>
        </p:nvSpPr>
        <p:spPr>
          <a:xfrm>
            <a:off x="4067175" y="2255838"/>
            <a:ext cx="1719263" cy="12446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Neural</a:t>
            </a:r>
          </a:p>
          <a:p>
            <a:pPr algn="ctr"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Network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7" name="向右箭號 6">
            <a:extLst>
              <a:ext uri="{FF2B5EF4-FFF2-40B4-BE49-F238E27FC236}">
                <a16:creationId xmlns:a16="http://schemas.microsoft.com/office/drawing/2014/main" id="{11E913AB-AA68-4966-B849-9B8F34F354D5}"/>
              </a:ext>
            </a:extLst>
          </p:cNvPr>
          <p:cNvSpPr/>
          <p:nvPr/>
        </p:nvSpPr>
        <p:spPr>
          <a:xfrm>
            <a:off x="3524250" y="2598738"/>
            <a:ext cx="423863" cy="56038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8" name="向右箭號 7">
            <a:extLst>
              <a:ext uri="{FF2B5EF4-FFF2-40B4-BE49-F238E27FC236}">
                <a16:creationId xmlns:a16="http://schemas.microsoft.com/office/drawing/2014/main" id="{E7FBBE4A-14A9-4E8A-9DE6-008C0A056DE3}"/>
              </a:ext>
            </a:extLst>
          </p:cNvPr>
          <p:cNvSpPr/>
          <p:nvPr/>
        </p:nvSpPr>
        <p:spPr>
          <a:xfrm>
            <a:off x="5956300" y="2598738"/>
            <a:ext cx="423863" cy="56038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grpSp>
        <p:nvGrpSpPr>
          <p:cNvPr id="9" name="群組 10">
            <a:extLst>
              <a:ext uri="{FF2B5EF4-FFF2-40B4-BE49-F238E27FC236}">
                <a16:creationId xmlns:a16="http://schemas.microsoft.com/office/drawing/2014/main" id="{2EC3AB3F-3609-45CA-856D-F9450EF704A4}"/>
              </a:ext>
            </a:extLst>
          </p:cNvPr>
          <p:cNvGrpSpPr>
            <a:grpSpLocks/>
          </p:cNvGrpSpPr>
          <p:nvPr/>
        </p:nvGrpSpPr>
        <p:grpSpPr bwMode="auto">
          <a:xfrm>
            <a:off x="6488113" y="2274888"/>
            <a:ext cx="1597025" cy="1111250"/>
            <a:chOff x="6737868" y="2183226"/>
            <a:chExt cx="1596788" cy="1111653"/>
          </a:xfrm>
        </p:grpSpPr>
        <p:sp>
          <p:nvSpPr>
            <p:cNvPr id="38929" name="文字方塊 8">
              <a:extLst>
                <a:ext uri="{FF2B5EF4-FFF2-40B4-BE49-F238E27FC236}">
                  <a16:creationId xmlns:a16="http://schemas.microsoft.com/office/drawing/2014/main" id="{5C713563-A6F9-4102-B36D-23C4DA1486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24399" y="2586993"/>
              <a:ext cx="1409700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TW" sz="2000"/>
                <a:t>(19 x 19 positions)</a:t>
              </a:r>
              <a:endParaRPr lang="zh-TW" altLang="en-US" sz="2000"/>
            </a:p>
          </p:txBody>
        </p:sp>
        <p:sp>
          <p:nvSpPr>
            <p:cNvPr id="38930" name="文字方塊 9">
              <a:extLst>
                <a:ext uri="{FF2B5EF4-FFF2-40B4-BE49-F238E27FC236}">
                  <a16:creationId xmlns:a16="http://schemas.microsoft.com/office/drawing/2014/main" id="{1EA465C0-0A97-474C-B488-2F533C7D44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7868" y="2183226"/>
              <a:ext cx="159678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zh-TW" sz="2000"/>
                <a:t>Next move</a:t>
              </a:r>
              <a:endParaRPr lang="zh-TW" altLang="en-US" sz="2000"/>
            </a:p>
          </p:txBody>
        </p:sp>
      </p:grpSp>
      <p:sp>
        <p:nvSpPr>
          <p:cNvPr id="12" name="文字方塊 12">
            <a:extLst>
              <a:ext uri="{FF2B5EF4-FFF2-40B4-BE49-F238E27FC236}">
                <a16:creationId xmlns:a16="http://schemas.microsoft.com/office/drawing/2014/main" id="{8215EBA8-80C0-48F7-9E18-3CE4BE9BD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4179888"/>
            <a:ext cx="27162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19 x 19 matrix</a:t>
            </a:r>
            <a:endParaRPr lang="zh-TW" altLang="en-US"/>
          </a:p>
        </p:txBody>
      </p:sp>
      <p:sp>
        <p:nvSpPr>
          <p:cNvPr id="13" name="文字方塊 13">
            <a:extLst>
              <a:ext uri="{FF2B5EF4-FFF2-40B4-BE49-F238E27FC236}">
                <a16:creationId xmlns:a16="http://schemas.microsoft.com/office/drawing/2014/main" id="{5305B3AF-9C43-40B5-96A1-0184C96BA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388" y="4775200"/>
            <a:ext cx="17224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Black: 1</a:t>
            </a:r>
            <a:endParaRPr lang="zh-TW" altLang="en-US"/>
          </a:p>
        </p:txBody>
      </p:sp>
      <p:sp>
        <p:nvSpPr>
          <p:cNvPr id="14" name="文字方塊 14">
            <a:extLst>
              <a:ext uri="{FF2B5EF4-FFF2-40B4-BE49-F238E27FC236}">
                <a16:creationId xmlns:a16="http://schemas.microsoft.com/office/drawing/2014/main" id="{BD0C0A91-6B7A-4191-8FD8-D2DAE65E6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388" y="5224463"/>
            <a:ext cx="1722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white: -1</a:t>
            </a:r>
            <a:endParaRPr lang="zh-TW" altLang="en-US"/>
          </a:p>
        </p:txBody>
      </p:sp>
      <p:sp>
        <p:nvSpPr>
          <p:cNvPr id="15" name="文字方塊 15">
            <a:extLst>
              <a:ext uri="{FF2B5EF4-FFF2-40B4-BE49-F238E27FC236}">
                <a16:creationId xmlns:a16="http://schemas.microsoft.com/office/drawing/2014/main" id="{3AA22861-C286-40E7-86E4-C65585573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388" y="5673725"/>
            <a:ext cx="17224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none: 0</a:t>
            </a:r>
            <a:endParaRPr lang="zh-TW" altLang="en-US"/>
          </a:p>
        </p:txBody>
      </p:sp>
      <p:sp>
        <p:nvSpPr>
          <p:cNvPr id="17" name="文字方塊 17">
            <a:extLst>
              <a:ext uri="{FF2B5EF4-FFF2-40B4-BE49-F238E27FC236}">
                <a16:creationId xmlns:a16="http://schemas.microsoft.com/office/drawing/2014/main" id="{E9067017-309A-4050-A98C-56B0C3EB34A5}"/>
              </a:ext>
            </a:extLst>
          </p:cNvPr>
          <p:cNvSpPr txBox="1"/>
          <p:nvPr/>
        </p:nvSpPr>
        <p:spPr>
          <a:xfrm>
            <a:off x="3680602" y="4623211"/>
            <a:ext cx="4929997" cy="83099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Fully-connected feedforward network can be used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18" name="文字方塊 18">
            <a:extLst>
              <a:ext uri="{FF2B5EF4-FFF2-40B4-BE49-F238E27FC236}">
                <a16:creationId xmlns:a16="http://schemas.microsoft.com/office/drawing/2014/main" id="{DE9A720A-DC19-4935-94D9-73D432F2D157}"/>
              </a:ext>
            </a:extLst>
          </p:cNvPr>
          <p:cNvSpPr txBox="1"/>
          <p:nvPr/>
        </p:nvSpPr>
        <p:spPr>
          <a:xfrm>
            <a:off x="3680603" y="5669311"/>
            <a:ext cx="4929996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But CNN performs much better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2" grpId="0"/>
      <p:bldP spid="13" grpId="0"/>
      <p:bldP spid="14" grpId="0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標題 1">
            <a:extLst>
              <a:ext uri="{FF2B5EF4-FFF2-40B4-BE49-F238E27FC236}">
                <a16:creationId xmlns:a16="http://schemas.microsoft.com/office/drawing/2014/main" id="{BD714BE7-D04F-46D0-A6DE-B971C877D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563"/>
            <a:ext cx="7886700" cy="1325563"/>
          </a:xfrm>
        </p:spPr>
        <p:txBody>
          <a:bodyPr/>
          <a:lstStyle/>
          <a:p>
            <a:r>
              <a:rPr lang="en-US" altLang="zh-TW"/>
              <a:t>AlphaGo’s policy network</a:t>
            </a:r>
            <a:endParaRPr lang="zh-TW" altLang="en-US"/>
          </a:p>
        </p:txBody>
      </p:sp>
      <p:pic>
        <p:nvPicPr>
          <p:cNvPr id="6" name="圖片 3">
            <a:extLst>
              <a:ext uri="{FF2B5EF4-FFF2-40B4-BE49-F238E27FC236}">
                <a16:creationId xmlns:a16="http://schemas.microsoft.com/office/drawing/2014/main" id="{77B53519-9AF5-41B8-B94A-3E6EF8D8CE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965450"/>
            <a:ext cx="8955088" cy="3684588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42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4">
            <a:extLst>
              <a:ext uri="{FF2B5EF4-FFF2-40B4-BE49-F238E27FC236}">
                <a16:creationId xmlns:a16="http://schemas.microsoft.com/office/drawing/2014/main" id="{5459B7AA-6592-45D0-84FC-F44B6277AC0B}"/>
              </a:ext>
            </a:extLst>
          </p:cNvPr>
          <p:cNvSpPr txBox="1"/>
          <p:nvPr/>
        </p:nvSpPr>
        <p:spPr>
          <a:xfrm>
            <a:off x="152400" y="2362200"/>
            <a:ext cx="6657521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Note: </a:t>
            </a:r>
            <a:r>
              <a:rPr lang="en-US" altLang="zh-TW" sz="2400" dirty="0" err="1">
                <a:solidFill>
                  <a:srgbClr val="000000"/>
                </a:solidFill>
              </a:rPr>
              <a:t>AlphaGo</a:t>
            </a:r>
            <a:r>
              <a:rPr lang="en-US" altLang="zh-TW" sz="2400" dirty="0">
                <a:solidFill>
                  <a:srgbClr val="000000"/>
                </a:solidFill>
              </a:rPr>
              <a:t> does not use Max Pooling.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E45C0189-CBAD-4AA9-9695-D32A6BF37596}"/>
              </a:ext>
            </a:extLst>
          </p:cNvPr>
          <p:cNvCxnSpPr/>
          <p:nvPr/>
        </p:nvCxnSpPr>
        <p:spPr>
          <a:xfrm>
            <a:off x="7566025" y="3305175"/>
            <a:ext cx="13255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1">
            <a:extLst>
              <a:ext uri="{FF2B5EF4-FFF2-40B4-BE49-F238E27FC236}">
                <a16:creationId xmlns:a16="http://schemas.microsoft.com/office/drawing/2014/main" id="{DEEEA0CC-8449-4367-AC75-08B6CF540DBE}"/>
              </a:ext>
            </a:extLst>
          </p:cNvPr>
          <p:cNvCxnSpPr/>
          <p:nvPr/>
        </p:nvCxnSpPr>
        <p:spPr>
          <a:xfrm>
            <a:off x="146050" y="3629025"/>
            <a:ext cx="69215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3">
            <a:extLst>
              <a:ext uri="{FF2B5EF4-FFF2-40B4-BE49-F238E27FC236}">
                <a16:creationId xmlns:a16="http://schemas.microsoft.com/office/drawing/2014/main" id="{9683F08F-9A54-4AAC-8E1D-84F4E8A0CD6A}"/>
              </a:ext>
            </a:extLst>
          </p:cNvPr>
          <p:cNvCxnSpPr/>
          <p:nvPr/>
        </p:nvCxnSpPr>
        <p:spPr>
          <a:xfrm>
            <a:off x="7489825" y="3629025"/>
            <a:ext cx="1473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5">
            <a:extLst>
              <a:ext uri="{FF2B5EF4-FFF2-40B4-BE49-F238E27FC236}">
                <a16:creationId xmlns:a16="http://schemas.microsoft.com/office/drawing/2014/main" id="{EFB1B48C-4E50-4045-8CB4-A898BC82FEC8}"/>
              </a:ext>
            </a:extLst>
          </p:cNvPr>
          <p:cNvCxnSpPr/>
          <p:nvPr/>
        </p:nvCxnSpPr>
        <p:spPr>
          <a:xfrm>
            <a:off x="146050" y="3933825"/>
            <a:ext cx="28829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7">
            <a:extLst>
              <a:ext uri="{FF2B5EF4-FFF2-40B4-BE49-F238E27FC236}">
                <a16:creationId xmlns:a16="http://schemas.microsoft.com/office/drawing/2014/main" id="{F3582283-ADC5-440D-BC04-B7B7191504C1}"/>
              </a:ext>
            </a:extLst>
          </p:cNvPr>
          <p:cNvCxnSpPr/>
          <p:nvPr/>
        </p:nvCxnSpPr>
        <p:spPr>
          <a:xfrm>
            <a:off x="4749800" y="3944938"/>
            <a:ext cx="295592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9">
            <a:extLst>
              <a:ext uri="{FF2B5EF4-FFF2-40B4-BE49-F238E27FC236}">
                <a16:creationId xmlns:a16="http://schemas.microsoft.com/office/drawing/2014/main" id="{5D28C1F4-40C4-4A90-9980-60240290985E}"/>
              </a:ext>
            </a:extLst>
          </p:cNvPr>
          <p:cNvCxnSpPr/>
          <p:nvPr/>
        </p:nvCxnSpPr>
        <p:spPr>
          <a:xfrm>
            <a:off x="8353425" y="3933825"/>
            <a:ext cx="6016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21">
            <a:extLst>
              <a:ext uri="{FF2B5EF4-FFF2-40B4-BE49-F238E27FC236}">
                <a16:creationId xmlns:a16="http://schemas.microsoft.com/office/drawing/2014/main" id="{6FB6F0EA-10AE-4CF6-8FE3-0DE1A0658A08}"/>
              </a:ext>
            </a:extLst>
          </p:cNvPr>
          <p:cNvCxnSpPr/>
          <p:nvPr/>
        </p:nvCxnSpPr>
        <p:spPr>
          <a:xfrm>
            <a:off x="146050" y="4276725"/>
            <a:ext cx="16827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24">
            <a:extLst>
              <a:ext uri="{FF2B5EF4-FFF2-40B4-BE49-F238E27FC236}">
                <a16:creationId xmlns:a16="http://schemas.microsoft.com/office/drawing/2014/main" id="{7372D579-85EE-4C89-9888-4CCA5CD35F25}"/>
              </a:ext>
            </a:extLst>
          </p:cNvPr>
          <p:cNvCxnSpPr/>
          <p:nvPr/>
        </p:nvCxnSpPr>
        <p:spPr>
          <a:xfrm>
            <a:off x="4044950" y="4276725"/>
            <a:ext cx="230822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26">
            <a:extLst>
              <a:ext uri="{FF2B5EF4-FFF2-40B4-BE49-F238E27FC236}">
                <a16:creationId xmlns:a16="http://schemas.microsoft.com/office/drawing/2014/main" id="{EF013186-5E11-4540-8157-000322A8FD42}"/>
              </a:ext>
            </a:extLst>
          </p:cNvPr>
          <p:cNvCxnSpPr/>
          <p:nvPr/>
        </p:nvCxnSpPr>
        <p:spPr>
          <a:xfrm>
            <a:off x="88900" y="4610100"/>
            <a:ext cx="230822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27">
            <a:extLst>
              <a:ext uri="{FF2B5EF4-FFF2-40B4-BE49-F238E27FC236}">
                <a16:creationId xmlns:a16="http://schemas.microsoft.com/office/drawing/2014/main" id="{EDDD7AE2-8CDA-438C-A3C2-DF791F34FA96}"/>
              </a:ext>
            </a:extLst>
          </p:cNvPr>
          <p:cNvCxnSpPr/>
          <p:nvPr/>
        </p:nvCxnSpPr>
        <p:spPr>
          <a:xfrm>
            <a:off x="2441575" y="4610100"/>
            <a:ext cx="645001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29">
            <a:extLst>
              <a:ext uri="{FF2B5EF4-FFF2-40B4-BE49-F238E27FC236}">
                <a16:creationId xmlns:a16="http://schemas.microsoft.com/office/drawing/2014/main" id="{C5AB0FF1-8CA5-48BF-8158-3365B25A3E7E}"/>
              </a:ext>
            </a:extLst>
          </p:cNvPr>
          <p:cNvCxnSpPr/>
          <p:nvPr/>
        </p:nvCxnSpPr>
        <p:spPr>
          <a:xfrm>
            <a:off x="2582863" y="4933950"/>
            <a:ext cx="308292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31">
            <a:extLst>
              <a:ext uri="{FF2B5EF4-FFF2-40B4-BE49-F238E27FC236}">
                <a16:creationId xmlns:a16="http://schemas.microsoft.com/office/drawing/2014/main" id="{CBDFAF98-3ADA-483A-A930-D0DA5011BB47}"/>
              </a:ext>
            </a:extLst>
          </p:cNvPr>
          <p:cNvCxnSpPr/>
          <p:nvPr/>
        </p:nvCxnSpPr>
        <p:spPr>
          <a:xfrm>
            <a:off x="5788025" y="4933950"/>
            <a:ext cx="136525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54" name="TextBox 22">
            <a:extLst>
              <a:ext uri="{FF2B5EF4-FFF2-40B4-BE49-F238E27FC236}">
                <a16:creationId xmlns:a16="http://schemas.microsoft.com/office/drawing/2014/main" id="{D8CD8511-B646-4DB1-9F9A-DBACFF03A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" y="1828800"/>
            <a:ext cx="70437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s-ES"/>
              <a:t>The following is quotation from their Nature article: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1" name="圖片 24">
            <a:extLst>
              <a:ext uri="{FF2B5EF4-FFF2-40B4-BE49-F238E27FC236}">
                <a16:creationId xmlns:a16="http://schemas.microsoft.com/office/drawing/2014/main" id="{9F7417BD-E4A6-4D2A-AC0D-231F4A23F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50" y="3113088"/>
            <a:ext cx="6545263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2" name="標題 1">
            <a:extLst>
              <a:ext uri="{FF2B5EF4-FFF2-40B4-BE49-F238E27FC236}">
                <a16:creationId xmlns:a16="http://schemas.microsoft.com/office/drawing/2014/main" id="{5E43FA0B-5465-4FA8-884B-D5EC53B11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107949"/>
            <a:ext cx="7886700" cy="1325563"/>
          </a:xfrm>
        </p:spPr>
        <p:txBody>
          <a:bodyPr/>
          <a:lstStyle/>
          <a:p>
            <a:r>
              <a:rPr lang="en-US" altLang="zh-TW"/>
              <a:t>CNN in speech recognition</a:t>
            </a:r>
            <a:endParaRPr lang="zh-TW" altLang="en-US"/>
          </a:p>
        </p:txBody>
      </p:sp>
      <p:cxnSp>
        <p:nvCxnSpPr>
          <p:cNvPr id="6" name="直線單箭頭接點 4">
            <a:extLst>
              <a:ext uri="{FF2B5EF4-FFF2-40B4-BE49-F238E27FC236}">
                <a16:creationId xmlns:a16="http://schemas.microsoft.com/office/drawing/2014/main" id="{D9C86895-20F2-49BD-B877-364187E7D8CC}"/>
              </a:ext>
            </a:extLst>
          </p:cNvPr>
          <p:cNvCxnSpPr/>
          <p:nvPr/>
        </p:nvCxnSpPr>
        <p:spPr>
          <a:xfrm>
            <a:off x="1390650" y="5778500"/>
            <a:ext cx="66627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直線單箭頭接點 5">
            <a:extLst>
              <a:ext uri="{FF2B5EF4-FFF2-40B4-BE49-F238E27FC236}">
                <a16:creationId xmlns:a16="http://schemas.microsoft.com/office/drawing/2014/main" id="{6B8FA76E-800A-4955-9F21-C7B4E45A48F1}"/>
              </a:ext>
            </a:extLst>
          </p:cNvPr>
          <p:cNvCxnSpPr/>
          <p:nvPr/>
        </p:nvCxnSpPr>
        <p:spPr>
          <a:xfrm flipV="1">
            <a:off x="1390650" y="3100388"/>
            <a:ext cx="0" cy="26749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965" name="文字方塊 6">
            <a:extLst>
              <a:ext uri="{FF2B5EF4-FFF2-40B4-BE49-F238E27FC236}">
                <a16:creationId xmlns:a16="http://schemas.microsoft.com/office/drawing/2014/main" id="{AE4A665F-DD04-4CC7-890C-6C40D0F42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5802313"/>
            <a:ext cx="21891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Time</a:t>
            </a:r>
            <a:endParaRPr lang="zh-TW" altLang="en-US"/>
          </a:p>
        </p:txBody>
      </p:sp>
      <p:sp>
        <p:nvSpPr>
          <p:cNvPr id="40966" name="文字方塊 7">
            <a:extLst>
              <a:ext uri="{FF2B5EF4-FFF2-40B4-BE49-F238E27FC236}">
                <a16:creationId xmlns:a16="http://schemas.microsoft.com/office/drawing/2014/main" id="{16651896-E085-40F0-8321-3CE206E71969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-30163" y="4203701"/>
            <a:ext cx="21891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Frequency</a:t>
            </a:r>
            <a:endParaRPr lang="zh-TW" altLang="en-US"/>
          </a:p>
        </p:txBody>
      </p:sp>
      <p:sp>
        <p:nvSpPr>
          <p:cNvPr id="40967" name="矩形 8">
            <a:extLst>
              <a:ext uri="{FF2B5EF4-FFF2-40B4-BE49-F238E27FC236}">
                <a16:creationId xmlns:a16="http://schemas.microsoft.com/office/drawing/2014/main" id="{DD3748B3-30FD-4FC0-88F6-2378B26D1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9188" y="6113463"/>
            <a:ext cx="2079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2800" b="1">
                <a:solidFill>
                  <a:srgbClr val="FF0000"/>
                </a:solidFill>
              </a:rPr>
              <a:t>Spectrogram</a:t>
            </a:r>
            <a:endParaRPr lang="zh-TW" altLang="en-US" sz="2800" b="1">
              <a:solidFill>
                <a:srgbClr val="FF0000"/>
              </a:solidFill>
            </a:endParaRPr>
          </a:p>
        </p:txBody>
      </p:sp>
      <p:sp>
        <p:nvSpPr>
          <p:cNvPr id="11" name="矩形 11">
            <a:extLst>
              <a:ext uri="{FF2B5EF4-FFF2-40B4-BE49-F238E27FC236}">
                <a16:creationId xmlns:a16="http://schemas.microsoft.com/office/drawing/2014/main" id="{59F83A0F-2D19-4B6A-8834-5EB98B8B22A6}"/>
              </a:ext>
            </a:extLst>
          </p:cNvPr>
          <p:cNvSpPr/>
          <p:nvPr/>
        </p:nvSpPr>
        <p:spPr>
          <a:xfrm>
            <a:off x="2300288" y="3101975"/>
            <a:ext cx="1509712" cy="266700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2" name="矩形 12">
            <a:extLst>
              <a:ext uri="{FF2B5EF4-FFF2-40B4-BE49-F238E27FC236}">
                <a16:creationId xmlns:a16="http://schemas.microsoft.com/office/drawing/2014/main" id="{CFEAA91A-01BD-413E-B571-FBF7A0D54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338" y="2127250"/>
            <a:ext cx="1681162" cy="582613"/>
          </a:xfrm>
          <a:prstGeom prst="rect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800" dirty="0">
                <a:solidFill>
                  <a:schemeClr val="dk1"/>
                </a:solidFill>
                <a:latin typeface="+mn-lt"/>
                <a:ea typeface="+mn-ea"/>
              </a:rPr>
              <a:t>CNN</a:t>
            </a:r>
            <a:endParaRPr lang="zh-TW" altLang="en-US" sz="2800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cxnSp>
        <p:nvCxnSpPr>
          <p:cNvPr id="13" name="直線單箭頭接點 13">
            <a:extLst>
              <a:ext uri="{FF2B5EF4-FFF2-40B4-BE49-F238E27FC236}">
                <a16:creationId xmlns:a16="http://schemas.microsoft.com/office/drawing/2014/main" id="{3D1A5ADA-2D5D-4DA9-9F8B-F125FF760252}"/>
              </a:ext>
            </a:extLst>
          </p:cNvPr>
          <p:cNvCxnSpPr/>
          <p:nvPr/>
        </p:nvCxnSpPr>
        <p:spPr>
          <a:xfrm flipV="1">
            <a:off x="3051175" y="1690688"/>
            <a:ext cx="0" cy="43656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4">
            <a:extLst>
              <a:ext uri="{FF2B5EF4-FFF2-40B4-BE49-F238E27FC236}">
                <a16:creationId xmlns:a16="http://schemas.microsoft.com/office/drawing/2014/main" id="{079A0BDE-3640-41AD-AAC3-CE67A6A1FFB9}"/>
              </a:ext>
            </a:extLst>
          </p:cNvPr>
          <p:cNvCxnSpPr>
            <a:endCxn id="12" idx="2"/>
          </p:cNvCxnSpPr>
          <p:nvPr/>
        </p:nvCxnSpPr>
        <p:spPr>
          <a:xfrm flipV="1">
            <a:off x="3033713" y="2709863"/>
            <a:ext cx="0" cy="390525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5">
            <a:extLst>
              <a:ext uri="{FF2B5EF4-FFF2-40B4-BE49-F238E27FC236}">
                <a16:creationId xmlns:a16="http://schemas.microsoft.com/office/drawing/2014/main" id="{0BE0FBDA-762F-4BD2-A928-E4187D080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6788" y="5697538"/>
            <a:ext cx="15922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 b="1"/>
              <a:t>Image</a:t>
            </a:r>
            <a:endParaRPr lang="zh-TW" altLang="en-US" b="1"/>
          </a:p>
        </p:txBody>
      </p:sp>
      <p:sp>
        <p:nvSpPr>
          <p:cNvPr id="16" name="矩形 18">
            <a:extLst>
              <a:ext uri="{FF2B5EF4-FFF2-40B4-BE49-F238E27FC236}">
                <a16:creationId xmlns:a16="http://schemas.microsoft.com/office/drawing/2014/main" id="{3F4F0AE6-7DCF-4D5F-BEC9-FD4012836C2F}"/>
              </a:ext>
            </a:extLst>
          </p:cNvPr>
          <p:cNvSpPr/>
          <p:nvPr/>
        </p:nvSpPr>
        <p:spPr>
          <a:xfrm>
            <a:off x="2354263" y="3146425"/>
            <a:ext cx="1393825" cy="8382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7" name="矩形 19">
            <a:extLst>
              <a:ext uri="{FF2B5EF4-FFF2-40B4-BE49-F238E27FC236}">
                <a16:creationId xmlns:a16="http://schemas.microsoft.com/office/drawing/2014/main" id="{B3CD7122-2B06-4248-ADE9-9DE4A75C0EE8}"/>
              </a:ext>
            </a:extLst>
          </p:cNvPr>
          <p:cNvSpPr/>
          <p:nvPr/>
        </p:nvSpPr>
        <p:spPr>
          <a:xfrm>
            <a:off x="2349500" y="3425825"/>
            <a:ext cx="1393825" cy="83661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8" name="矩形 20">
            <a:extLst>
              <a:ext uri="{FF2B5EF4-FFF2-40B4-BE49-F238E27FC236}">
                <a16:creationId xmlns:a16="http://schemas.microsoft.com/office/drawing/2014/main" id="{B50007B1-E150-4A55-A0D2-076DF8938540}"/>
              </a:ext>
            </a:extLst>
          </p:cNvPr>
          <p:cNvSpPr/>
          <p:nvPr/>
        </p:nvSpPr>
        <p:spPr>
          <a:xfrm>
            <a:off x="2349500" y="3705225"/>
            <a:ext cx="1393825" cy="83661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cxnSp>
        <p:nvCxnSpPr>
          <p:cNvPr id="19" name="直線單箭頭接點 22">
            <a:extLst>
              <a:ext uri="{FF2B5EF4-FFF2-40B4-BE49-F238E27FC236}">
                <a16:creationId xmlns:a16="http://schemas.microsoft.com/office/drawing/2014/main" id="{D7943D3C-E108-464D-A077-BFE994DAD657}"/>
              </a:ext>
            </a:extLst>
          </p:cNvPr>
          <p:cNvCxnSpPr/>
          <p:nvPr/>
        </p:nvCxnSpPr>
        <p:spPr>
          <a:xfrm>
            <a:off x="3044825" y="4686300"/>
            <a:ext cx="0" cy="55562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23">
            <a:extLst>
              <a:ext uri="{FF2B5EF4-FFF2-40B4-BE49-F238E27FC236}">
                <a16:creationId xmlns:a16="http://schemas.microsoft.com/office/drawing/2014/main" id="{8E31F2AE-981C-4EF2-86C5-E7F3FACAB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944688"/>
            <a:ext cx="31845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The filters move in the frequency direction.</a:t>
            </a:r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5" grpId="0"/>
      <p:bldP spid="16" grpId="0" animBg="1"/>
      <p:bldP spid="17" grpId="0" animBg="1"/>
      <p:bldP spid="18" grpId="0" animBg="1"/>
      <p:bldP spid="2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標題 1">
            <a:extLst>
              <a:ext uri="{FF2B5EF4-FFF2-40B4-BE49-F238E27FC236}">
                <a16:creationId xmlns:a16="http://schemas.microsoft.com/office/drawing/2014/main" id="{0217DE86-D135-44C6-8C9B-038595AFF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880" y="18255"/>
            <a:ext cx="7886700" cy="1325563"/>
          </a:xfrm>
        </p:spPr>
        <p:txBody>
          <a:bodyPr/>
          <a:lstStyle/>
          <a:p>
            <a:r>
              <a:rPr lang="en-US" altLang="zh-TW"/>
              <a:t>CNN in text classification</a:t>
            </a:r>
            <a:endParaRPr lang="zh-TW" altLang="en-US"/>
          </a:p>
        </p:txBody>
      </p:sp>
      <p:pic>
        <p:nvPicPr>
          <p:cNvPr id="41987" name="圖片 4">
            <a:extLst>
              <a:ext uri="{FF2B5EF4-FFF2-40B4-BE49-F238E27FC236}">
                <a16:creationId xmlns:a16="http://schemas.microsoft.com/office/drawing/2014/main" id="{371A445A-687F-4C0D-BEE6-9C9512854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" y="1957388"/>
            <a:ext cx="8277225" cy="421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8" name="矩形 5">
            <a:extLst>
              <a:ext uri="{FF2B5EF4-FFF2-40B4-BE49-F238E27FC236}">
                <a16:creationId xmlns:a16="http://schemas.microsoft.com/office/drawing/2014/main" id="{CFFB7F3B-0B81-497A-B547-E279CDB3E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3350" y="5519738"/>
            <a:ext cx="4572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1800"/>
              <a:t>Source of image: </a:t>
            </a:r>
            <a:r>
              <a:rPr lang="zh-TW" altLang="en-US" sz="1800"/>
              <a:t>http://citeseerx.ist.psu.edu/viewdoc/download?doi=10.1.1.703.6858&amp;rep=rep1&amp;type=pdf</a:t>
            </a:r>
          </a:p>
        </p:txBody>
      </p:sp>
      <p:grpSp>
        <p:nvGrpSpPr>
          <p:cNvPr id="8" name="群組 10">
            <a:extLst>
              <a:ext uri="{FF2B5EF4-FFF2-40B4-BE49-F238E27FC236}">
                <a16:creationId xmlns:a16="http://schemas.microsoft.com/office/drawing/2014/main" id="{603FB874-D6FD-46D9-B8A3-CCCD478C9B41}"/>
              </a:ext>
            </a:extLst>
          </p:cNvPr>
          <p:cNvGrpSpPr>
            <a:grpSpLocks/>
          </p:cNvGrpSpPr>
          <p:nvPr/>
        </p:nvGrpSpPr>
        <p:grpSpPr bwMode="auto">
          <a:xfrm>
            <a:off x="939800" y="3233738"/>
            <a:ext cx="1927225" cy="962025"/>
            <a:chOff x="940253" y="3233058"/>
            <a:chExt cx="1926771" cy="963385"/>
          </a:xfrm>
        </p:grpSpPr>
        <p:sp>
          <p:nvSpPr>
            <p:cNvPr id="9" name="矩形 6">
              <a:extLst>
                <a:ext uri="{FF2B5EF4-FFF2-40B4-BE49-F238E27FC236}">
                  <a16:creationId xmlns:a16="http://schemas.microsoft.com/office/drawing/2014/main" id="{277F4A68-2AB7-48E3-910F-6F996207FA1A}"/>
                </a:ext>
              </a:extLst>
            </p:cNvPr>
            <p:cNvSpPr/>
            <p:nvPr/>
          </p:nvSpPr>
          <p:spPr>
            <a:xfrm>
              <a:off x="940253" y="3233058"/>
              <a:ext cx="1926771" cy="96338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cxnSp>
          <p:nvCxnSpPr>
            <p:cNvPr id="10" name="直線單箭頭接點 8">
              <a:extLst>
                <a:ext uri="{FF2B5EF4-FFF2-40B4-BE49-F238E27FC236}">
                  <a16:creationId xmlns:a16="http://schemas.microsoft.com/office/drawing/2014/main" id="{181B1519-6308-4D2F-B502-CD396E624E00}"/>
                </a:ext>
              </a:extLst>
            </p:cNvPr>
            <p:cNvCxnSpPr/>
            <p:nvPr/>
          </p:nvCxnSpPr>
          <p:spPr>
            <a:xfrm>
              <a:off x="1110076" y="3430186"/>
              <a:ext cx="0" cy="6374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992" name="文字方塊 9">
              <a:extLst>
                <a:ext uri="{FF2B5EF4-FFF2-40B4-BE49-F238E27FC236}">
                  <a16:creationId xmlns:a16="http://schemas.microsoft.com/office/drawing/2014/main" id="{2CF9B3DE-FDC9-4CE8-93D2-663E5672B2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6403" y="3517935"/>
              <a:ext cx="3429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TW" b="1">
                  <a:solidFill>
                    <a:srgbClr val="FF0000"/>
                  </a:solidFill>
                </a:rPr>
                <a:t>?</a:t>
              </a:r>
              <a:endParaRPr lang="zh-TW" altLang="en-US" b="1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UNEF">
  <a:themeElements>
    <a:clrScheme name="CUNEF">
      <a:dk1>
        <a:srgbClr val="000000"/>
      </a:dk1>
      <a:lt1>
        <a:srgbClr val="FFFFFF"/>
      </a:lt1>
      <a:dk2>
        <a:srgbClr val="666579"/>
      </a:dk2>
      <a:lt2>
        <a:srgbClr val="E7E6E6"/>
      </a:lt2>
      <a:accent1>
        <a:srgbClr val="666579"/>
      </a:accent1>
      <a:accent2>
        <a:srgbClr val="FF5C00"/>
      </a:accent2>
      <a:accent3>
        <a:srgbClr val="B91003"/>
      </a:accent3>
      <a:accent4>
        <a:srgbClr val="D8D8D8"/>
      </a:accent4>
      <a:accent5>
        <a:srgbClr val="A5A5A5"/>
      </a:accent5>
      <a:accent6>
        <a:srgbClr val="7F7F7F"/>
      </a:accent6>
      <a:hlink>
        <a:srgbClr val="ED7D31"/>
      </a:hlink>
      <a:folHlink>
        <a:srgbClr val="FF5C00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UNEF institucional  -  Solo lectura" id="{2EB8A9B3-A3E3-40D3-A703-7F9FE62C1EAF}" vid="{3012FB01-CACB-41DE-AABD-DBFD28A06EC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BDE829C97C7884895933471DB612A58" ma:contentTypeVersion="9" ma:contentTypeDescription="Crear nuevo documento." ma:contentTypeScope="" ma:versionID="1cdf6c461462eeb5260c1b46ebacd9ad">
  <xsd:schema xmlns:xsd="http://www.w3.org/2001/XMLSchema" xmlns:xs="http://www.w3.org/2001/XMLSchema" xmlns:p="http://schemas.microsoft.com/office/2006/metadata/properties" xmlns:ns2="043a2861-12f5-42c4-86bb-7c02e7b56615" xmlns:ns3="f1b76412-b559-4b2b-a72a-b9910f7ef396" targetNamespace="http://schemas.microsoft.com/office/2006/metadata/properties" ma:root="true" ma:fieldsID="23f0c6582791c17ad7ee9b3ce1e1f161" ns2:_="" ns3:_="">
    <xsd:import namespace="043a2861-12f5-42c4-86bb-7c02e7b56615"/>
    <xsd:import namespace="f1b76412-b559-4b2b-a72a-b9910f7ef39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3a2861-12f5-42c4-86bb-7c02e7b5661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Última vez que se compartió por usuario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Última vez que se compartió por hora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76412-b559-4b2b-a72a-b9910f7ef3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internalName="MediaServiceAutoTags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01312E3-16C8-45D5-8B77-F4AFCE6FCE3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AFE0FF6-C6F1-4151-B683-4596DCDFA4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3a2861-12f5-42c4-86bb-7c02e7b56615"/>
    <ds:schemaRef ds:uri="f1b76412-b559-4b2b-a72a-b9910f7ef3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D5168F8-AF4E-4137-8ED7-1449B3E7FBF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1684</TotalTime>
  <Words>1877</Words>
  <Application>Microsoft Office PowerPoint</Application>
  <PresentationFormat>Presentación en pantalla (4:3)</PresentationFormat>
  <Paragraphs>1024</Paragraphs>
  <Slides>29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3" baseType="lpstr">
      <vt:lpstr>Arial</vt:lpstr>
      <vt:lpstr>Calibri</vt:lpstr>
      <vt:lpstr>CUNEF</vt:lpstr>
      <vt:lpstr>方程式</vt:lpstr>
      <vt:lpstr>4. Convolutional Neural Network</vt:lpstr>
      <vt:lpstr>Smaller Network: CNN</vt:lpstr>
      <vt:lpstr>Consider learning an image:</vt:lpstr>
      <vt:lpstr>Same pattern appears in different places: They can be compressed! What about training a lot of such “small” detectors and each detector must “move around”.</vt:lpstr>
      <vt:lpstr>A convolutional layer</vt:lpstr>
      <vt:lpstr>Convolution</vt:lpstr>
      <vt:lpstr>Convolution</vt:lpstr>
      <vt:lpstr>Convolution</vt:lpstr>
      <vt:lpstr>Convolution</vt:lpstr>
      <vt:lpstr>Convolution</vt:lpstr>
      <vt:lpstr>Color image: RGB 3 channels</vt:lpstr>
      <vt:lpstr>Presentación de PowerPoint</vt:lpstr>
      <vt:lpstr>Presentación de PowerPoint</vt:lpstr>
      <vt:lpstr>Presentación de PowerPoint</vt:lpstr>
      <vt:lpstr>The whole CNN</vt:lpstr>
      <vt:lpstr>Max Pooling</vt:lpstr>
      <vt:lpstr>Why Pooling</vt:lpstr>
      <vt:lpstr>A CNN compresses a fully connected network in two ways:</vt:lpstr>
      <vt:lpstr>Max Pooling</vt:lpstr>
      <vt:lpstr>The whole CNN</vt:lpstr>
      <vt:lpstr>The whole CNN</vt:lpstr>
      <vt:lpstr>Flattening</vt:lpstr>
      <vt:lpstr>Presentación de PowerPoint</vt:lpstr>
      <vt:lpstr>Presentación de PowerPoint</vt:lpstr>
      <vt:lpstr>Presentación de PowerPoint</vt:lpstr>
      <vt:lpstr>AlphaGo</vt:lpstr>
      <vt:lpstr>AlphaGo’s policy network</vt:lpstr>
      <vt:lpstr>CNN in speech recognition</vt:lpstr>
      <vt:lpstr>CNN in text classification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Dañobeitia Canales, Natalia</dc:creator>
  <cp:lastModifiedBy>Master Jedi Borrego</cp:lastModifiedBy>
  <cp:revision>224</cp:revision>
  <dcterms:created xsi:type="dcterms:W3CDTF">2017-10-05T10:17:36Z</dcterms:created>
  <dcterms:modified xsi:type="dcterms:W3CDTF">2024-04-25T14:08:51Z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0x0101002BDE829C97C7884895933471DB612A58</vt:lpwstr>
  </property>
</Properties>
</file>